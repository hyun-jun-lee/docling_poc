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6858000" cx="990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37">
          <p15:clr>
            <a:srgbClr val="A4A3A4"/>
          </p15:clr>
        </p15:guide>
        <p15:guide id="2" pos="3097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40" roundtripDataSignature="AMtx7mhuF9GD4Nkenu8zlWDTjioTdrO0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999B2E-6716-427F-BB08-76C9D8113C3E}">
  <a:tblStyle styleId="{F0999B2E-6716-427F-BB08-76C9D8113C3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8FDC05E-379E-4F7F-B2B9-D55E55C8228D}" styleName="Table_1">
    <a:wholeTbl>
      <a:tcTxStyle b="off" i="off">
        <a:font>
          <a:latin typeface="나눔스퀘어"/>
          <a:ea typeface="나눔스퀘어"/>
          <a:cs typeface="나눔스퀘어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나눔스퀘어"/>
          <a:ea typeface="나눔스퀘어"/>
          <a:cs typeface="나눔스퀘어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나눔스퀘어"/>
          <a:ea typeface="나눔스퀘어"/>
          <a:cs typeface="나눔스퀘어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나눔스퀘어"/>
          <a:ea typeface="나눔스퀘어"/>
          <a:cs typeface="나눔스퀘어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나눔스퀘어"/>
          <a:ea typeface="나눔스퀘어"/>
          <a:cs typeface="나눔스퀘어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37" orient="horz"/>
        <p:guide pos="3097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안녕하십니까, ‘불법 미디어 유통 서비스 검출 및 차단’ 주제 발표를 맡은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한국지식재산연구원 박윤석 부연구위원입니다.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발표 시작하겠습니다.</a:t>
            </a:r>
            <a:endParaRPr/>
          </a:p>
        </p:txBody>
      </p:sp>
      <p:sp>
        <p:nvSpPr>
          <p:cNvPr id="89" name="Google Shape;8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다음은 평가항목 및 기준에 따른 조견표입니다.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본 컨소시엄은 해당 연구과제를 통해 다음과 같은 정성적, 정량적 성과 달성을 목표로 하고 있습니다.</a:t>
            </a:r>
            <a:endParaRPr/>
          </a:p>
        </p:txBody>
      </p:sp>
      <p:sp>
        <p:nvSpPr>
          <p:cNvPr id="102" name="Google Shape;10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사업 개요는 다음과 같습니다.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‘사용자 검증 우회 기술’과 ‘불법 영상 및 사이트 식별 기술’을 통해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불법 미디어 유통 사이트를 탐지하고 차단하는 솔루션을 개발하고자 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이를 통해, 불법 콘텐츠로부터 국내 미디어 시장을 보호하고 피해를 최소화 할 수 있을 것으로 기대합니다.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/>
              <a:t>목차입니다.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/>
              <a:t>추진계획 타당성, 기술성 및 연구개발 수행능력, 경제성 및 사업화 가능성 순으로 말씀드리겠습니다.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/>
              <a:t>평가항목에 따라 구성하였으며,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/>
              <a:t>추진계획 타당성의 연구시설,장비 구축 계획의 타당성은 3번 파트에서 말씀드리겠습니다.</a:t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추진계획 타당성입니다.</a:t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세계 OTT 시장 규모는 2023년부터 2028년까지 연평균 복합 성장률 24.85%로 급격하게 성장할 것으로 전망되고 있습니다.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OTT 산업 시장 규모가 확대됨에 따라 미디어 콘텐츠 불법 유통문제도 증가하여 </a:t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문화산업에 치명적인 경제 피해가 발생하고 있습니다.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이에, 카카오 등 다양한 기업에서도 적극 대응방안을 모색하고 있습니다.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하지만, 단속 체계가 활성화됨에 따라 불법 유통 그룹 및 커뮤니티에서는 크롤링 방해와 차단 우회 등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사이트 폐쇄성을 고도화하고 상습화하고 있어, 모니터링에 난항을 겪고 있습니다. </a:t>
            </a:r>
            <a:endParaRPr/>
          </a:p>
        </p:txBody>
      </p:sp>
      <p:sp>
        <p:nvSpPr>
          <p:cNvPr id="171" name="Google Shape;17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정부에서도 해당 문제의 심각성을 인지하여,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2023년 12월 ‘저작권 강국 실현, 4대 전략’을 발표하였습니다.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불법복제물 관련 내부 규정을 개정하고 저작권 침해 신속 대응 체계를 마련하는 등 </a:t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 u="none"/>
              <a:t>영상 콘텐츠를 국가전략산업으로 육성하기 위해 적극적인 지원을 하고 있습니다.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u="non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 u="none"/>
              <a:t>(↓ 필요 시 생략)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u="non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/>
              <a:t>불법 사이트 </a:t>
            </a:r>
            <a:r>
              <a:rPr lang="ko-KR" u="none"/>
              <a:t>판별 및 신고 자동화에 대한 국내 연구는 미진한 가운데,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u="non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 u="none"/>
              <a:t>본 컨소시엄은 해당 연구개발을 통해, 고도화된 차단 우회 기술에 대응하고 미디어 콘텐츠 산업을 보호하고자 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</p:txBody>
      </p:sp>
      <p:sp>
        <p:nvSpPr>
          <p:cNvPr id="214" name="Google Shape;21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추진 목표는 다음과 같습니다.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시스템 연계를 통해 ① 불법 사이트 검출, ② 신고서 작성 및 접수, ③ 사이트 심의 및 불법사이트 차단의 절차를 간소화하고 자동화하고자 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이를 통해 권리 침해 피해를 최소화할 수 있으며, 해당 서비스는 불법 의심 사이트 탐색 및 접속부터 차단 자동화까지 다양한 역할을 수행하게 됩니다.</a:t>
            </a:r>
            <a:endParaRPr/>
          </a:p>
        </p:txBody>
      </p:sp>
      <p:sp>
        <p:nvSpPr>
          <p:cNvPr id="242" name="Google Shape;2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시장 현황입니다.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불법 시장으로 침해된 잠재적 온라인 합법 영상 및 사이트 시장 규모는 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2024년 기준으로 세계 약 176조원, 한국 약 7조 7천억원으로 추정됩니다.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해당 시장은 본 연구개발을 통해 수혜를 볼 수 있는 시장입니다.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불법 미디어 문제에 골머리를 앓던 국내 최대 OTT 기업 ‘웨이브’는 본 서비스 개발이 완료된 후 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수요기업으로 서비스를 이용하기로 협약을 완료하였습니다.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lang="ko-KR"/>
              <a:t>본 서비스는 OTT 기업 뿐만 아니라 관리감독 기관, ISP, CDN 서비스에서 활용할 수 있으며,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미디어 서비스 관리감독 기관인 한국방송광고진흥공사는 해당 과제의 중요성을 인지해 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이번 컨소시엄의 공동연구개발기관으로 참여하게 되었습니다.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</p:txBody>
      </p:sp>
      <p:sp>
        <p:nvSpPr>
          <p:cNvPr id="273" name="Google Shape;27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기술 및 경쟁사 현황입니다.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불법 사이트의 접근 방해 기술이 고도화되고 있지만, 본 컨소시엄은 텍스트 캡챠 해독 및 우회 기술을 보유하고 있어 전략적인 대응이 가능합니다.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또한, 인공지능 기술의 발전에 따라 접근성이 좋아진 ‘CNN 등의 딥러닝 기반 영상 인식 기술‘을 적용하고자 하며,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기존에 다양한 종류의 데이터를 다루며 자체적 튜닝 및 개선한 모델도 활용할 예정입니다.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경쟁사 현황으로는, 문화체육관광부에서 2017년, 2018년도에 불법 콘텐츠 식별 기술에 대한 연구를 한 적이 있으나,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‘원스톱으로 불법 미디어 유통 서비스 검출부터 심의 증빙 생성, ISP 차단 신청까지 제공하는 서비스‘는 전무합니다.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-90488" lvl="0" marL="904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본 컨소시엄은 각각 </a:t>
            </a:r>
            <a:r>
              <a:rPr lang="ko-KR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법률, 개발, 인공지능 분야의 전문기관 및 기업으로 구성</a:t>
            </a:r>
            <a:r>
              <a:rPr lang="ko-KR" sz="1200">
                <a:latin typeface="Arial"/>
                <a:ea typeface="Arial"/>
                <a:cs typeface="Arial"/>
                <a:sym typeface="Arial"/>
              </a:rPr>
              <a:t>되어 있어 경쟁기관 대비 과제 이해도가 높으며, </a:t>
            </a:r>
            <a:endParaRPr/>
          </a:p>
          <a:p>
            <a:pPr indent="-90488" lvl="0" marL="904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90488" lvl="0" marL="904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다년간의 관련 기술개발 및 연구로 차별성을 가지고 있습니다. </a:t>
            </a:r>
            <a:endParaRPr b="1"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</p:txBody>
      </p:sp>
      <p:sp>
        <p:nvSpPr>
          <p:cNvPr id="300" name="Google Shape;30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선행 기술 현황 및 컨소시엄 보유 기술과의 격차 입니다.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조사한 선행 기술은 5가지로 정리하였으며, 선행 기술은 본 컨소시엄이 개발하고자 하는 기술과 비교하여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동일한 수준이거나 성능적으로 떨어진다고 여겨집니다.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자연어 처리와 관련하여 선행 기술은 자연어 처리 모델을 활용하여 텍스트의 콘텐츠를 식별하고 있음으로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본 컨소시엄이 구축하려는 서비스와 차이가 있습니다.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또한 해당 기술은 텍스트의 유사발음 탐색을 지원하지 않음으로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본 컨소시엄의 개발 기술은 기존 보유 기관과 비교하여 성능적, 정확도 적인 우위성을 보유하고 있습니다. </a:t>
            </a:r>
            <a:endParaRPr/>
          </a:p>
        </p:txBody>
      </p:sp>
      <p:sp>
        <p:nvSpPr>
          <p:cNvPr id="354" name="Google Shape;35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기술성 및 연구개발 수행능력입니다.</a:t>
            </a:r>
            <a:endParaRPr/>
          </a:p>
        </p:txBody>
      </p:sp>
      <p:sp>
        <p:nvSpPr>
          <p:cNvPr id="374" name="Google Shape;37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연구 개발 최종 목표는 “불법 서비스 조기 검출을 통한 국내 미디어 생태계 성장을 도모”하는 것으로,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이를 위해,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불법 의심사이트 DB구축,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불법 사이트 식별 기술,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불법 콘텐츠 식별 기술,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사이트 접속 및 구조 분석 기술,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검증 정보 생성 및 차단 기술을 개발하고자 합니다.</a:t>
            </a:r>
            <a:endParaRPr/>
          </a:p>
        </p:txBody>
      </p:sp>
      <p:sp>
        <p:nvSpPr>
          <p:cNvPr id="382" name="Google Shape;38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본 컨소시엄이 개발하는 기술에 대하여 성과지표를 다음과 같이 설정하였습니다.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상용화 수준의 기술을 개발하기 위해, 기술 개발 목표를 세계 최고 수준보다 높게 책정하였으며,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객관성 확보를 위해, KOLAS 인증 기관으로부터 성능 평가를 받을 예정입니다.</a:t>
            </a:r>
            <a:endParaRPr/>
          </a:p>
        </p:txBody>
      </p:sp>
      <p:sp>
        <p:nvSpPr>
          <p:cNvPr id="411" name="Google Shape;41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개발 기술의 성능 지표 측정 방법입니다.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불법 식별 정확도와 영상 일치 여부 확률의 경우, 벤치마크가 없지만 실효성을 고려하여 높은 성능을 제시하였으며,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불법 텍스트 판단 및 이미지 판단 파이프라인 속도도, 벤치마크는 없지만 실제 서비스 환경에서의 안정적인 운용을 고려하여 3초 이내의 목표치를 제시하였습니다.</a:t>
            </a:r>
            <a:endParaRPr/>
          </a:p>
        </p:txBody>
      </p:sp>
      <p:sp>
        <p:nvSpPr>
          <p:cNvPr id="422" name="Google Shape;42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연구개발 기술의 전체 개요입니다.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사업 기간 동안,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불법 의심 사이트 탐색 및 접속 연구,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불법 미디어 유통 서비스 식별 기술 개발,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불법 사이트 차단 자동화 기술을 개발하여,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최종적으로 “불법 미디어 유통 서비스 검출 및 차단 서비스”를 개발하고,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국내 OTT 기업 웨이브를 통해 시범 적용 후, 고도화 및 상용화를 진행하고자 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또한 서비스의 성공적인 상용화를 위해 언론 홍보 및 관련 포럼을 개최할 계획입니다.</a:t>
            </a:r>
            <a:endParaRPr/>
          </a:p>
        </p:txBody>
      </p:sp>
      <p:sp>
        <p:nvSpPr>
          <p:cNvPr id="431" name="Google Shape;43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저희 컨소시엄 연구개발 목표의 첫 번째 혁신성입니다.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기존에는 인력 기반으로 불법 의심 사이트를 탐지하여,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DB 구축에 시간이 오래 걸리고, 비용이 많이 드는 문제가 있었습니다.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저희 컨소시엄은 이러한 문제를 해결하기 위해,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SNS, 검색어, 네트워크 관계 등 다중채널 소스 분석을 통하여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대량의 불법 의심 사이트 DB를 구축하는 기술을 개발하고자 합니다.</a:t>
            </a:r>
            <a:endParaRPr/>
          </a:p>
        </p:txBody>
      </p:sp>
      <p:sp>
        <p:nvSpPr>
          <p:cNvPr id="454" name="Google Shape;45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두 번째 혁신성입니다.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기존 불법 의심 사이트 탐지 방식은,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페이지 내의 “무료 다시보기”와 같이 지정된 키워드를 통해 불법성을 판별하는 방식이었습니다.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/>
              <a:t>그러나, 저희 컨소시엄은 탐지 정확도를 극대화시키기 위해,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LLM을 활용한 DOM 구조 맥락 분석을 통해 의미론적 정보 추출 기술을 개발할 계획입니다.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사전에 지정된 키워드가 아니어도, LLM을 통해 불법으로 의심되는 키워드를 자동 추출하여 판별하는 방식으로,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유연한 불법 탐지가 가능하고, 판별 정확도 또한 높일 수 있습니다. </a:t>
            </a:r>
            <a:endParaRPr/>
          </a:p>
        </p:txBody>
      </p:sp>
      <p:sp>
        <p:nvSpPr>
          <p:cNvPr id="488" name="Google Shape;48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세 번째 혁신성입니다.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불법 사이트 탐지 과정에서 가장 어려운 점은,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캡챠와 같은 보안 메커니즘으로 인해 자동 탐지가 불가능하다는 것입니다.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이에, 저희 컨소시엄은 인공지능 기반의 메커니즘 인식 및 동적 우회 기술을 개발하고,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자동 우회가 어려울 경우 웹페이지를 이미지화 하여 분석하는 방식으로 문제를 해결하고자 합니다. </a:t>
            </a:r>
            <a:endParaRPr/>
          </a:p>
        </p:txBody>
      </p:sp>
      <p:sp>
        <p:nvSpPr>
          <p:cNvPr id="506" name="Google Shape;50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네 번째 혁신성입니다.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현재는 업로드된 영상과 저작권 영상과의 유사도 비교를 통해서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불법 미디어 유통 사이트 여부를 식별하는 방식을 주로 사용합니다.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이는 영상을 변형하거나, 제공하는 방식에 따라 영상에 접근하기 어려운 경우에는 정확도가 낮다는 한계가 있었습니다.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저희 컨소시엄은 사이트 내 광고 이미지, 텍스트, 영상, 네트워크 관계 등 다차원적이고 종합적인 분석을 통해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정확도 높은 불법 식별 기술을 개발하고자 합니다.</a:t>
            </a:r>
            <a:endParaRPr/>
          </a:p>
        </p:txBody>
      </p:sp>
      <p:sp>
        <p:nvSpPr>
          <p:cNvPr id="530" name="Google Shape;53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마지막 혁신성입니다.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저희 컨소시엄은 단순히 불법 미디어 유통 서비스를 탐지하는 것에서 더 나아가,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법적 문서를 자동으로 생성하고, 신고까지 진행하는 신고 자동화 프로세스를 개발하고자 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기존에는 한국저작권보호원에 불법 의심 사이트 제보를 하는 </a:t>
            </a:r>
            <a:r>
              <a:rPr i="0" lang="ko-KR"/>
              <a:t>것에서부터 차단 처리까지 최소 15일 이상의 시간이 </a:t>
            </a:r>
            <a:r>
              <a:rPr i="0" lang="ko-KR">
                <a:solidFill>
                  <a:srgbClr val="3082EF"/>
                </a:solidFill>
              </a:rPr>
              <a:t>소요되어,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i="0">
              <a:solidFill>
                <a:srgbClr val="3082E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0" lang="ko-KR">
                <a:solidFill>
                  <a:srgbClr val="3082EF"/>
                </a:solidFill>
              </a:rPr>
              <a:t>그 사이에 불법 미디어 유통 서비스는 새로운 도메인으로 서비스를 옮기는 경우가 많았습니다.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이러한 허점을 보완하기 위해,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저희는 LLM을 활용하여 심의 증빙, 경고장 등 불법 근거를 포함한 법적 문서를 자동 생성하고 신고하는 프로세스를 개발하여,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신속한 차단을 통해, 불법 미디어 유통 서비스를 근절하고자 합니다.</a:t>
            </a:r>
            <a:endParaRPr/>
          </a:p>
        </p:txBody>
      </p:sp>
      <p:sp>
        <p:nvSpPr>
          <p:cNvPr id="560" name="Google Shape;56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 u="none"/>
              <a:t>연구개발 내용입니다.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u="non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 u="none"/>
              <a:t>개발 기술은 불법 의심사이트 탐색하고 접속하고, 불법 여부를 식별하여, 식별된 불법 사이트를 자동 차단 하는 절차로 구성됩니다.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u="non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 u="none"/>
              <a:t>먼저, 불법 의심 사이트 탐색 및 DB 구축 입니다.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불법 사이트들은 주로 SNS 게시글과 검색어를 통해 유포가 이루어지는 점을 활용하여,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검색 키워드를 활용하여 게시글을 크롤링하고, 필요한 정보만 추출하는 전처리 과정을 거친 후,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도메인, IP주소, 불법 사이트 여부, 탐지 일자 등을 포함하는 그래프 기반의 불법 사이트 데이터 베이스를 구축합니다.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 u="none"/>
              <a:t>연구 초기, 불법 사이트 자동 탐색의 seed 가 되는 초기 데이터 확보 방안으로, </a:t>
            </a:r>
            <a:endParaRPr u="non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u="non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 u="none"/>
              <a:t>크라우드 워커 및 외부 인력을 고용하여 초기 시스템 구동에 필요한 기초 데이터를 수집할 예정입니다.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8" name="Google Shape;57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 u="none"/>
              <a:t>하지만 불법 사이트의 경우 수시로 도메인 변경이 이루어지기 때문에, 이를 해결하고자 지능적 사이트 탐색 기술을 개발합니다.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u="non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 u="none"/>
              <a:t>먼저, </a:t>
            </a: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사이트간 네트워크 관계를 이용하여 불법 의심 사이트를 수집하는 탐색 알고리즘을 구현합니다. </a:t>
            </a:r>
            <a:endParaRPr u="non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다음은, 대규모 언어모델 LLM을 활용하여</a:t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수집한 불법 사이트 소스로부터 불법 도메인과 변경 도메인의 패턴을 분석하여, 유사 도메인을 예상하여 지능적으로 탐색하는 기술을 개발합니다.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마지막으로, </a:t>
            </a: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링크 역추적 기술을 개발하여 불법 콘텐츠 원천을 신속하게 파악하는 기술을 개발하고자 합니다. </a:t>
            </a:r>
            <a:endParaRPr u="non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u="none"/>
          </a:p>
        </p:txBody>
      </p:sp>
      <p:sp>
        <p:nvSpPr>
          <p:cNvPr id="613" name="Google Shape;61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이렇게 탐색한 불법 의심 사이트에 대해, 자동으로 사이트에 접속하고 정보를 수집하는 기술을 개발합니다.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사이트 접속 자동화에서 가장 중요한 부분은 로그인과 보안 매커니즘을 우회하는 것입니다.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이를 위해, 먼저 사이트의 회원가입 및 로그인 폼을 분석하여 로그인을 자동으로 수행하는 기술을 개발하고,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캡챠의 유형을 식별하고, 각 유형에 맞는 AI 기반의 캡챠 solver 를 오픈소스를 활용하여 개발합니다.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로그인과 캡챠 우회에 성공한다면, 웹페이지에 접근하여 HTML 구조를 분석하고,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만약 실패한다면 페이지의 스크린샷을 수집하여 OCR 기술과 연동하여 불법 컨텐츠 식별이 가능하도록 합니다.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1차년도에는 개방형 SNS, 2차년도에는 폐쇄형 SNS 자동 접속 기술 개발을 목표로 하고있습니다.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다음은 DOM구조 분석 기술입니다.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DOM 구조 분석은 웹사이트 내부의 구조를 이해하는데 중요합니다.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DOM 구조를 분석하여 웹사이트 내부 링크 구조, 스크립트 및 숨겨진 요소를 탐지하여</a:t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타겟 웹 페이지의 HTML 소스내 불법 콘텐츠로 연결되는 링크의 배치와 // 웹 페이지가 사용하는 불법 콘텐츠 유포 스크립트를 분석하고 정보를 추출합니다.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8" name="Google Shape;648;p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2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다음은 불법 미디어 유통 서비스 식별 입니다.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첫째, 웹페이지 내 정보 수집 및 LLM 기반 텍스트 의미분석 모델을 개발하여 웹 페이지 데이터를 추출합니다.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페이지 스크래핑 기술을 및 LLM 기반의 텍스트 요약 및 의미분석 모듈 개발을 통하여 수집하고자 하는 웹 페이지로부터 정보를 수집하고 추출 합니다.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둘째, 불법 이미지 분류 모델을 개발입니다.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OCR을 통하여 배너 광고 속 문구를 추출하고 불법 콘텐츠 판별을 진행합니다.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셋째, 불법 텍스트 분류 모델을 개발하고자 합니다.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유해 단어 사전 및 화이트 리스트 데이터베이스를 구축하고 HTML 태그 및 텍스트 유사도 측정 모델의 고도화를 통해 불법 텍스트를 분류합니다.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p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넷째, 웹사이트 연결 구조 분석 알고리즘을 개발하여 웹페이지들 간의 상호 연결링크를 분석하여 네트워크 구조를 이해합니다.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사용자의 행동 패턴을 분석하여 불법 사이트와의 연관성을 확인합니다.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마지막으로 실시간 데이터 처리 및 동적 네트워크 분석 기술을 개발입니다.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Bottom-up 그래프 방식을 통하여 네트워크를 구성하는 개별 요소들을 먼저 분석하고, 이를 결합하여 전체 네트워크의 특성을 파악합니다.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불법 사이트 식별에 대한 연구 개발을 통하여 페이지 내 수집 기술을 고도화하고, 불법 콘텐츠의 동적인 특성에 대응하기 위한 기술 개발과 ISP와의 연계체계 강화를 목표로 합니다.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2" name="Google Shape;712;p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불법 콘텐츠 식별 연구는 다음과 같습니다.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/>
              <a:t>첫째, 불법 콘텐츠 식별 방법론을 연구입니다.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ko-KR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네트워크 분석을 통하여 다양한 플랫폼이나 사이트 간의 연결 구조를 분석하고, 해당 콘텐츠의 유통 경로를 파악하고자 합니다.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ko-KR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추가적으로 국내외 사이트 분석을 통한 불법 콘텐츠 식별 방법론을 적용합니다.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둘째, 영상 샘플링 알고리즘 개발을 통해 스냅샷 샘플링 모듈을 고도화 하고자 합니다.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여러 개의 동영상이 있을 때, 각 동영상의 시작 시간이나 속도를 조정하여 동일한 시간 구간을 맞춥니다.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또한 스냅샷 샘플링 모듈은 동영상에서 일정한 간격으로 이미지를 추출하여 샘플링 합니다. 이를 통해 동영상의 프레임을 이미지로 변환하고,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해당 이미지를 분석하거나 저장하여 불법 콘텐츠를 식별 합니다.  </a:t>
            </a:r>
            <a:endParaRPr/>
          </a:p>
        </p:txBody>
      </p:sp>
      <p:sp>
        <p:nvSpPr>
          <p:cNvPr id="741" name="Google Shape;741;p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3" name="Google Shape;773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셋째, 저작권 영상 키프레임 탐지 및 저장 기술 개발입니다.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/>
              <a:t>더 정확한 키프레임 탐지 모델 고도화를 위해 딥러닝 기반 2-stage 씬 분할 모듈을 개발합니다.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/>
              <a:t>씬 분할 모듈은 영상을 씬 단위로 분할하여 관리하고 인식하는 기능을 제공합니다. 이 모듈을 통해 영상 내에서 씬이 변경되는 지점을 감지하고,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/>
              <a:t>해당 지점을 키프레임으로 설정하여 비교합니다. 이를 통해 영상을 씬 단위로 관리하고 검색할 수 있습니다.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마지막으로 영상 유사도 비교 알고리즘을 개발합니다.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추출된 이미지의 특징을 기반으로 유사도를 측정하고, 이 방법으로는 유클리디안 거리 측정, 코사인 유사도 비교를 통해 유사도를 측정합니다.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또한 컴퓨팅 자원을 효율적으로 사용하기 위해 데이터 분산 병렬처리 시스템을 구축하고자 합니다. 이를 통해 대용량의 영상 데이터를 효율적으로 처리하고 유사도를 비교할 수 있습니다.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4" name="Google Shape;774;p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8" name="Google Shape;808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sz="1200" u="none">
                <a:solidFill>
                  <a:schemeClr val="dk1"/>
                </a:solidFill>
              </a:rPr>
              <a:t>불법 사이트 차단 자동화 방안에 대해 설명 드리겠습니다.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sz="1200" u="none">
                <a:solidFill>
                  <a:schemeClr val="dk1"/>
                </a:solidFill>
              </a:rPr>
              <a:t>국내 저작권법 OSP 규정 관련 제도 개선 사항 분석입니다.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불법 콘텐츠 차단을 위한 온라인 서비스 제공자 규제 동향을 분석하고,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불법 콘텐츠 이용에 대한 권리자 통지와 호스팅 서비스의 대응 체계를 분석 및 수립하고,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불법사이트 차단을 위한 국제 조약(FTA 등)을 분석합니다.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심의 증빙 및 신고서 생성 기능 개발입니다.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ko-KR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불법 복제물 신고 자료 작성 자동화 기능을 개발하고,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ko-KR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실시간 신고 자료 작성 및 제출 기능을 개발하고자 합니다.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ko-KR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시스템 연동을 통한 신고서 제출 기능 개발입니다.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ko-KR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이 단계에서는 한국저작권보호원 (copy112) 신고시스템 등을 분석하여,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lang="ko-KR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제출 자동화 모듈을 개발합니다.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 u="none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 u="none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 u="none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9" name="Google Shape;809;p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8" name="Google Shape;848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국내 저작권법 OSP 규정 관련 제도 개선 사항을 분석하고</a:t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심의 증빙 및 신고서 생성 기능을 개발하고 </a:t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시스템 연동을 통한 신고서 제출 기능을 개발하고자 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불법 콘텐츠 사이트가 차단되기 위해서는 한국 소프트웨어 저작권 협회 제보 이후에는 평균 2주 가량의 심사기간이 필요합니다.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해당 기간 동안 불법 콘텐츠 제공 사이트의 도메인이 변경될 가능성이 있어, 최대한 빠르게 제보하고 신고할 수 있도록 연계 시스템을 개발하고자 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뿐만 아니라, SNS에서 개인에 의한 불법 콘텐츠 공유 또한 방지할 수 있도록 SNS 신고 자동화 기능을 개발할 예정입니다.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ISP 사업자와 협의하여 소프트웨어 저작권 협회에서 심의하는 동안 해당 도메인을 차단할 수 있도록 업무를 연계하고자 합니다.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none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u="none"/>
              <a:t>침해사례에 대한 신속하고 정확한 대응을 목표로 합니다.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9" name="Google Shape;849;p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3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0" name="Google Shape;880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다음은 연차별 연구개발 추진체계 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전체 수행 일정은 총 2년이며,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1차년도에는 각 개발 기술별 기반이 되는 핵심 기술을 개발합니다.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2차년도는 개발 종료년으로, TRL 6에서 7단계에 해당하는 핵심 기술을 개발하고,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KOLAS 인증 기관을 통한 소프트웨어 품질 테스트를 수행합니다.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/>
              <a:t>품질이 확보된 서비스를 기반으로 콘텐츠웨이브를 통하여 테스트베드를 구축합니다.</a:t>
            </a:r>
            <a:endParaRPr/>
          </a:p>
        </p:txBody>
      </p:sp>
      <p:sp>
        <p:nvSpPr>
          <p:cNvPr id="881" name="Google Shape;881;p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3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1" name="Google Shape;921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/>
              <a:t>다음은 추진 상세 전략입니다.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ko-KR"/>
              <a:t>저희 컨소시엄은 각 연구개발기관별로 연차별 상세 추진 전략을 수립하였으며,</a:t>
            </a:r>
            <a:endParaRPr/>
          </a:p>
        </p:txBody>
      </p:sp>
      <p:sp>
        <p:nvSpPr>
          <p:cNvPr id="922" name="Google Shape;922;p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7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표지 슬라이드" showMasterSp="0">
  <p:cSld name="표지 슬라이드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26" y="882810"/>
            <a:ext cx="9906000" cy="597519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8"/>
          <p:cNvSpPr/>
          <p:nvPr/>
        </p:nvSpPr>
        <p:spPr>
          <a:xfrm>
            <a:off x="188590" y="2206788"/>
            <a:ext cx="799662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미디어 유통 서비스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검출 및 차단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88"/>
          <p:cNvPicPr preferRelativeResize="0"/>
          <p:nvPr/>
        </p:nvPicPr>
        <p:blipFill rotWithShape="1">
          <a:blip r:embed="rId3">
            <a:alphaModFix/>
          </a:blip>
          <a:srcRect b="0" l="0" r="0" t="84008"/>
          <a:stretch/>
        </p:blipFill>
        <p:spPr>
          <a:xfrm>
            <a:off x="2" y="6101040"/>
            <a:ext cx="9905998" cy="75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88"/>
          <p:cNvPicPr preferRelativeResize="0"/>
          <p:nvPr/>
        </p:nvPicPr>
        <p:blipFill rotWithShape="1">
          <a:blip r:embed="rId3">
            <a:alphaModFix/>
          </a:blip>
          <a:srcRect b="80364" l="0" r="0" t="0"/>
          <a:stretch/>
        </p:blipFill>
        <p:spPr>
          <a:xfrm>
            <a:off x="0" y="0"/>
            <a:ext cx="9906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2154" y="6317090"/>
            <a:ext cx="1591077" cy="353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2014" y="6321310"/>
            <a:ext cx="1302325" cy="349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기관소개&gt;kobaco 소개&gt;CI | 한국방송광고진흥공사" id="41" name="Google Shape;41;p8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58176" y="6245843"/>
            <a:ext cx="1226292" cy="39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8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52587" y="6247076"/>
            <a:ext cx="1941166" cy="5020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" name="Google Shape;43;p88"/>
          <p:cNvGrpSpPr/>
          <p:nvPr/>
        </p:nvGrpSpPr>
        <p:grpSpPr>
          <a:xfrm>
            <a:off x="288925" y="227245"/>
            <a:ext cx="4744383" cy="468000"/>
            <a:chOff x="288925" y="227245"/>
            <a:chExt cx="4744383" cy="468000"/>
          </a:xfrm>
        </p:grpSpPr>
        <p:pic>
          <p:nvPicPr>
            <p:cNvPr descr="보 도 자 료" id="44" name="Google Shape;44;p8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88925" y="227245"/>
              <a:ext cx="2410911" cy="46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폰트, 그래픽, 텍스트, 그래픽 디자인이(가) 표시된 사진&#10;&#10;자동 생성된 설명" id="45" name="Google Shape;45;p8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853400" y="302239"/>
              <a:ext cx="2179908" cy="3180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" name="Google Shape;46;p88"/>
          <p:cNvSpPr/>
          <p:nvPr/>
        </p:nvSpPr>
        <p:spPr>
          <a:xfrm>
            <a:off x="266227" y="3672069"/>
            <a:ext cx="58844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2024년도 제1차 정보통신․방송 기술개발사업 및 표준개발지원사업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88"/>
          <p:cNvCxnSpPr/>
          <p:nvPr/>
        </p:nvCxnSpPr>
        <p:spPr>
          <a:xfrm>
            <a:off x="232910" y="3611724"/>
            <a:ext cx="518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본문 세부내용1">
  <p:cSld name="본문 세부내용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9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9"/>
          <p:cNvSpPr txBox="1"/>
          <p:nvPr>
            <p:ph idx="1" type="body"/>
          </p:nvPr>
        </p:nvSpPr>
        <p:spPr>
          <a:xfrm>
            <a:off x="2108200" y="901700"/>
            <a:ext cx="568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공란">
  <p:cSld name="공란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0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목차 슬라이드" showMasterSp="0">
  <p:cSld name="목차 슬라이드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1"/>
          <p:cNvSpPr/>
          <p:nvPr/>
        </p:nvSpPr>
        <p:spPr>
          <a:xfrm>
            <a:off x="0" y="0"/>
            <a:ext cx="9906000" cy="1252989"/>
          </a:xfrm>
          <a:prstGeom prst="rect">
            <a:avLst/>
          </a:prstGeom>
          <a:solidFill>
            <a:srgbClr val="D8E2F3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38600" y="0"/>
            <a:ext cx="3967323" cy="125298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91"/>
          <p:cNvSpPr/>
          <p:nvPr/>
        </p:nvSpPr>
        <p:spPr>
          <a:xfrm>
            <a:off x="1" y="-1343"/>
            <a:ext cx="5938522" cy="1307507"/>
          </a:xfrm>
          <a:prstGeom prst="rect">
            <a:avLst/>
          </a:prstGeom>
          <a:solidFill>
            <a:srgbClr val="001B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252989"/>
            <a:ext cx="9905999" cy="5638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91"/>
          <p:cNvGrpSpPr/>
          <p:nvPr/>
        </p:nvGrpSpPr>
        <p:grpSpPr>
          <a:xfrm>
            <a:off x="4297614" y="586425"/>
            <a:ext cx="1310696" cy="1310696"/>
            <a:chOff x="4297614" y="238967"/>
            <a:chExt cx="1310696" cy="1310696"/>
          </a:xfrm>
        </p:grpSpPr>
        <p:sp>
          <p:nvSpPr>
            <p:cNvPr id="59" name="Google Shape;59;p91"/>
            <p:cNvSpPr/>
            <p:nvPr/>
          </p:nvSpPr>
          <p:spPr>
            <a:xfrm>
              <a:off x="4297614" y="238967"/>
              <a:ext cx="1310696" cy="1310696"/>
            </a:xfrm>
            <a:custGeom>
              <a:rect b="b" l="l" r="r" t="t"/>
              <a:pathLst>
                <a:path extrusionOk="0" h="2394585" w="2394585">
                  <a:moveTo>
                    <a:pt x="1197864" y="2394204"/>
                  </a:moveTo>
                  <a:lnTo>
                    <a:pt x="1149696" y="2393252"/>
                  </a:lnTo>
                  <a:lnTo>
                    <a:pt x="1102011" y="2390422"/>
                  </a:lnTo>
                  <a:lnTo>
                    <a:pt x="1054843" y="2385748"/>
                  </a:lnTo>
                  <a:lnTo>
                    <a:pt x="1008229" y="2379268"/>
                  </a:lnTo>
                  <a:lnTo>
                    <a:pt x="962204" y="2371015"/>
                  </a:lnTo>
                  <a:lnTo>
                    <a:pt x="916804" y="2361028"/>
                  </a:lnTo>
                  <a:lnTo>
                    <a:pt x="872065" y="2349340"/>
                  </a:lnTo>
                  <a:lnTo>
                    <a:pt x="828024" y="2335988"/>
                  </a:lnTo>
                  <a:lnTo>
                    <a:pt x="784714" y="2321009"/>
                  </a:lnTo>
                  <a:lnTo>
                    <a:pt x="742173" y="2304437"/>
                  </a:lnTo>
                  <a:lnTo>
                    <a:pt x="700437" y="2286308"/>
                  </a:lnTo>
                  <a:lnTo>
                    <a:pt x="659540" y="2266658"/>
                  </a:lnTo>
                  <a:lnTo>
                    <a:pt x="619520" y="2245524"/>
                  </a:lnTo>
                  <a:lnTo>
                    <a:pt x="580411" y="2222941"/>
                  </a:lnTo>
                  <a:lnTo>
                    <a:pt x="542249" y="2198944"/>
                  </a:lnTo>
                  <a:lnTo>
                    <a:pt x="505071" y="2173570"/>
                  </a:lnTo>
                  <a:lnTo>
                    <a:pt x="468913" y="2146855"/>
                  </a:lnTo>
                  <a:lnTo>
                    <a:pt x="433809" y="2118834"/>
                  </a:lnTo>
                  <a:lnTo>
                    <a:pt x="399796" y="2089542"/>
                  </a:lnTo>
                  <a:lnTo>
                    <a:pt x="366910" y="2059017"/>
                  </a:lnTo>
                  <a:lnTo>
                    <a:pt x="335186" y="2027293"/>
                  </a:lnTo>
                  <a:lnTo>
                    <a:pt x="304661" y="1994407"/>
                  </a:lnTo>
                  <a:lnTo>
                    <a:pt x="275369" y="1960394"/>
                  </a:lnTo>
                  <a:lnTo>
                    <a:pt x="247348" y="1925290"/>
                  </a:lnTo>
                  <a:lnTo>
                    <a:pt x="220633" y="1889132"/>
                  </a:lnTo>
                  <a:lnTo>
                    <a:pt x="195259" y="1851954"/>
                  </a:lnTo>
                  <a:lnTo>
                    <a:pt x="171262" y="1813792"/>
                  </a:lnTo>
                  <a:lnTo>
                    <a:pt x="148679" y="1774683"/>
                  </a:lnTo>
                  <a:lnTo>
                    <a:pt x="127545" y="1734663"/>
                  </a:lnTo>
                  <a:lnTo>
                    <a:pt x="107895" y="1693766"/>
                  </a:lnTo>
                  <a:lnTo>
                    <a:pt x="89766" y="1652030"/>
                  </a:lnTo>
                  <a:lnTo>
                    <a:pt x="73194" y="1609489"/>
                  </a:lnTo>
                  <a:lnTo>
                    <a:pt x="58215" y="1566179"/>
                  </a:lnTo>
                  <a:lnTo>
                    <a:pt x="44863" y="1522138"/>
                  </a:lnTo>
                  <a:lnTo>
                    <a:pt x="33175" y="1477399"/>
                  </a:lnTo>
                  <a:lnTo>
                    <a:pt x="23188" y="1431999"/>
                  </a:lnTo>
                  <a:lnTo>
                    <a:pt x="14935" y="1385974"/>
                  </a:lnTo>
                  <a:lnTo>
                    <a:pt x="8455" y="1339360"/>
                  </a:lnTo>
                  <a:lnTo>
                    <a:pt x="3781" y="1292192"/>
                  </a:lnTo>
                  <a:lnTo>
                    <a:pt x="951" y="1244507"/>
                  </a:lnTo>
                  <a:lnTo>
                    <a:pt x="0" y="1196339"/>
                  </a:lnTo>
                  <a:lnTo>
                    <a:pt x="951" y="1148281"/>
                  </a:lnTo>
                  <a:lnTo>
                    <a:pt x="3781" y="1100699"/>
                  </a:lnTo>
                  <a:lnTo>
                    <a:pt x="8455" y="1053630"/>
                  </a:lnTo>
                  <a:lnTo>
                    <a:pt x="14935" y="1007109"/>
                  </a:lnTo>
                  <a:lnTo>
                    <a:pt x="23188" y="961172"/>
                  </a:lnTo>
                  <a:lnTo>
                    <a:pt x="33175" y="915856"/>
                  </a:lnTo>
                  <a:lnTo>
                    <a:pt x="44863" y="871196"/>
                  </a:lnTo>
                  <a:lnTo>
                    <a:pt x="58215" y="827229"/>
                  </a:lnTo>
                  <a:lnTo>
                    <a:pt x="73194" y="783990"/>
                  </a:lnTo>
                  <a:lnTo>
                    <a:pt x="89766" y="741515"/>
                  </a:lnTo>
                  <a:lnTo>
                    <a:pt x="107895" y="699840"/>
                  </a:lnTo>
                  <a:lnTo>
                    <a:pt x="127545" y="659001"/>
                  </a:lnTo>
                  <a:lnTo>
                    <a:pt x="148679" y="619034"/>
                  </a:lnTo>
                  <a:lnTo>
                    <a:pt x="171262" y="579975"/>
                  </a:lnTo>
                  <a:lnTo>
                    <a:pt x="195259" y="541861"/>
                  </a:lnTo>
                  <a:lnTo>
                    <a:pt x="220633" y="504726"/>
                  </a:lnTo>
                  <a:lnTo>
                    <a:pt x="247348" y="468607"/>
                  </a:lnTo>
                  <a:lnTo>
                    <a:pt x="275369" y="433540"/>
                  </a:lnTo>
                  <a:lnTo>
                    <a:pt x="304661" y="399561"/>
                  </a:lnTo>
                  <a:lnTo>
                    <a:pt x="335186" y="366705"/>
                  </a:lnTo>
                  <a:lnTo>
                    <a:pt x="366910" y="335009"/>
                  </a:lnTo>
                  <a:lnTo>
                    <a:pt x="399796" y="304509"/>
                  </a:lnTo>
                  <a:lnTo>
                    <a:pt x="433809" y="275241"/>
                  </a:lnTo>
                  <a:lnTo>
                    <a:pt x="468913" y="247240"/>
                  </a:lnTo>
                  <a:lnTo>
                    <a:pt x="505071" y="220542"/>
                  </a:lnTo>
                  <a:lnTo>
                    <a:pt x="542249" y="195184"/>
                  </a:lnTo>
                  <a:lnTo>
                    <a:pt x="580411" y="171201"/>
                  </a:lnTo>
                  <a:lnTo>
                    <a:pt x="619520" y="148630"/>
                  </a:lnTo>
                  <a:lnTo>
                    <a:pt x="659540" y="127506"/>
                  </a:lnTo>
                  <a:lnTo>
                    <a:pt x="700437" y="107866"/>
                  </a:lnTo>
                  <a:lnTo>
                    <a:pt x="742173" y="89744"/>
                  </a:lnTo>
                  <a:lnTo>
                    <a:pt x="784714" y="73178"/>
                  </a:lnTo>
                  <a:lnTo>
                    <a:pt x="828024" y="58203"/>
                  </a:lnTo>
                  <a:lnTo>
                    <a:pt x="872065" y="44855"/>
                  </a:lnTo>
                  <a:lnTo>
                    <a:pt x="916804" y="33171"/>
                  </a:lnTo>
                  <a:lnTo>
                    <a:pt x="962204" y="23185"/>
                  </a:lnTo>
                  <a:lnTo>
                    <a:pt x="1008229" y="14934"/>
                  </a:lnTo>
                  <a:lnTo>
                    <a:pt x="1054843" y="8454"/>
                  </a:lnTo>
                  <a:lnTo>
                    <a:pt x="1102011" y="3781"/>
                  </a:lnTo>
                  <a:lnTo>
                    <a:pt x="1149696" y="951"/>
                  </a:lnTo>
                  <a:lnTo>
                    <a:pt x="1197864" y="0"/>
                  </a:lnTo>
                  <a:lnTo>
                    <a:pt x="1246028" y="951"/>
                  </a:lnTo>
                  <a:lnTo>
                    <a:pt x="1293706" y="3781"/>
                  </a:lnTo>
                  <a:lnTo>
                    <a:pt x="1340861" y="8454"/>
                  </a:lnTo>
                  <a:lnTo>
                    <a:pt x="1387457" y="14934"/>
                  </a:lnTo>
                  <a:lnTo>
                    <a:pt x="1433461" y="23185"/>
                  </a:lnTo>
                  <a:lnTo>
                    <a:pt x="1478834" y="33171"/>
                  </a:lnTo>
                  <a:lnTo>
                    <a:pt x="1523543" y="44855"/>
                  </a:lnTo>
                  <a:lnTo>
                    <a:pt x="1567552" y="58203"/>
                  </a:lnTo>
                  <a:lnTo>
                    <a:pt x="1610825" y="73178"/>
                  </a:lnTo>
                  <a:lnTo>
                    <a:pt x="1653326" y="89744"/>
                  </a:lnTo>
                  <a:lnTo>
                    <a:pt x="1695020" y="107866"/>
                  </a:lnTo>
                  <a:lnTo>
                    <a:pt x="1735872" y="127506"/>
                  </a:lnTo>
                  <a:lnTo>
                    <a:pt x="1775845" y="148630"/>
                  </a:lnTo>
                  <a:lnTo>
                    <a:pt x="1814905" y="171201"/>
                  </a:lnTo>
                  <a:lnTo>
                    <a:pt x="1853015" y="195184"/>
                  </a:lnTo>
                  <a:lnTo>
                    <a:pt x="1890140" y="220542"/>
                  </a:lnTo>
                  <a:lnTo>
                    <a:pt x="1926246" y="247240"/>
                  </a:lnTo>
                  <a:lnTo>
                    <a:pt x="1961295" y="275241"/>
                  </a:lnTo>
                  <a:lnTo>
                    <a:pt x="1995252" y="304509"/>
                  </a:lnTo>
                  <a:lnTo>
                    <a:pt x="2028083" y="335009"/>
                  </a:lnTo>
                  <a:lnTo>
                    <a:pt x="2059751" y="366705"/>
                  </a:lnTo>
                  <a:lnTo>
                    <a:pt x="2090221" y="399561"/>
                  </a:lnTo>
                  <a:lnTo>
                    <a:pt x="2119457" y="433540"/>
                  </a:lnTo>
                  <a:lnTo>
                    <a:pt x="2147424" y="468607"/>
                  </a:lnTo>
                  <a:lnTo>
                    <a:pt x="2174086" y="504726"/>
                  </a:lnTo>
                  <a:lnTo>
                    <a:pt x="2199407" y="541861"/>
                  </a:lnTo>
                  <a:lnTo>
                    <a:pt x="2223353" y="579975"/>
                  </a:lnTo>
                  <a:lnTo>
                    <a:pt x="2245887" y="619034"/>
                  </a:lnTo>
                  <a:lnTo>
                    <a:pt x="2266974" y="659001"/>
                  </a:lnTo>
                  <a:lnTo>
                    <a:pt x="2286578" y="699840"/>
                  </a:lnTo>
                  <a:lnTo>
                    <a:pt x="2304664" y="741515"/>
                  </a:lnTo>
                  <a:lnTo>
                    <a:pt x="2321197" y="783990"/>
                  </a:lnTo>
                  <a:lnTo>
                    <a:pt x="2336140" y="827229"/>
                  </a:lnTo>
                  <a:lnTo>
                    <a:pt x="2349458" y="871196"/>
                  </a:lnTo>
                  <a:lnTo>
                    <a:pt x="2361116" y="915856"/>
                  </a:lnTo>
                  <a:lnTo>
                    <a:pt x="2371078" y="961172"/>
                  </a:lnTo>
                  <a:lnTo>
                    <a:pt x="2379308" y="1007109"/>
                  </a:lnTo>
                  <a:lnTo>
                    <a:pt x="2385772" y="1053630"/>
                  </a:lnTo>
                  <a:lnTo>
                    <a:pt x="2390432" y="1100699"/>
                  </a:lnTo>
                  <a:lnTo>
                    <a:pt x="2393255" y="1148281"/>
                  </a:lnTo>
                  <a:lnTo>
                    <a:pt x="2394204" y="1196339"/>
                  </a:lnTo>
                  <a:lnTo>
                    <a:pt x="2393255" y="1244507"/>
                  </a:lnTo>
                  <a:lnTo>
                    <a:pt x="2390432" y="1292192"/>
                  </a:lnTo>
                  <a:lnTo>
                    <a:pt x="2385772" y="1339360"/>
                  </a:lnTo>
                  <a:lnTo>
                    <a:pt x="2379308" y="1385974"/>
                  </a:lnTo>
                  <a:lnTo>
                    <a:pt x="2371078" y="1431999"/>
                  </a:lnTo>
                  <a:lnTo>
                    <a:pt x="2361116" y="1477399"/>
                  </a:lnTo>
                  <a:lnTo>
                    <a:pt x="2349458" y="1522138"/>
                  </a:lnTo>
                  <a:lnTo>
                    <a:pt x="2336140" y="1566179"/>
                  </a:lnTo>
                  <a:lnTo>
                    <a:pt x="2321197" y="1609489"/>
                  </a:lnTo>
                  <a:lnTo>
                    <a:pt x="2304664" y="1652030"/>
                  </a:lnTo>
                  <a:lnTo>
                    <a:pt x="2286578" y="1693766"/>
                  </a:lnTo>
                  <a:lnTo>
                    <a:pt x="2266974" y="1734663"/>
                  </a:lnTo>
                  <a:lnTo>
                    <a:pt x="2245887" y="1774683"/>
                  </a:lnTo>
                  <a:lnTo>
                    <a:pt x="2223353" y="1813792"/>
                  </a:lnTo>
                  <a:lnTo>
                    <a:pt x="2199407" y="1851954"/>
                  </a:lnTo>
                  <a:lnTo>
                    <a:pt x="2174086" y="1889132"/>
                  </a:lnTo>
                  <a:lnTo>
                    <a:pt x="2147424" y="1925290"/>
                  </a:lnTo>
                  <a:lnTo>
                    <a:pt x="2119457" y="1960394"/>
                  </a:lnTo>
                  <a:lnTo>
                    <a:pt x="2090221" y="1994407"/>
                  </a:lnTo>
                  <a:lnTo>
                    <a:pt x="2059751" y="2027293"/>
                  </a:lnTo>
                  <a:lnTo>
                    <a:pt x="2028083" y="2059017"/>
                  </a:lnTo>
                  <a:lnTo>
                    <a:pt x="1995252" y="2089542"/>
                  </a:lnTo>
                  <a:lnTo>
                    <a:pt x="1961295" y="2118834"/>
                  </a:lnTo>
                  <a:lnTo>
                    <a:pt x="1926246" y="2146855"/>
                  </a:lnTo>
                  <a:lnTo>
                    <a:pt x="1890140" y="2173570"/>
                  </a:lnTo>
                  <a:lnTo>
                    <a:pt x="1853015" y="2198944"/>
                  </a:lnTo>
                  <a:lnTo>
                    <a:pt x="1814905" y="2222941"/>
                  </a:lnTo>
                  <a:lnTo>
                    <a:pt x="1775845" y="2245524"/>
                  </a:lnTo>
                  <a:lnTo>
                    <a:pt x="1735872" y="2266658"/>
                  </a:lnTo>
                  <a:lnTo>
                    <a:pt x="1695020" y="2286308"/>
                  </a:lnTo>
                  <a:lnTo>
                    <a:pt x="1653326" y="2304437"/>
                  </a:lnTo>
                  <a:lnTo>
                    <a:pt x="1610825" y="2321009"/>
                  </a:lnTo>
                  <a:lnTo>
                    <a:pt x="1567552" y="2335988"/>
                  </a:lnTo>
                  <a:lnTo>
                    <a:pt x="1523543" y="2349340"/>
                  </a:lnTo>
                  <a:lnTo>
                    <a:pt x="1478834" y="2361028"/>
                  </a:lnTo>
                  <a:lnTo>
                    <a:pt x="1433461" y="2371015"/>
                  </a:lnTo>
                  <a:lnTo>
                    <a:pt x="1387457" y="2379268"/>
                  </a:lnTo>
                  <a:lnTo>
                    <a:pt x="1340861" y="2385748"/>
                  </a:lnTo>
                  <a:lnTo>
                    <a:pt x="1293706" y="2390422"/>
                  </a:lnTo>
                  <a:lnTo>
                    <a:pt x="1246028" y="2393252"/>
                  </a:lnTo>
                  <a:lnTo>
                    <a:pt x="1197864" y="2394204"/>
                  </a:lnTo>
                  <a:close/>
                </a:path>
              </a:pathLst>
            </a:custGeom>
            <a:solidFill>
              <a:srgbClr val="003F70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91"/>
            <p:cNvSpPr/>
            <p:nvPr/>
          </p:nvSpPr>
          <p:spPr>
            <a:xfrm>
              <a:off x="4396047" y="337400"/>
              <a:ext cx="1113621" cy="1113621"/>
            </a:xfrm>
            <a:custGeom>
              <a:rect b="b" l="l" r="r" t="t"/>
              <a:pathLst>
                <a:path extrusionOk="0" h="2034539" w="2034539">
                  <a:moveTo>
                    <a:pt x="1018032" y="2034539"/>
                  </a:moveTo>
                  <a:lnTo>
                    <a:pt x="970099" y="2033432"/>
                  </a:lnTo>
                  <a:lnTo>
                    <a:pt x="922738" y="2030141"/>
                  </a:lnTo>
                  <a:lnTo>
                    <a:pt x="875997" y="2024716"/>
                  </a:lnTo>
                  <a:lnTo>
                    <a:pt x="829925" y="2017205"/>
                  </a:lnTo>
                  <a:lnTo>
                    <a:pt x="784571" y="2007658"/>
                  </a:lnTo>
                  <a:lnTo>
                    <a:pt x="739983" y="1996124"/>
                  </a:lnTo>
                  <a:lnTo>
                    <a:pt x="696211" y="1982650"/>
                  </a:lnTo>
                  <a:lnTo>
                    <a:pt x="653304" y="1967287"/>
                  </a:lnTo>
                  <a:lnTo>
                    <a:pt x="611310" y="1950082"/>
                  </a:lnTo>
                  <a:lnTo>
                    <a:pt x="570278" y="1931085"/>
                  </a:lnTo>
                  <a:lnTo>
                    <a:pt x="530256" y="1910345"/>
                  </a:lnTo>
                  <a:lnTo>
                    <a:pt x="491295" y="1887910"/>
                  </a:lnTo>
                  <a:lnTo>
                    <a:pt x="453442" y="1863829"/>
                  </a:lnTo>
                  <a:lnTo>
                    <a:pt x="416746" y="1838151"/>
                  </a:lnTo>
                  <a:lnTo>
                    <a:pt x="381257" y="1810925"/>
                  </a:lnTo>
                  <a:lnTo>
                    <a:pt x="347023" y="1782199"/>
                  </a:lnTo>
                  <a:lnTo>
                    <a:pt x="314093" y="1752024"/>
                  </a:lnTo>
                  <a:lnTo>
                    <a:pt x="282515" y="1720446"/>
                  </a:lnTo>
                  <a:lnTo>
                    <a:pt x="252340" y="1687516"/>
                  </a:lnTo>
                  <a:lnTo>
                    <a:pt x="223614" y="1653282"/>
                  </a:lnTo>
                  <a:lnTo>
                    <a:pt x="196388" y="1617793"/>
                  </a:lnTo>
                  <a:lnTo>
                    <a:pt x="170710" y="1581097"/>
                  </a:lnTo>
                  <a:lnTo>
                    <a:pt x="146629" y="1543244"/>
                  </a:lnTo>
                  <a:lnTo>
                    <a:pt x="124194" y="1504283"/>
                  </a:lnTo>
                  <a:lnTo>
                    <a:pt x="103454" y="1464261"/>
                  </a:lnTo>
                  <a:lnTo>
                    <a:pt x="84457" y="1423229"/>
                  </a:lnTo>
                  <a:lnTo>
                    <a:pt x="67252" y="1381235"/>
                  </a:lnTo>
                  <a:lnTo>
                    <a:pt x="51889" y="1338328"/>
                  </a:lnTo>
                  <a:lnTo>
                    <a:pt x="38415" y="1294556"/>
                  </a:lnTo>
                  <a:lnTo>
                    <a:pt x="26881" y="1249968"/>
                  </a:lnTo>
                  <a:lnTo>
                    <a:pt x="17334" y="1204614"/>
                  </a:lnTo>
                  <a:lnTo>
                    <a:pt x="9823" y="1158542"/>
                  </a:lnTo>
                  <a:lnTo>
                    <a:pt x="4398" y="1111801"/>
                  </a:lnTo>
                  <a:lnTo>
                    <a:pt x="1107" y="1064440"/>
                  </a:lnTo>
                  <a:lnTo>
                    <a:pt x="0" y="1016507"/>
                  </a:lnTo>
                  <a:lnTo>
                    <a:pt x="1107" y="968702"/>
                  </a:lnTo>
                  <a:lnTo>
                    <a:pt x="4398" y="921460"/>
                  </a:lnTo>
                  <a:lnTo>
                    <a:pt x="9823" y="874832"/>
                  </a:lnTo>
                  <a:lnTo>
                    <a:pt x="17334" y="828866"/>
                  </a:lnTo>
                  <a:lnTo>
                    <a:pt x="26881" y="783611"/>
                  </a:lnTo>
                  <a:lnTo>
                    <a:pt x="38415" y="739116"/>
                  </a:lnTo>
                  <a:lnTo>
                    <a:pt x="51889" y="695431"/>
                  </a:lnTo>
                  <a:lnTo>
                    <a:pt x="67252" y="652604"/>
                  </a:lnTo>
                  <a:lnTo>
                    <a:pt x="84457" y="610685"/>
                  </a:lnTo>
                  <a:lnTo>
                    <a:pt x="103454" y="569722"/>
                  </a:lnTo>
                  <a:lnTo>
                    <a:pt x="124194" y="529765"/>
                  </a:lnTo>
                  <a:lnTo>
                    <a:pt x="146629" y="490862"/>
                  </a:lnTo>
                  <a:lnTo>
                    <a:pt x="170710" y="453063"/>
                  </a:lnTo>
                  <a:lnTo>
                    <a:pt x="196388" y="416417"/>
                  </a:lnTo>
                  <a:lnTo>
                    <a:pt x="223614" y="380973"/>
                  </a:lnTo>
                  <a:lnTo>
                    <a:pt x="252340" y="346779"/>
                  </a:lnTo>
                  <a:lnTo>
                    <a:pt x="282515" y="313886"/>
                  </a:lnTo>
                  <a:lnTo>
                    <a:pt x="314093" y="282341"/>
                  </a:lnTo>
                  <a:lnTo>
                    <a:pt x="347023" y="252194"/>
                  </a:lnTo>
                  <a:lnTo>
                    <a:pt x="381257" y="223494"/>
                  </a:lnTo>
                  <a:lnTo>
                    <a:pt x="416746" y="196291"/>
                  </a:lnTo>
                  <a:lnTo>
                    <a:pt x="453442" y="170632"/>
                  </a:lnTo>
                  <a:lnTo>
                    <a:pt x="491295" y="146568"/>
                  </a:lnTo>
                  <a:lnTo>
                    <a:pt x="530256" y="124147"/>
                  </a:lnTo>
                  <a:lnTo>
                    <a:pt x="570278" y="103418"/>
                  </a:lnTo>
                  <a:lnTo>
                    <a:pt x="611310" y="84431"/>
                  </a:lnTo>
                  <a:lnTo>
                    <a:pt x="653304" y="67234"/>
                  </a:lnTo>
                  <a:lnTo>
                    <a:pt x="696211" y="51876"/>
                  </a:lnTo>
                  <a:lnTo>
                    <a:pt x="739983" y="38407"/>
                  </a:lnTo>
                  <a:lnTo>
                    <a:pt x="784571" y="26876"/>
                  </a:lnTo>
                  <a:lnTo>
                    <a:pt x="829925" y="17331"/>
                  </a:lnTo>
                  <a:lnTo>
                    <a:pt x="875997" y="9822"/>
                  </a:lnTo>
                  <a:lnTo>
                    <a:pt x="922738" y="4398"/>
                  </a:lnTo>
                  <a:lnTo>
                    <a:pt x="970099" y="1107"/>
                  </a:lnTo>
                  <a:lnTo>
                    <a:pt x="1018032" y="0"/>
                  </a:lnTo>
                  <a:lnTo>
                    <a:pt x="1065837" y="1107"/>
                  </a:lnTo>
                  <a:lnTo>
                    <a:pt x="1113079" y="4398"/>
                  </a:lnTo>
                  <a:lnTo>
                    <a:pt x="1159707" y="9822"/>
                  </a:lnTo>
                  <a:lnTo>
                    <a:pt x="1205673" y="17331"/>
                  </a:lnTo>
                  <a:lnTo>
                    <a:pt x="1250928" y="26876"/>
                  </a:lnTo>
                  <a:lnTo>
                    <a:pt x="1295423" y="38407"/>
                  </a:lnTo>
                  <a:lnTo>
                    <a:pt x="1339108" y="51876"/>
                  </a:lnTo>
                  <a:lnTo>
                    <a:pt x="1381935" y="67234"/>
                  </a:lnTo>
                  <a:lnTo>
                    <a:pt x="1423854" y="84431"/>
                  </a:lnTo>
                  <a:lnTo>
                    <a:pt x="1464817" y="103418"/>
                  </a:lnTo>
                  <a:lnTo>
                    <a:pt x="1504774" y="124147"/>
                  </a:lnTo>
                  <a:lnTo>
                    <a:pt x="1543677" y="146568"/>
                  </a:lnTo>
                  <a:lnTo>
                    <a:pt x="1581476" y="170632"/>
                  </a:lnTo>
                  <a:lnTo>
                    <a:pt x="1618122" y="196291"/>
                  </a:lnTo>
                  <a:lnTo>
                    <a:pt x="1653566" y="223494"/>
                  </a:lnTo>
                  <a:lnTo>
                    <a:pt x="1687760" y="252194"/>
                  </a:lnTo>
                  <a:lnTo>
                    <a:pt x="1720653" y="282341"/>
                  </a:lnTo>
                  <a:lnTo>
                    <a:pt x="1752198" y="313886"/>
                  </a:lnTo>
                  <a:lnTo>
                    <a:pt x="1782345" y="346779"/>
                  </a:lnTo>
                  <a:lnTo>
                    <a:pt x="1811045" y="380973"/>
                  </a:lnTo>
                  <a:lnTo>
                    <a:pt x="1838248" y="416417"/>
                  </a:lnTo>
                  <a:lnTo>
                    <a:pt x="1863907" y="453063"/>
                  </a:lnTo>
                  <a:lnTo>
                    <a:pt x="1887971" y="490862"/>
                  </a:lnTo>
                  <a:lnTo>
                    <a:pt x="1910392" y="529765"/>
                  </a:lnTo>
                  <a:lnTo>
                    <a:pt x="1931121" y="569722"/>
                  </a:lnTo>
                  <a:lnTo>
                    <a:pt x="1950108" y="610685"/>
                  </a:lnTo>
                  <a:lnTo>
                    <a:pt x="1967305" y="652604"/>
                  </a:lnTo>
                  <a:lnTo>
                    <a:pt x="1982663" y="695431"/>
                  </a:lnTo>
                  <a:lnTo>
                    <a:pt x="1996132" y="739116"/>
                  </a:lnTo>
                  <a:lnTo>
                    <a:pt x="2007663" y="783611"/>
                  </a:lnTo>
                  <a:lnTo>
                    <a:pt x="2017208" y="828866"/>
                  </a:lnTo>
                  <a:lnTo>
                    <a:pt x="2024717" y="874832"/>
                  </a:lnTo>
                  <a:lnTo>
                    <a:pt x="2030141" y="921460"/>
                  </a:lnTo>
                  <a:lnTo>
                    <a:pt x="2033432" y="968702"/>
                  </a:lnTo>
                  <a:lnTo>
                    <a:pt x="2034539" y="1016507"/>
                  </a:lnTo>
                  <a:lnTo>
                    <a:pt x="2033432" y="1064440"/>
                  </a:lnTo>
                  <a:lnTo>
                    <a:pt x="2030141" y="1111801"/>
                  </a:lnTo>
                  <a:lnTo>
                    <a:pt x="2024717" y="1158542"/>
                  </a:lnTo>
                  <a:lnTo>
                    <a:pt x="2017208" y="1204614"/>
                  </a:lnTo>
                  <a:lnTo>
                    <a:pt x="2007663" y="1249968"/>
                  </a:lnTo>
                  <a:lnTo>
                    <a:pt x="1996132" y="1294556"/>
                  </a:lnTo>
                  <a:lnTo>
                    <a:pt x="1982663" y="1338328"/>
                  </a:lnTo>
                  <a:lnTo>
                    <a:pt x="1967305" y="1381235"/>
                  </a:lnTo>
                  <a:lnTo>
                    <a:pt x="1950108" y="1423229"/>
                  </a:lnTo>
                  <a:lnTo>
                    <a:pt x="1931121" y="1464261"/>
                  </a:lnTo>
                  <a:lnTo>
                    <a:pt x="1910392" y="1504283"/>
                  </a:lnTo>
                  <a:lnTo>
                    <a:pt x="1887971" y="1543244"/>
                  </a:lnTo>
                  <a:lnTo>
                    <a:pt x="1863907" y="1581097"/>
                  </a:lnTo>
                  <a:lnTo>
                    <a:pt x="1838248" y="1617793"/>
                  </a:lnTo>
                  <a:lnTo>
                    <a:pt x="1811045" y="1653282"/>
                  </a:lnTo>
                  <a:lnTo>
                    <a:pt x="1782345" y="1687516"/>
                  </a:lnTo>
                  <a:lnTo>
                    <a:pt x="1752198" y="1720446"/>
                  </a:lnTo>
                  <a:lnTo>
                    <a:pt x="1720653" y="1752024"/>
                  </a:lnTo>
                  <a:lnTo>
                    <a:pt x="1687760" y="1782199"/>
                  </a:lnTo>
                  <a:lnTo>
                    <a:pt x="1653566" y="1810925"/>
                  </a:lnTo>
                  <a:lnTo>
                    <a:pt x="1618122" y="1838151"/>
                  </a:lnTo>
                  <a:lnTo>
                    <a:pt x="1581476" y="1863829"/>
                  </a:lnTo>
                  <a:lnTo>
                    <a:pt x="1543677" y="1887910"/>
                  </a:lnTo>
                  <a:lnTo>
                    <a:pt x="1504774" y="1910345"/>
                  </a:lnTo>
                  <a:lnTo>
                    <a:pt x="1464817" y="1931085"/>
                  </a:lnTo>
                  <a:lnTo>
                    <a:pt x="1423854" y="1950082"/>
                  </a:lnTo>
                  <a:lnTo>
                    <a:pt x="1381935" y="1967287"/>
                  </a:lnTo>
                  <a:lnTo>
                    <a:pt x="1339108" y="1982650"/>
                  </a:lnTo>
                  <a:lnTo>
                    <a:pt x="1295423" y="1996124"/>
                  </a:lnTo>
                  <a:lnTo>
                    <a:pt x="1250928" y="2007658"/>
                  </a:lnTo>
                  <a:lnTo>
                    <a:pt x="1205673" y="2017205"/>
                  </a:lnTo>
                  <a:lnTo>
                    <a:pt x="1159707" y="2024716"/>
                  </a:lnTo>
                  <a:lnTo>
                    <a:pt x="1113079" y="2030141"/>
                  </a:lnTo>
                  <a:lnTo>
                    <a:pt x="1065837" y="2033432"/>
                  </a:lnTo>
                  <a:lnTo>
                    <a:pt x="1018032" y="2034539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91"/>
            <p:cNvSpPr txBox="1"/>
            <p:nvPr/>
          </p:nvSpPr>
          <p:spPr>
            <a:xfrm>
              <a:off x="4533511" y="632600"/>
              <a:ext cx="83869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ko-KR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" name="Google Shape;62;p91"/>
          <p:cNvGrpSpPr/>
          <p:nvPr/>
        </p:nvGrpSpPr>
        <p:grpSpPr>
          <a:xfrm>
            <a:off x="383425" y="337120"/>
            <a:ext cx="3348000" cy="610942"/>
            <a:chOff x="6152074" y="503114"/>
            <a:chExt cx="3348000" cy="610942"/>
          </a:xfrm>
        </p:grpSpPr>
        <p:sp>
          <p:nvSpPr>
            <p:cNvPr id="63" name="Google Shape;63;p91"/>
            <p:cNvSpPr/>
            <p:nvPr/>
          </p:nvSpPr>
          <p:spPr>
            <a:xfrm>
              <a:off x="6152074" y="562354"/>
              <a:ext cx="3348000" cy="551702"/>
            </a:xfrm>
            <a:prstGeom prst="rect">
              <a:avLst/>
            </a:prstGeom>
            <a:solidFill>
              <a:schemeClr val="lt1">
                <a:alpha val="9764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91"/>
            <p:cNvSpPr txBox="1"/>
            <p:nvPr/>
          </p:nvSpPr>
          <p:spPr>
            <a:xfrm>
              <a:off x="6237755" y="669720"/>
              <a:ext cx="3176638" cy="3844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ko-KR" sz="1400" u="none" cap="none" strike="noStrik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불법 미디어 유통 서비스 검출 및 차단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" name="Google Shape;65;p91"/>
            <p:cNvGrpSpPr/>
            <p:nvPr/>
          </p:nvGrpSpPr>
          <p:grpSpPr>
            <a:xfrm>
              <a:off x="6638639" y="503114"/>
              <a:ext cx="2442538" cy="185422"/>
              <a:chOff x="5714617" y="2610102"/>
              <a:chExt cx="1553480" cy="289679"/>
            </a:xfrm>
          </p:grpSpPr>
          <p:sp>
            <p:nvSpPr>
              <p:cNvPr id="66" name="Google Shape;66;p91"/>
              <p:cNvSpPr/>
              <p:nvPr/>
            </p:nvSpPr>
            <p:spPr>
              <a:xfrm>
                <a:off x="5714617" y="2610102"/>
                <a:ext cx="1553480" cy="92549"/>
              </a:xfrm>
              <a:prstGeom prst="trapezoid">
                <a:avLst>
                  <a:gd fmla="val 72040" name="adj"/>
                </a:avLst>
              </a:prstGeom>
              <a:solidFill>
                <a:srgbClr val="01327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1" i="0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91"/>
              <p:cNvSpPr/>
              <p:nvPr/>
            </p:nvSpPr>
            <p:spPr>
              <a:xfrm flipH="1" rot="10800000">
                <a:off x="5744385" y="2613658"/>
                <a:ext cx="1494615" cy="286123"/>
              </a:xfrm>
              <a:prstGeom prst="rect">
                <a:avLst/>
              </a:prstGeom>
              <a:gradFill>
                <a:gsLst>
                  <a:gs pos="0">
                    <a:srgbClr val="0267EC"/>
                  </a:gs>
                  <a:gs pos="88000">
                    <a:srgbClr val="014299"/>
                  </a:gs>
                  <a:gs pos="100000">
                    <a:srgbClr val="0142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91"/>
              <p:cNvSpPr/>
              <p:nvPr/>
            </p:nvSpPr>
            <p:spPr>
              <a:xfrm>
                <a:off x="5752493" y="2613658"/>
                <a:ext cx="1494615" cy="286123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124</a:t>
                </a:r>
                <a:endParaRPr b="1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챕터 슬라이드">
  <p:cSld name="챕터 슬라이드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152651"/>
            <a:ext cx="9905999" cy="47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92"/>
          <p:cNvPicPr preferRelativeResize="0"/>
          <p:nvPr/>
        </p:nvPicPr>
        <p:blipFill rotWithShape="1">
          <a:blip r:embed="rId3">
            <a:alphaModFix/>
          </a:blip>
          <a:srcRect b="0" l="827" r="0" t="0"/>
          <a:stretch/>
        </p:blipFill>
        <p:spPr>
          <a:xfrm>
            <a:off x="-76" y="0"/>
            <a:ext cx="990600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2"/>
          <p:cNvSpPr/>
          <p:nvPr/>
        </p:nvSpPr>
        <p:spPr>
          <a:xfrm>
            <a:off x="729302" y="2631408"/>
            <a:ext cx="1845945" cy="1845945"/>
          </a:xfrm>
          <a:custGeom>
            <a:rect b="b" l="l" r="r" t="t"/>
            <a:pathLst>
              <a:path extrusionOk="0" h="1845945" w="1845945">
                <a:moveTo>
                  <a:pt x="923544" y="1845564"/>
                </a:moveTo>
                <a:lnTo>
                  <a:pt x="875976" y="1844363"/>
                </a:lnTo>
                <a:lnTo>
                  <a:pt x="829037" y="1840801"/>
                </a:lnTo>
                <a:lnTo>
                  <a:pt x="782786" y="1834934"/>
                </a:lnTo>
                <a:lnTo>
                  <a:pt x="737279" y="1826820"/>
                </a:lnTo>
                <a:lnTo>
                  <a:pt x="692575" y="1816518"/>
                </a:lnTo>
                <a:lnTo>
                  <a:pt x="648731" y="1804084"/>
                </a:lnTo>
                <a:lnTo>
                  <a:pt x="605806" y="1789577"/>
                </a:lnTo>
                <a:lnTo>
                  <a:pt x="563856" y="1773054"/>
                </a:lnTo>
                <a:lnTo>
                  <a:pt x="522939" y="1754574"/>
                </a:lnTo>
                <a:lnTo>
                  <a:pt x="483115" y="1734194"/>
                </a:lnTo>
                <a:lnTo>
                  <a:pt x="444439" y="1711971"/>
                </a:lnTo>
                <a:lnTo>
                  <a:pt x="406970" y="1687963"/>
                </a:lnTo>
                <a:lnTo>
                  <a:pt x="370766" y="1662229"/>
                </a:lnTo>
                <a:lnTo>
                  <a:pt x="335884" y="1634826"/>
                </a:lnTo>
                <a:lnTo>
                  <a:pt x="302383" y="1605812"/>
                </a:lnTo>
                <a:lnTo>
                  <a:pt x="270319" y="1575244"/>
                </a:lnTo>
                <a:lnTo>
                  <a:pt x="239751" y="1543180"/>
                </a:lnTo>
                <a:lnTo>
                  <a:pt x="210737" y="1509679"/>
                </a:lnTo>
                <a:lnTo>
                  <a:pt x="183334" y="1474797"/>
                </a:lnTo>
                <a:lnTo>
                  <a:pt x="157600" y="1438593"/>
                </a:lnTo>
                <a:lnTo>
                  <a:pt x="133592" y="1401124"/>
                </a:lnTo>
                <a:lnTo>
                  <a:pt x="111369" y="1362448"/>
                </a:lnTo>
                <a:lnTo>
                  <a:pt x="90989" y="1322624"/>
                </a:lnTo>
                <a:lnTo>
                  <a:pt x="72509" y="1281707"/>
                </a:lnTo>
                <a:lnTo>
                  <a:pt x="55986" y="1239757"/>
                </a:lnTo>
                <a:lnTo>
                  <a:pt x="41479" y="1196832"/>
                </a:lnTo>
                <a:lnTo>
                  <a:pt x="29045" y="1152988"/>
                </a:lnTo>
                <a:lnTo>
                  <a:pt x="18743" y="1108284"/>
                </a:lnTo>
                <a:lnTo>
                  <a:pt x="10629" y="1062777"/>
                </a:lnTo>
                <a:lnTo>
                  <a:pt x="4762" y="1016526"/>
                </a:lnTo>
                <a:lnTo>
                  <a:pt x="1200" y="969587"/>
                </a:lnTo>
                <a:lnTo>
                  <a:pt x="0" y="922020"/>
                </a:lnTo>
                <a:lnTo>
                  <a:pt x="1200" y="874590"/>
                </a:lnTo>
                <a:lnTo>
                  <a:pt x="4762" y="827782"/>
                </a:lnTo>
                <a:lnTo>
                  <a:pt x="10629" y="781652"/>
                </a:lnTo>
                <a:lnTo>
                  <a:pt x="18743" y="736258"/>
                </a:lnTo>
                <a:lnTo>
                  <a:pt x="29045" y="691660"/>
                </a:lnTo>
                <a:lnTo>
                  <a:pt x="41479" y="647914"/>
                </a:lnTo>
                <a:lnTo>
                  <a:pt x="55986" y="605079"/>
                </a:lnTo>
                <a:lnTo>
                  <a:pt x="72509" y="563213"/>
                </a:lnTo>
                <a:lnTo>
                  <a:pt x="90989" y="522374"/>
                </a:lnTo>
                <a:lnTo>
                  <a:pt x="111369" y="482619"/>
                </a:lnTo>
                <a:lnTo>
                  <a:pt x="133592" y="444008"/>
                </a:lnTo>
                <a:lnTo>
                  <a:pt x="157600" y="406598"/>
                </a:lnTo>
                <a:lnTo>
                  <a:pt x="183334" y="370447"/>
                </a:lnTo>
                <a:lnTo>
                  <a:pt x="210737" y="335613"/>
                </a:lnTo>
                <a:lnTo>
                  <a:pt x="239751" y="302154"/>
                </a:lnTo>
                <a:lnTo>
                  <a:pt x="270319" y="270129"/>
                </a:lnTo>
                <a:lnTo>
                  <a:pt x="302383" y="239594"/>
                </a:lnTo>
                <a:lnTo>
                  <a:pt x="335884" y="210609"/>
                </a:lnTo>
                <a:lnTo>
                  <a:pt x="370766" y="183231"/>
                </a:lnTo>
                <a:lnTo>
                  <a:pt x="406970" y="157519"/>
                </a:lnTo>
                <a:lnTo>
                  <a:pt x="444439" y="133530"/>
                </a:lnTo>
                <a:lnTo>
                  <a:pt x="483115" y="111323"/>
                </a:lnTo>
                <a:lnTo>
                  <a:pt x="522939" y="90955"/>
                </a:lnTo>
                <a:lnTo>
                  <a:pt x="563856" y="72485"/>
                </a:lnTo>
                <a:lnTo>
                  <a:pt x="605806" y="55970"/>
                </a:lnTo>
                <a:lnTo>
                  <a:pt x="648731" y="41469"/>
                </a:lnTo>
                <a:lnTo>
                  <a:pt x="692575" y="29040"/>
                </a:lnTo>
                <a:lnTo>
                  <a:pt x="737279" y="18740"/>
                </a:lnTo>
                <a:lnTo>
                  <a:pt x="782786" y="10628"/>
                </a:lnTo>
                <a:lnTo>
                  <a:pt x="829037" y="4762"/>
                </a:lnTo>
                <a:lnTo>
                  <a:pt x="875976" y="1200"/>
                </a:lnTo>
                <a:lnTo>
                  <a:pt x="923544" y="0"/>
                </a:lnTo>
                <a:lnTo>
                  <a:pt x="970973" y="1200"/>
                </a:lnTo>
                <a:lnTo>
                  <a:pt x="1017781" y="4762"/>
                </a:lnTo>
                <a:lnTo>
                  <a:pt x="1063911" y="10628"/>
                </a:lnTo>
                <a:lnTo>
                  <a:pt x="1109305" y="18740"/>
                </a:lnTo>
                <a:lnTo>
                  <a:pt x="1153903" y="29040"/>
                </a:lnTo>
                <a:lnTo>
                  <a:pt x="1197649" y="41469"/>
                </a:lnTo>
                <a:lnTo>
                  <a:pt x="1240484" y="55970"/>
                </a:lnTo>
                <a:lnTo>
                  <a:pt x="1282350" y="72485"/>
                </a:lnTo>
                <a:lnTo>
                  <a:pt x="1323189" y="90955"/>
                </a:lnTo>
                <a:lnTo>
                  <a:pt x="1362944" y="111323"/>
                </a:lnTo>
                <a:lnTo>
                  <a:pt x="1401555" y="133530"/>
                </a:lnTo>
                <a:lnTo>
                  <a:pt x="1438965" y="157519"/>
                </a:lnTo>
                <a:lnTo>
                  <a:pt x="1475116" y="183231"/>
                </a:lnTo>
                <a:lnTo>
                  <a:pt x="1509950" y="210609"/>
                </a:lnTo>
                <a:lnTo>
                  <a:pt x="1543409" y="239594"/>
                </a:lnTo>
                <a:lnTo>
                  <a:pt x="1575435" y="270129"/>
                </a:lnTo>
                <a:lnTo>
                  <a:pt x="1605969" y="302154"/>
                </a:lnTo>
                <a:lnTo>
                  <a:pt x="1634954" y="335613"/>
                </a:lnTo>
                <a:lnTo>
                  <a:pt x="1662332" y="370447"/>
                </a:lnTo>
                <a:lnTo>
                  <a:pt x="1688044" y="406598"/>
                </a:lnTo>
                <a:lnTo>
                  <a:pt x="1712033" y="444008"/>
                </a:lnTo>
                <a:lnTo>
                  <a:pt x="1734240" y="482619"/>
                </a:lnTo>
                <a:lnTo>
                  <a:pt x="1754608" y="522374"/>
                </a:lnTo>
                <a:lnTo>
                  <a:pt x="1773078" y="563213"/>
                </a:lnTo>
                <a:lnTo>
                  <a:pt x="1789593" y="605079"/>
                </a:lnTo>
                <a:lnTo>
                  <a:pt x="1804094" y="647914"/>
                </a:lnTo>
                <a:lnTo>
                  <a:pt x="1816523" y="691660"/>
                </a:lnTo>
                <a:lnTo>
                  <a:pt x="1826823" y="736258"/>
                </a:lnTo>
                <a:lnTo>
                  <a:pt x="1834935" y="781652"/>
                </a:lnTo>
                <a:lnTo>
                  <a:pt x="1840801" y="827782"/>
                </a:lnTo>
                <a:lnTo>
                  <a:pt x="1844363" y="874590"/>
                </a:lnTo>
                <a:lnTo>
                  <a:pt x="1845564" y="922020"/>
                </a:lnTo>
                <a:lnTo>
                  <a:pt x="1844363" y="969587"/>
                </a:lnTo>
                <a:lnTo>
                  <a:pt x="1840801" y="1016526"/>
                </a:lnTo>
                <a:lnTo>
                  <a:pt x="1834935" y="1062777"/>
                </a:lnTo>
                <a:lnTo>
                  <a:pt x="1826823" y="1108284"/>
                </a:lnTo>
                <a:lnTo>
                  <a:pt x="1816523" y="1152988"/>
                </a:lnTo>
                <a:lnTo>
                  <a:pt x="1804094" y="1196832"/>
                </a:lnTo>
                <a:lnTo>
                  <a:pt x="1789593" y="1239757"/>
                </a:lnTo>
                <a:lnTo>
                  <a:pt x="1773078" y="1281707"/>
                </a:lnTo>
                <a:lnTo>
                  <a:pt x="1754608" y="1322624"/>
                </a:lnTo>
                <a:lnTo>
                  <a:pt x="1734240" y="1362448"/>
                </a:lnTo>
                <a:lnTo>
                  <a:pt x="1712033" y="1401124"/>
                </a:lnTo>
                <a:lnTo>
                  <a:pt x="1688044" y="1438593"/>
                </a:lnTo>
                <a:lnTo>
                  <a:pt x="1662332" y="1474797"/>
                </a:lnTo>
                <a:lnTo>
                  <a:pt x="1634954" y="1509679"/>
                </a:lnTo>
                <a:lnTo>
                  <a:pt x="1605969" y="1543180"/>
                </a:lnTo>
                <a:lnTo>
                  <a:pt x="1575435" y="1575244"/>
                </a:lnTo>
                <a:lnTo>
                  <a:pt x="1543409" y="1605812"/>
                </a:lnTo>
                <a:lnTo>
                  <a:pt x="1509950" y="1634826"/>
                </a:lnTo>
                <a:lnTo>
                  <a:pt x="1475116" y="1662229"/>
                </a:lnTo>
                <a:lnTo>
                  <a:pt x="1438965" y="1687963"/>
                </a:lnTo>
                <a:lnTo>
                  <a:pt x="1401555" y="1711971"/>
                </a:lnTo>
                <a:lnTo>
                  <a:pt x="1362944" y="1734194"/>
                </a:lnTo>
                <a:lnTo>
                  <a:pt x="1323189" y="1754574"/>
                </a:lnTo>
                <a:lnTo>
                  <a:pt x="1282350" y="1773054"/>
                </a:lnTo>
                <a:lnTo>
                  <a:pt x="1240484" y="1789577"/>
                </a:lnTo>
                <a:lnTo>
                  <a:pt x="1197649" y="1804084"/>
                </a:lnTo>
                <a:lnTo>
                  <a:pt x="1153903" y="1816518"/>
                </a:lnTo>
                <a:lnTo>
                  <a:pt x="1109305" y="1826820"/>
                </a:lnTo>
                <a:lnTo>
                  <a:pt x="1063911" y="1834934"/>
                </a:lnTo>
                <a:lnTo>
                  <a:pt x="1017781" y="1840801"/>
                </a:lnTo>
                <a:lnTo>
                  <a:pt x="970973" y="1844363"/>
                </a:lnTo>
                <a:lnTo>
                  <a:pt x="923544" y="1845564"/>
                </a:lnTo>
                <a:close/>
              </a:path>
            </a:pathLst>
          </a:custGeom>
          <a:solidFill>
            <a:srgbClr val="001B3E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92"/>
          <p:cNvSpPr/>
          <p:nvPr/>
        </p:nvSpPr>
        <p:spPr>
          <a:xfrm>
            <a:off x="867987" y="2770092"/>
            <a:ext cx="1568450" cy="1568450"/>
          </a:xfrm>
          <a:custGeom>
            <a:rect b="b" l="l" r="r" t="t"/>
            <a:pathLst>
              <a:path extrusionOk="0" h="1568450" w="1568450">
                <a:moveTo>
                  <a:pt x="784860" y="1568196"/>
                </a:moveTo>
                <a:lnTo>
                  <a:pt x="737115" y="1566767"/>
                </a:lnTo>
                <a:lnTo>
                  <a:pt x="690118" y="1562534"/>
                </a:lnTo>
                <a:lnTo>
                  <a:pt x="643951" y="1555579"/>
                </a:lnTo>
                <a:lnTo>
                  <a:pt x="598697" y="1545983"/>
                </a:lnTo>
                <a:lnTo>
                  <a:pt x="554439" y="1533827"/>
                </a:lnTo>
                <a:lnTo>
                  <a:pt x="511259" y="1519193"/>
                </a:lnTo>
                <a:lnTo>
                  <a:pt x="469239" y="1502162"/>
                </a:lnTo>
                <a:lnTo>
                  <a:pt x="428464" y="1482815"/>
                </a:lnTo>
                <a:lnTo>
                  <a:pt x="389015" y="1461233"/>
                </a:lnTo>
                <a:lnTo>
                  <a:pt x="350974" y="1437498"/>
                </a:lnTo>
                <a:lnTo>
                  <a:pt x="314426" y="1411691"/>
                </a:lnTo>
                <a:lnTo>
                  <a:pt x="279452" y="1383894"/>
                </a:lnTo>
                <a:lnTo>
                  <a:pt x="246135" y="1354187"/>
                </a:lnTo>
                <a:lnTo>
                  <a:pt x="214558" y="1322652"/>
                </a:lnTo>
                <a:lnTo>
                  <a:pt x="184803" y="1289370"/>
                </a:lnTo>
                <a:lnTo>
                  <a:pt x="156953" y="1254423"/>
                </a:lnTo>
                <a:lnTo>
                  <a:pt x="131092" y="1217892"/>
                </a:lnTo>
                <a:lnTo>
                  <a:pt x="107300" y="1179858"/>
                </a:lnTo>
                <a:lnTo>
                  <a:pt x="85663" y="1140402"/>
                </a:lnTo>
                <a:lnTo>
                  <a:pt x="66261" y="1099606"/>
                </a:lnTo>
                <a:lnTo>
                  <a:pt x="49177" y="1057551"/>
                </a:lnTo>
                <a:lnTo>
                  <a:pt x="34495" y="1014318"/>
                </a:lnTo>
                <a:lnTo>
                  <a:pt x="22297" y="969989"/>
                </a:lnTo>
                <a:lnTo>
                  <a:pt x="12666" y="924645"/>
                </a:lnTo>
                <a:lnTo>
                  <a:pt x="5684" y="878367"/>
                </a:lnTo>
                <a:lnTo>
                  <a:pt x="1434" y="831237"/>
                </a:lnTo>
                <a:lnTo>
                  <a:pt x="0" y="783336"/>
                </a:lnTo>
                <a:lnTo>
                  <a:pt x="1434" y="735597"/>
                </a:lnTo>
                <a:lnTo>
                  <a:pt x="5684" y="688618"/>
                </a:lnTo>
                <a:lnTo>
                  <a:pt x="12666" y="642479"/>
                </a:lnTo>
                <a:lnTo>
                  <a:pt x="22297" y="597264"/>
                </a:lnTo>
                <a:lnTo>
                  <a:pt x="34495" y="553052"/>
                </a:lnTo>
                <a:lnTo>
                  <a:pt x="49177" y="509927"/>
                </a:lnTo>
                <a:lnTo>
                  <a:pt x="66261" y="467970"/>
                </a:lnTo>
                <a:lnTo>
                  <a:pt x="85663" y="427262"/>
                </a:lnTo>
                <a:lnTo>
                  <a:pt x="107300" y="387886"/>
                </a:lnTo>
                <a:lnTo>
                  <a:pt x="131092" y="349923"/>
                </a:lnTo>
                <a:lnTo>
                  <a:pt x="156953" y="313455"/>
                </a:lnTo>
                <a:lnTo>
                  <a:pt x="184803" y="278563"/>
                </a:lnTo>
                <a:lnTo>
                  <a:pt x="214558" y="245330"/>
                </a:lnTo>
                <a:lnTo>
                  <a:pt x="246135" y="213838"/>
                </a:lnTo>
                <a:lnTo>
                  <a:pt x="279452" y="184167"/>
                </a:lnTo>
                <a:lnTo>
                  <a:pt x="314426" y="156400"/>
                </a:lnTo>
                <a:lnTo>
                  <a:pt x="350974" y="130619"/>
                </a:lnTo>
                <a:lnTo>
                  <a:pt x="389015" y="106905"/>
                </a:lnTo>
                <a:lnTo>
                  <a:pt x="428464" y="85340"/>
                </a:lnTo>
                <a:lnTo>
                  <a:pt x="469239" y="66006"/>
                </a:lnTo>
                <a:lnTo>
                  <a:pt x="511259" y="48985"/>
                </a:lnTo>
                <a:lnTo>
                  <a:pt x="554439" y="34358"/>
                </a:lnTo>
                <a:lnTo>
                  <a:pt x="598697" y="22207"/>
                </a:lnTo>
                <a:lnTo>
                  <a:pt x="643951" y="12614"/>
                </a:lnTo>
                <a:lnTo>
                  <a:pt x="690118" y="5660"/>
                </a:lnTo>
                <a:lnTo>
                  <a:pt x="737115" y="1428"/>
                </a:lnTo>
                <a:lnTo>
                  <a:pt x="784860" y="0"/>
                </a:lnTo>
                <a:lnTo>
                  <a:pt x="832598" y="1428"/>
                </a:lnTo>
                <a:lnTo>
                  <a:pt x="879577" y="5660"/>
                </a:lnTo>
                <a:lnTo>
                  <a:pt x="925716" y="12614"/>
                </a:lnTo>
                <a:lnTo>
                  <a:pt x="970931" y="22207"/>
                </a:lnTo>
                <a:lnTo>
                  <a:pt x="1015143" y="34358"/>
                </a:lnTo>
                <a:lnTo>
                  <a:pt x="1058268" y="48985"/>
                </a:lnTo>
                <a:lnTo>
                  <a:pt x="1100225" y="66006"/>
                </a:lnTo>
                <a:lnTo>
                  <a:pt x="1140933" y="85340"/>
                </a:lnTo>
                <a:lnTo>
                  <a:pt x="1180309" y="106905"/>
                </a:lnTo>
                <a:lnTo>
                  <a:pt x="1218272" y="130619"/>
                </a:lnTo>
                <a:lnTo>
                  <a:pt x="1254740" y="156400"/>
                </a:lnTo>
                <a:lnTo>
                  <a:pt x="1289632" y="184167"/>
                </a:lnTo>
                <a:lnTo>
                  <a:pt x="1322865" y="213838"/>
                </a:lnTo>
                <a:lnTo>
                  <a:pt x="1354357" y="245330"/>
                </a:lnTo>
                <a:lnTo>
                  <a:pt x="1384028" y="278563"/>
                </a:lnTo>
                <a:lnTo>
                  <a:pt x="1411795" y="313455"/>
                </a:lnTo>
                <a:lnTo>
                  <a:pt x="1437576" y="349923"/>
                </a:lnTo>
                <a:lnTo>
                  <a:pt x="1461290" y="387886"/>
                </a:lnTo>
                <a:lnTo>
                  <a:pt x="1482855" y="427262"/>
                </a:lnTo>
                <a:lnTo>
                  <a:pt x="1502189" y="467970"/>
                </a:lnTo>
                <a:lnTo>
                  <a:pt x="1519210" y="509927"/>
                </a:lnTo>
                <a:lnTo>
                  <a:pt x="1533837" y="553052"/>
                </a:lnTo>
                <a:lnTo>
                  <a:pt x="1545988" y="597264"/>
                </a:lnTo>
                <a:lnTo>
                  <a:pt x="1555581" y="642479"/>
                </a:lnTo>
                <a:lnTo>
                  <a:pt x="1562535" y="688618"/>
                </a:lnTo>
                <a:lnTo>
                  <a:pt x="1566767" y="735597"/>
                </a:lnTo>
                <a:lnTo>
                  <a:pt x="1568195" y="783336"/>
                </a:lnTo>
                <a:lnTo>
                  <a:pt x="1566767" y="831237"/>
                </a:lnTo>
                <a:lnTo>
                  <a:pt x="1562535" y="878367"/>
                </a:lnTo>
                <a:lnTo>
                  <a:pt x="1555581" y="924645"/>
                </a:lnTo>
                <a:lnTo>
                  <a:pt x="1545988" y="969989"/>
                </a:lnTo>
                <a:lnTo>
                  <a:pt x="1533837" y="1014318"/>
                </a:lnTo>
                <a:lnTo>
                  <a:pt x="1519210" y="1057551"/>
                </a:lnTo>
                <a:lnTo>
                  <a:pt x="1502189" y="1099606"/>
                </a:lnTo>
                <a:lnTo>
                  <a:pt x="1482855" y="1140402"/>
                </a:lnTo>
                <a:lnTo>
                  <a:pt x="1461290" y="1179858"/>
                </a:lnTo>
                <a:lnTo>
                  <a:pt x="1437576" y="1217892"/>
                </a:lnTo>
                <a:lnTo>
                  <a:pt x="1411795" y="1254423"/>
                </a:lnTo>
                <a:lnTo>
                  <a:pt x="1384028" y="1289370"/>
                </a:lnTo>
                <a:lnTo>
                  <a:pt x="1354357" y="1322652"/>
                </a:lnTo>
                <a:lnTo>
                  <a:pt x="1322865" y="1354187"/>
                </a:lnTo>
                <a:lnTo>
                  <a:pt x="1289632" y="1383894"/>
                </a:lnTo>
                <a:lnTo>
                  <a:pt x="1254740" y="1411691"/>
                </a:lnTo>
                <a:lnTo>
                  <a:pt x="1218272" y="1437498"/>
                </a:lnTo>
                <a:lnTo>
                  <a:pt x="1180309" y="1461233"/>
                </a:lnTo>
                <a:lnTo>
                  <a:pt x="1140933" y="1482815"/>
                </a:lnTo>
                <a:lnTo>
                  <a:pt x="1100225" y="1502162"/>
                </a:lnTo>
                <a:lnTo>
                  <a:pt x="1058268" y="1519193"/>
                </a:lnTo>
                <a:lnTo>
                  <a:pt x="1015143" y="1533827"/>
                </a:lnTo>
                <a:lnTo>
                  <a:pt x="970931" y="1545983"/>
                </a:lnTo>
                <a:lnTo>
                  <a:pt x="925716" y="1555579"/>
                </a:lnTo>
                <a:lnTo>
                  <a:pt x="879577" y="1562534"/>
                </a:lnTo>
                <a:lnTo>
                  <a:pt x="832598" y="1566767"/>
                </a:lnTo>
                <a:lnTo>
                  <a:pt x="784860" y="1568196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2"/>
          <p:cNvSpPr/>
          <p:nvPr/>
        </p:nvSpPr>
        <p:spPr>
          <a:xfrm>
            <a:off x="729302" y="1075991"/>
            <a:ext cx="3464410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ko-KR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미디어 유통 서비스</a:t>
            </a:r>
            <a:endParaRPr b="1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ko-KR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검출 및 차단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2"/>
          <p:cNvSpPr txBox="1"/>
          <p:nvPr>
            <p:ph type="title"/>
          </p:nvPr>
        </p:nvSpPr>
        <p:spPr>
          <a:xfrm>
            <a:off x="2850184" y="3327358"/>
            <a:ext cx="3868589" cy="463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2"/>
          <p:cNvSpPr txBox="1"/>
          <p:nvPr>
            <p:ph idx="1" type="body"/>
          </p:nvPr>
        </p:nvSpPr>
        <p:spPr>
          <a:xfrm>
            <a:off x="2892178" y="4025900"/>
            <a:ext cx="6518522" cy="10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  <a:defRPr sz="24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92"/>
          <p:cNvSpPr/>
          <p:nvPr/>
        </p:nvSpPr>
        <p:spPr>
          <a:xfrm>
            <a:off x="729302" y="2077651"/>
            <a:ext cx="58844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2024년도 제1차 정보통신․방송 기술개발사업 및 표준개발지원사업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" name="Google Shape;78;p92"/>
          <p:cNvCxnSpPr/>
          <p:nvPr/>
        </p:nvCxnSpPr>
        <p:spPr>
          <a:xfrm>
            <a:off x="729302" y="2006643"/>
            <a:ext cx="4428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본문 세부내용(팝업)">
  <p:cSld name="본문 세부내용(팝업)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3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400"/>
              <a:buFont typeface="Arial"/>
              <a:buNone/>
              <a:defRPr>
                <a:solidFill>
                  <a:srgbClr val="D0CEC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1" name="Google Shape;81;p93"/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sp>
          <p:nvSpPr>
            <p:cNvPr id="82" name="Google Shape;82;p93"/>
            <p:cNvSpPr/>
            <p:nvPr/>
          </p:nvSpPr>
          <p:spPr>
            <a:xfrm>
              <a:off x="0" y="0"/>
              <a:ext cx="9906000" cy="6858000"/>
            </a:xfrm>
            <a:prstGeom prst="rect">
              <a:avLst/>
            </a:prstGeom>
            <a:solidFill>
              <a:schemeClr val="dk1">
                <a:alpha val="49804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" name="Google Shape;83;p93"/>
            <p:cNvGrpSpPr/>
            <p:nvPr/>
          </p:nvGrpSpPr>
          <p:grpSpPr>
            <a:xfrm>
              <a:off x="147000" y="893380"/>
              <a:ext cx="9612000" cy="5612523"/>
              <a:chOff x="147000" y="893380"/>
              <a:chExt cx="9612000" cy="5612523"/>
            </a:xfrm>
          </p:grpSpPr>
          <p:sp>
            <p:nvSpPr>
              <p:cNvPr id="84" name="Google Shape;84;p93"/>
              <p:cNvSpPr/>
              <p:nvPr/>
            </p:nvSpPr>
            <p:spPr>
              <a:xfrm>
                <a:off x="147000" y="893380"/>
                <a:ext cx="9612000" cy="404205"/>
              </a:xfrm>
              <a:prstGeom prst="round2SameRect">
                <a:avLst>
                  <a:gd fmla="val 34869" name="adj1"/>
                  <a:gd fmla="val 0" name="adj2"/>
                </a:avLst>
              </a:prstGeom>
              <a:solidFill>
                <a:srgbClr val="00206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93"/>
              <p:cNvSpPr/>
              <p:nvPr/>
            </p:nvSpPr>
            <p:spPr>
              <a:xfrm>
                <a:off x="147000" y="1297585"/>
                <a:ext cx="9612000" cy="5208318"/>
              </a:xfrm>
              <a:prstGeom prst="round2SameRect">
                <a:avLst>
                  <a:gd fmla="val 0" name="adj1"/>
                  <a:gd fmla="val 3027" name="adj2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t/>
                </a:r>
                <a:endParaRPr b="0" i="0" sz="3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87"/>
          <p:cNvGrpSpPr/>
          <p:nvPr/>
        </p:nvGrpSpPr>
        <p:grpSpPr>
          <a:xfrm>
            <a:off x="1" y="0"/>
            <a:ext cx="9905998" cy="6858000"/>
            <a:chOff x="1" y="0"/>
            <a:chExt cx="9905998" cy="6858000"/>
          </a:xfrm>
        </p:grpSpPr>
        <p:cxnSp>
          <p:nvCxnSpPr>
            <p:cNvPr id="11" name="Google Shape;11;p87"/>
            <p:cNvCxnSpPr/>
            <p:nvPr/>
          </p:nvCxnSpPr>
          <p:spPr>
            <a:xfrm>
              <a:off x="133003" y="0"/>
              <a:ext cx="0" cy="6858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12" name="Google Shape;12;p87"/>
            <p:cNvCxnSpPr/>
            <p:nvPr/>
          </p:nvCxnSpPr>
          <p:spPr>
            <a:xfrm>
              <a:off x="9772303" y="0"/>
              <a:ext cx="0" cy="6858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13" name="Google Shape;13;p87"/>
            <p:cNvCxnSpPr/>
            <p:nvPr/>
          </p:nvCxnSpPr>
          <p:spPr>
            <a:xfrm>
              <a:off x="4952653" y="0"/>
              <a:ext cx="0" cy="6858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14" name="Google Shape;14;p87"/>
            <p:cNvCxnSpPr/>
            <p:nvPr/>
          </p:nvCxnSpPr>
          <p:spPr>
            <a:xfrm rot="10800000">
              <a:off x="1" y="878367"/>
              <a:ext cx="9905998" cy="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15" name="Google Shape;15;p87"/>
            <p:cNvCxnSpPr/>
            <p:nvPr/>
          </p:nvCxnSpPr>
          <p:spPr>
            <a:xfrm rot="10800000">
              <a:off x="1" y="1364523"/>
              <a:ext cx="9905998" cy="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16" name="Google Shape;16;p87"/>
            <p:cNvCxnSpPr/>
            <p:nvPr/>
          </p:nvCxnSpPr>
          <p:spPr>
            <a:xfrm rot="10800000">
              <a:off x="1" y="1507398"/>
              <a:ext cx="9905998" cy="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17" name="Google Shape;17;p87"/>
            <p:cNvCxnSpPr/>
            <p:nvPr/>
          </p:nvCxnSpPr>
          <p:spPr>
            <a:xfrm rot="10800000">
              <a:off x="1" y="6721477"/>
              <a:ext cx="9905998" cy="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18" name="Google Shape;18;p87"/>
            <p:cNvCxnSpPr/>
            <p:nvPr/>
          </p:nvCxnSpPr>
          <p:spPr>
            <a:xfrm rot="10800000">
              <a:off x="1" y="6267450"/>
              <a:ext cx="9905998" cy="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19" name="Google Shape;19;p87"/>
            <p:cNvCxnSpPr/>
            <p:nvPr/>
          </p:nvCxnSpPr>
          <p:spPr>
            <a:xfrm rot="10800000">
              <a:off x="1" y="3914775"/>
              <a:ext cx="9905998" cy="0"/>
            </a:xfrm>
            <a:prstGeom prst="straightConnector1">
              <a:avLst/>
            </a:prstGeom>
            <a:noFill/>
            <a:ln>
              <a:noFill/>
            </a:ln>
          </p:spPr>
        </p:cxnSp>
      </p:grpSp>
      <p:sp>
        <p:nvSpPr>
          <p:cNvPr id="20" name="Google Shape;20;p87"/>
          <p:cNvSpPr txBox="1"/>
          <p:nvPr>
            <p:ph idx="1" type="body"/>
          </p:nvPr>
        </p:nvSpPr>
        <p:spPr>
          <a:xfrm>
            <a:off x="2300448" y="910208"/>
            <a:ext cx="5305105" cy="441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87"/>
          <p:cNvSpPr/>
          <p:nvPr/>
        </p:nvSpPr>
        <p:spPr>
          <a:xfrm flipH="1">
            <a:off x="9295552" y="6277550"/>
            <a:ext cx="610447" cy="590550"/>
          </a:xfrm>
          <a:prstGeom prst="rtTriangle">
            <a:avLst/>
          </a:prstGeom>
          <a:gradFill>
            <a:gsLst>
              <a:gs pos="0">
                <a:srgbClr val="2CA8CD"/>
              </a:gs>
              <a:gs pos="100000">
                <a:srgbClr val="0070C0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87"/>
          <p:cNvSpPr/>
          <p:nvPr/>
        </p:nvSpPr>
        <p:spPr>
          <a:xfrm>
            <a:off x="133003" y="146210"/>
            <a:ext cx="6758248" cy="588727"/>
          </a:xfrm>
          <a:prstGeom prst="homePlate">
            <a:avLst>
              <a:gd fmla="val 37292" name="adj"/>
            </a:avLst>
          </a:prstGeom>
          <a:gradFill>
            <a:gsLst>
              <a:gs pos="0">
                <a:srgbClr val="2CA8CD"/>
              </a:gs>
              <a:gs pos="100000">
                <a:srgbClr val="0171BB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p87"/>
          <p:cNvGrpSpPr/>
          <p:nvPr/>
        </p:nvGrpSpPr>
        <p:grpSpPr>
          <a:xfrm>
            <a:off x="7007628" y="0"/>
            <a:ext cx="2898371" cy="238065"/>
            <a:chOff x="7007629" y="-1362"/>
            <a:chExt cx="2898371" cy="238065"/>
          </a:xfrm>
        </p:grpSpPr>
        <p:sp>
          <p:nvSpPr>
            <p:cNvPr id="24" name="Google Shape;24;p87"/>
            <p:cNvSpPr/>
            <p:nvPr/>
          </p:nvSpPr>
          <p:spPr>
            <a:xfrm rot="10800000">
              <a:off x="7007629" y="-1362"/>
              <a:ext cx="2898371" cy="238065"/>
            </a:xfrm>
            <a:prstGeom prst="trapezoid">
              <a:avLst>
                <a:gd fmla="val 74013" name="adj"/>
              </a:avLst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87"/>
            <p:cNvSpPr/>
            <p:nvPr/>
          </p:nvSpPr>
          <p:spPr>
            <a:xfrm rot="10800000">
              <a:off x="7439021" y="-1130"/>
              <a:ext cx="2466975" cy="237600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" name="Google Shape;26;p87"/>
          <p:cNvSpPr/>
          <p:nvPr/>
        </p:nvSpPr>
        <p:spPr>
          <a:xfrm>
            <a:off x="9329747" y="6615413"/>
            <a:ext cx="576253" cy="153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1080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fld id="{00000000-1234-1234-1234-123412341234}" type="slidenum">
              <a:rPr b="1" i="0" lang="ko-K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87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28" name="Google Shape;28;p87"/>
          <p:cNvGrpSpPr/>
          <p:nvPr/>
        </p:nvGrpSpPr>
        <p:grpSpPr>
          <a:xfrm>
            <a:off x="1981200" y="881149"/>
            <a:ext cx="5943600" cy="485506"/>
            <a:chOff x="1981197" y="881149"/>
            <a:chExt cx="5943600" cy="485506"/>
          </a:xfrm>
        </p:grpSpPr>
        <p:cxnSp>
          <p:nvCxnSpPr>
            <p:cNvPr id="29" name="Google Shape;29;p87"/>
            <p:cNvCxnSpPr/>
            <p:nvPr/>
          </p:nvCxnSpPr>
          <p:spPr>
            <a:xfrm>
              <a:off x="1981197" y="881149"/>
              <a:ext cx="5943600" cy="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87"/>
            <p:cNvCxnSpPr/>
            <p:nvPr/>
          </p:nvCxnSpPr>
          <p:spPr>
            <a:xfrm>
              <a:off x="1981197" y="1366655"/>
              <a:ext cx="5943600" cy="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1" name="Google Shape;31;p87"/>
          <p:cNvGrpSpPr/>
          <p:nvPr/>
        </p:nvGrpSpPr>
        <p:grpSpPr>
          <a:xfrm>
            <a:off x="7328796" y="354553"/>
            <a:ext cx="2400201" cy="240159"/>
            <a:chOff x="7328796" y="354553"/>
            <a:chExt cx="2400201" cy="240159"/>
          </a:xfrm>
        </p:grpSpPr>
        <p:pic>
          <p:nvPicPr>
            <p:cNvPr descr="보 도 자 료" id="32" name="Google Shape;32;p87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7328796" y="354553"/>
              <a:ext cx="1237178" cy="240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폰트, 그래픽, 텍스트, 그래픽 디자인이(가) 표시된 사진&#10;&#10;자동 생성된 설명" id="33" name="Google Shape;33;p8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610360" y="393037"/>
              <a:ext cx="1118637" cy="16319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10" Type="http://schemas.openxmlformats.org/officeDocument/2006/relationships/image" Target="../media/image18.png"/><Relationship Id="rId9" Type="http://schemas.openxmlformats.org/officeDocument/2006/relationships/image" Target="../media/image20.png"/><Relationship Id="rId5" Type="http://schemas.openxmlformats.org/officeDocument/2006/relationships/image" Target="../media/image12.jpg"/><Relationship Id="rId6" Type="http://schemas.openxmlformats.org/officeDocument/2006/relationships/image" Target="../media/image15.jpg"/><Relationship Id="rId7" Type="http://schemas.openxmlformats.org/officeDocument/2006/relationships/image" Target="../media/image14.jp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28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9" Type="http://schemas.openxmlformats.org/officeDocument/2006/relationships/image" Target="../media/image25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Relationship Id="rId7" Type="http://schemas.openxmlformats.org/officeDocument/2006/relationships/image" Target="../media/image23.png"/><Relationship Id="rId8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34.png"/><Relationship Id="rId10" Type="http://schemas.openxmlformats.org/officeDocument/2006/relationships/image" Target="../media/image32.png"/><Relationship Id="rId9" Type="http://schemas.openxmlformats.org/officeDocument/2006/relationships/image" Target="../media/image27.png"/><Relationship Id="rId5" Type="http://schemas.openxmlformats.org/officeDocument/2006/relationships/image" Target="../media/image36.png"/><Relationship Id="rId6" Type="http://schemas.openxmlformats.org/officeDocument/2006/relationships/image" Target="../media/image38.jpg"/><Relationship Id="rId7" Type="http://schemas.openxmlformats.org/officeDocument/2006/relationships/image" Target="../media/image31.png"/><Relationship Id="rId8" Type="http://schemas.openxmlformats.org/officeDocument/2006/relationships/image" Target="../media/image3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image" Target="../media/image44.png"/><Relationship Id="rId9" Type="http://schemas.openxmlformats.org/officeDocument/2006/relationships/image" Target="../media/image41.png"/><Relationship Id="rId5" Type="http://schemas.openxmlformats.org/officeDocument/2006/relationships/image" Target="../media/image35.png"/><Relationship Id="rId6" Type="http://schemas.openxmlformats.org/officeDocument/2006/relationships/image" Target="../media/image19.png"/><Relationship Id="rId7" Type="http://schemas.openxmlformats.org/officeDocument/2006/relationships/image" Target="../media/image47.png"/><Relationship Id="rId8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3.png"/><Relationship Id="rId10" Type="http://schemas.openxmlformats.org/officeDocument/2006/relationships/image" Target="../media/image46.png"/><Relationship Id="rId13" Type="http://schemas.openxmlformats.org/officeDocument/2006/relationships/image" Target="../media/image49.png"/><Relationship Id="rId1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5.png"/><Relationship Id="rId4" Type="http://schemas.openxmlformats.org/officeDocument/2006/relationships/image" Target="../media/image58.png"/><Relationship Id="rId9" Type="http://schemas.openxmlformats.org/officeDocument/2006/relationships/image" Target="../media/image50.png"/><Relationship Id="rId14" Type="http://schemas.openxmlformats.org/officeDocument/2006/relationships/image" Target="../media/image56.png"/><Relationship Id="rId5" Type="http://schemas.openxmlformats.org/officeDocument/2006/relationships/image" Target="../media/image48.png"/><Relationship Id="rId6" Type="http://schemas.openxmlformats.org/officeDocument/2006/relationships/image" Target="../media/image45.png"/><Relationship Id="rId7" Type="http://schemas.openxmlformats.org/officeDocument/2006/relationships/image" Target="../media/image42.png"/><Relationship Id="rId8" Type="http://schemas.openxmlformats.org/officeDocument/2006/relationships/image" Target="../media/image4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2.png"/><Relationship Id="rId4" Type="http://schemas.openxmlformats.org/officeDocument/2006/relationships/image" Target="../media/image6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5.png"/><Relationship Id="rId4" Type="http://schemas.openxmlformats.org/officeDocument/2006/relationships/image" Target="../media/image59.png"/><Relationship Id="rId5" Type="http://schemas.openxmlformats.org/officeDocument/2006/relationships/image" Target="../media/image57.png"/><Relationship Id="rId6" Type="http://schemas.openxmlformats.org/officeDocument/2006/relationships/image" Target="../media/image54.png"/><Relationship Id="rId7" Type="http://schemas.openxmlformats.org/officeDocument/2006/relationships/image" Target="../media/image66.png"/><Relationship Id="rId8" Type="http://schemas.openxmlformats.org/officeDocument/2006/relationships/image" Target="../media/image6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4.png"/><Relationship Id="rId4" Type="http://schemas.openxmlformats.org/officeDocument/2006/relationships/image" Target="../media/image61.png"/><Relationship Id="rId5" Type="http://schemas.openxmlformats.org/officeDocument/2006/relationships/image" Target="../media/image66.png"/><Relationship Id="rId6" Type="http://schemas.openxmlformats.org/officeDocument/2006/relationships/image" Target="../media/image7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4.png"/><Relationship Id="rId4" Type="http://schemas.openxmlformats.org/officeDocument/2006/relationships/image" Target="../media/image60.png"/><Relationship Id="rId5" Type="http://schemas.openxmlformats.org/officeDocument/2006/relationships/image" Target="../media/image7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4.png"/><Relationship Id="rId4" Type="http://schemas.openxmlformats.org/officeDocument/2006/relationships/image" Target="../media/image73.jpg"/><Relationship Id="rId5" Type="http://schemas.openxmlformats.org/officeDocument/2006/relationships/image" Target="../media/image69.png"/><Relationship Id="rId6" Type="http://schemas.openxmlformats.org/officeDocument/2006/relationships/image" Target="../media/image6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example123.com/" TargetMode="External"/><Relationship Id="rId4" Type="http://schemas.openxmlformats.org/officeDocument/2006/relationships/hyperlink" Target="http://examplea.com/" TargetMode="External"/><Relationship Id="rId9" Type="http://schemas.openxmlformats.org/officeDocument/2006/relationships/image" Target="../media/image68.png"/><Relationship Id="rId5" Type="http://schemas.openxmlformats.org/officeDocument/2006/relationships/hyperlink" Target="http://watchmoviesnow.com/" TargetMode="External"/><Relationship Id="rId6" Type="http://schemas.openxmlformats.org/officeDocument/2006/relationships/hyperlink" Target="http://streammoviesnow.com/" TargetMode="External"/><Relationship Id="rId7" Type="http://schemas.openxmlformats.org/officeDocument/2006/relationships/hyperlink" Target="http://example.org/" TargetMode="External"/><Relationship Id="rId8" Type="http://schemas.openxmlformats.org/officeDocument/2006/relationships/image" Target="../media/image7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7.png"/><Relationship Id="rId4" Type="http://schemas.openxmlformats.org/officeDocument/2006/relationships/image" Target="../media/image82.png"/><Relationship Id="rId5" Type="http://schemas.openxmlformats.org/officeDocument/2006/relationships/image" Target="../media/image5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9.png"/><Relationship Id="rId4" Type="http://schemas.openxmlformats.org/officeDocument/2006/relationships/image" Target="../media/image80.jpg"/><Relationship Id="rId5" Type="http://schemas.openxmlformats.org/officeDocument/2006/relationships/image" Target="../media/image8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1.gif"/><Relationship Id="rId4" Type="http://schemas.openxmlformats.org/officeDocument/2006/relationships/image" Target="../media/image75.jpg"/><Relationship Id="rId5" Type="http://schemas.openxmlformats.org/officeDocument/2006/relationships/image" Target="../media/image84.jpg"/><Relationship Id="rId6" Type="http://schemas.openxmlformats.org/officeDocument/2006/relationships/image" Target="../media/image7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3.png"/><Relationship Id="rId4" Type="http://schemas.openxmlformats.org/officeDocument/2006/relationships/image" Target="../media/image83.jpg"/></Relationships>
</file>

<file path=ppt/slides/_rels/slide30.xml.rels><?xml version="1.0" encoding="UTF-8" standalone="yes"?><Relationships xmlns="http://schemas.openxmlformats.org/package/2006/relationships"><Relationship Id="rId11" Type="http://schemas.openxmlformats.org/officeDocument/2006/relationships/image" Target="../media/image91.png"/><Relationship Id="rId10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9.jpg"/><Relationship Id="rId4" Type="http://schemas.openxmlformats.org/officeDocument/2006/relationships/image" Target="../media/image86.jpg"/><Relationship Id="rId9" Type="http://schemas.openxmlformats.org/officeDocument/2006/relationships/image" Target="../media/image88.png"/><Relationship Id="rId5" Type="http://schemas.openxmlformats.org/officeDocument/2006/relationships/image" Target="../media/image85.png"/><Relationship Id="rId6" Type="http://schemas.openxmlformats.org/officeDocument/2006/relationships/image" Target="../media/image90.jpg"/><Relationship Id="rId7" Type="http://schemas.openxmlformats.org/officeDocument/2006/relationships/image" Target="../media/image95.jpg"/><Relationship Id="rId8" Type="http://schemas.openxmlformats.org/officeDocument/2006/relationships/image" Target="../media/image9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1.png"/><Relationship Id="rId4" Type="http://schemas.openxmlformats.org/officeDocument/2006/relationships/image" Target="../media/image97.png"/><Relationship Id="rId5" Type="http://schemas.openxmlformats.org/officeDocument/2006/relationships/image" Target="../media/image96.png"/><Relationship Id="rId6" Type="http://schemas.openxmlformats.org/officeDocument/2006/relationships/image" Target="../media/image9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2.png"/><Relationship Id="rId4" Type="http://schemas.openxmlformats.org/officeDocument/2006/relationships/image" Target="../media/image100.png"/><Relationship Id="rId5" Type="http://schemas.openxmlformats.org/officeDocument/2006/relationships/image" Target="../media/image99.png"/><Relationship Id="rId6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2.png"/><Relationship Id="rId4" Type="http://schemas.openxmlformats.org/officeDocument/2006/relationships/image" Target="../media/image10.png"/><Relationship Id="rId5" Type="http://schemas.openxmlformats.org/officeDocument/2006/relationships/image" Target="../media/image102.png"/><Relationship Id="rId6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1689100" y="774581"/>
            <a:ext cx="6591300" cy="7159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조견표</a:t>
            </a:r>
            <a:endParaRPr/>
          </a:p>
        </p:txBody>
      </p:sp>
      <p:graphicFrame>
        <p:nvGraphicFramePr>
          <p:cNvPr id="98" name="Google Shape;98;p2"/>
          <p:cNvGraphicFramePr/>
          <p:nvPr/>
        </p:nvGraphicFramePr>
        <p:xfrm>
          <a:off x="187520" y="11325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{F0999B2E-6716-427F-BB08-76C9D8113C3E}</a:tableStyleId>
              </a:tblPr>
              <a:tblGrid>
                <a:gridCol w="1998050"/>
                <a:gridCol w="2994650"/>
                <a:gridCol w="3154675"/>
                <a:gridCol w="1383575"/>
              </a:tblGrid>
              <a:tr h="276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 sz="1400" u="none" cap="none" strike="noStrike"/>
                    </a:p>
                  </a:txBody>
                  <a:tcPr marT="225" marB="225" marR="225" marL="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9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평가항목 및 기준</a:t>
                      </a:r>
                      <a:endParaRPr sz="1400" u="none" cap="none" strike="noStrike"/>
                    </a:p>
                  </a:txBody>
                  <a:tcPr marT="225" marB="225" marR="225" marL="2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9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해당 목차</a:t>
                      </a:r>
                      <a:endParaRPr sz="1400" u="none" cap="none" strike="noStrike"/>
                    </a:p>
                  </a:txBody>
                  <a:tcPr marT="225" marB="225" marR="225" marL="2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9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Page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5" marB="225" marR="225" marL="2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950"/>
                    </a:solidFill>
                  </a:tcPr>
                </a:tc>
              </a:tr>
              <a:tr h="6209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추진계획의 타당성</a:t>
                      </a:r>
                      <a:endParaRPr sz="1400" u="none" cap="none" strike="noStrike"/>
                    </a:p>
                  </a:txBody>
                  <a:tcPr marT="225" marB="225" marR="225" marL="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6E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사전준비성/추진계획 구체성</a:t>
                      </a:r>
                      <a:endParaRPr sz="1400" u="none" cap="none" strike="noStrike"/>
                    </a:p>
                  </a:txBody>
                  <a:tcPr marT="225" marB="225" marR="225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1-2. 국내외 현황 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1-3. 수행일정 및 주요결과물 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5" marB="225" marR="225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pg.10-12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pg.38-41</a:t>
                      </a:r>
                      <a:endParaRPr sz="1400" u="none" cap="none" strike="noStrike"/>
                    </a:p>
                  </a:txBody>
                  <a:tcPr marT="225" marB="225" marR="225" marL="2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09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연구개발 목표 명확성</a:t>
                      </a:r>
                      <a:endParaRPr sz="1400" u="none" cap="none" strike="noStrike"/>
                    </a:p>
                  </a:txBody>
                  <a:tcPr marT="225" marB="225" marR="225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1-1. 개요 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3-4. 기술준비도(TRL) 목표 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5" marB="225" marR="225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pg.7-9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pg.66-67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5" marB="225" marR="225" marL="2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09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연구시설 · 장비구축 계획의 타당성</a:t>
                      </a:r>
                      <a:endParaRPr sz="1400" u="none" cap="none" strike="noStrike"/>
                    </a:p>
                  </a:txBody>
                  <a:tcPr marT="225" marB="225" marR="225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3-5. 연구시설·장비 구축 ·운영계획</a:t>
                      </a:r>
                      <a:b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3-6. 연구개발비 사용에 관한 계획 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5" marB="225" marR="225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pg.68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pg.69-73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5" marB="225" marR="225" marL="2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09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기술성 및 연구개발 수행능력</a:t>
                      </a:r>
                      <a:endParaRPr sz="1400" u="none" cap="none" strike="noStrike"/>
                    </a:p>
                  </a:txBody>
                  <a:tcPr marT="225" marB="225" marR="225" marL="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6E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연구개발 목표의 도전성/혁신성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5" marB="225" marR="225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2-1. 연구개발 목표의 도전성/혁신성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5" marB="225" marR="225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pg.14-22</a:t>
                      </a:r>
                      <a:endParaRPr sz="1400" u="none" cap="none" strike="noStrike"/>
                    </a:p>
                  </a:txBody>
                  <a:tcPr marT="225" marB="225" marR="225" marL="2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09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추진체계 적정성 및 연구개발방법 창의성</a:t>
                      </a:r>
                      <a:endParaRPr sz="1400" u="none" cap="none" strike="noStrike"/>
                    </a:p>
                  </a:txBody>
                  <a:tcPr marT="225" marB="225" marR="225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2-2. 추진체계 적정성 및 연구 개발 방법 창의성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5" marB="225" marR="225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pg.23-42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5" marB="225" marR="225" marL="2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09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연구책임자/연구팀의 연구개발 역량</a:t>
                      </a:r>
                      <a:endParaRPr sz="1400" u="none" cap="none" strike="noStrike"/>
                    </a:p>
                  </a:txBody>
                  <a:tcPr marT="225" marB="225" marR="225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2-3. 연구 책임자/연구팀 연구 개발역량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5" marB="225" marR="225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pg.43-54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5" marB="225" marR="225" marL="2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09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경제성 및 사업화 가능성</a:t>
                      </a:r>
                      <a:endParaRPr sz="1400" u="none" cap="none" strike="noStrike"/>
                    </a:p>
                  </a:txBody>
                  <a:tcPr marT="225" marB="225" marR="225" marL="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6E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사업화 및 시장진입 가능성</a:t>
                      </a:r>
                      <a:endParaRPr sz="1400" u="none" cap="none" strike="noStrike"/>
                    </a:p>
                  </a:txBody>
                  <a:tcPr marT="225" marB="225" marR="225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3-1. 활용방안 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3-2. 사업화 계획 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5" marB="225" marR="225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pg.56-57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pg.58-59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5" marB="225" marR="225" marL="2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09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학술적 · 기술적 · 경제적 · 지역적 파급효과</a:t>
                      </a:r>
                      <a:endParaRPr sz="1400" u="none" cap="none" strike="noStrike"/>
                    </a:p>
                  </a:txBody>
                  <a:tcPr marT="225" marB="225" marR="225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3-3. 파급효과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5" marB="225" marR="225" marL="108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pg.60-65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25" marB="225" marR="225" marL="2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0" y="-29770"/>
            <a:ext cx="9906000" cy="793342"/>
          </a:xfrm>
          <a:prstGeom prst="rect">
            <a:avLst/>
          </a:prstGeom>
          <a:gradFill>
            <a:gsLst>
              <a:gs pos="0">
                <a:srgbClr val="014095"/>
              </a:gs>
              <a:gs pos="100000">
                <a:srgbClr val="0071C3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3"/>
          <p:cNvGrpSpPr/>
          <p:nvPr/>
        </p:nvGrpSpPr>
        <p:grpSpPr>
          <a:xfrm>
            <a:off x="952584" y="96379"/>
            <a:ext cx="7941672" cy="587246"/>
            <a:chOff x="1830288" y="868185"/>
            <a:chExt cx="6229350" cy="498421"/>
          </a:xfrm>
        </p:grpSpPr>
        <p:sp>
          <p:nvSpPr>
            <p:cNvPr id="106" name="Google Shape;106;p3"/>
            <p:cNvSpPr/>
            <p:nvPr/>
          </p:nvSpPr>
          <p:spPr>
            <a:xfrm>
              <a:off x="3280022" y="934746"/>
              <a:ext cx="3376306" cy="391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ko-KR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제안 내용의 차별화 요소 – 성과 목표</a:t>
              </a:r>
              <a:endPara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7" name="Google Shape;107;p3"/>
            <p:cNvCxnSpPr/>
            <p:nvPr/>
          </p:nvCxnSpPr>
          <p:spPr>
            <a:xfrm>
              <a:off x="1836638" y="868185"/>
              <a:ext cx="6223000" cy="1905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8" name="Google Shape;108;p3"/>
            <p:cNvCxnSpPr/>
            <p:nvPr/>
          </p:nvCxnSpPr>
          <p:spPr>
            <a:xfrm>
              <a:off x="1830288" y="1366606"/>
              <a:ext cx="622935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aphicFrame>
        <p:nvGraphicFramePr>
          <p:cNvPr id="109" name="Google Shape;109;p3"/>
          <p:cNvGraphicFramePr/>
          <p:nvPr/>
        </p:nvGraphicFramePr>
        <p:xfrm>
          <a:off x="485963" y="879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{48FDC05E-379E-4F7F-B2B9-D55E55C8228D}</a:tableStyleId>
              </a:tblPr>
              <a:tblGrid>
                <a:gridCol w="1458950"/>
                <a:gridCol w="2525475"/>
                <a:gridCol w="1843325"/>
                <a:gridCol w="1553150"/>
                <a:gridCol w="1553150"/>
              </a:tblGrid>
              <a:tr h="2632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성과 구분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세부 성과지표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목표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목표 일정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hMerge="1"/>
              </a:tr>
              <a:tr h="263275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1차년도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2차년도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</a:tr>
              <a:tr h="283075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기술 성과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식별 정확도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28016" lvl="0" marL="128016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95% 이상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95% 이상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0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영상 일치 여부 확률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 Score 95% 이상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 Score 95% 이상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0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텍스트 판단 파이프라인 속도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페이지당 3초 이내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페이지당 3초 이내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0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이미지 판단 파이프라인 속도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페이지당 3초 이내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페이지당 3초 이내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075">
                <a:tc row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사업화 성과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서비스 실증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2개 기업 이상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2개 기업 이상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0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정부지원사업 연계 납품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0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박람회 참가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0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언론 홍보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0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고용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10명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3명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7명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0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매출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5억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5억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075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협력 및 인식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MOU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0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논문 투고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0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분석 보고서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0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데이터 활용 공모전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0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비즈니스 네트워킹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글로벌 OTT 포럼 주최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075">
                <a:tc vMerge="1"/>
                <a:tc>
                  <a:txBody>
                    <a:bodyPr/>
                    <a:lstStyle/>
                    <a:p>
                      <a:pPr indent="-128016" lvl="0" marL="128016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미디어 저작권 포럼 개최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28016" lvl="0" marL="128016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28016" lvl="0" marL="128016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075">
                <a:tc vMerge="1"/>
                <a:tc>
                  <a:txBody>
                    <a:bodyPr/>
                    <a:lstStyle/>
                    <a:p>
                      <a:pPr indent="-128016" lvl="0" marL="128016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국제 미디어 저작권 세미나 개최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28016" lvl="0" marL="128016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28016" lvl="0" marL="128016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28016" lvl="0" marL="128016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075">
                <a:tc>
                  <a:txBody>
                    <a:bodyPr/>
                    <a:lstStyle/>
                    <a:p>
                      <a:pPr indent="-128016" lvl="0" marL="128016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지적재산권(IP) 관리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28016" lvl="0" marL="128016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특허 출원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28016" lvl="0" marL="128016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28016" lvl="0" marL="128016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28016" lvl="0" marL="128016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2건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075">
                <a:tc>
                  <a:txBody>
                    <a:bodyPr/>
                    <a:lstStyle/>
                    <a:p>
                      <a:pPr indent="-128016" lvl="0" marL="128016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실증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28016" lvl="0" marL="128016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만족도 설문조사</a:t>
                      </a:r>
                      <a:endParaRPr sz="1400" u="none" cap="none" strike="noStrike"/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28016" lvl="0" marL="128016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4.0점 이상(5점 만점)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28016" lvl="0" marL="128016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28016" lvl="0" marL="128016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4.0점 이상(5점 만점)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0" y="676725"/>
            <a:ext cx="9906000" cy="61743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0" y="-29770"/>
            <a:ext cx="9906000" cy="793342"/>
          </a:xfrm>
          <a:prstGeom prst="rect">
            <a:avLst/>
          </a:prstGeom>
          <a:gradFill>
            <a:gsLst>
              <a:gs pos="0">
                <a:srgbClr val="014095"/>
              </a:gs>
              <a:gs pos="100000">
                <a:srgbClr val="0071C3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p4"/>
          <p:cNvGrpSpPr/>
          <p:nvPr/>
        </p:nvGrpSpPr>
        <p:grpSpPr>
          <a:xfrm>
            <a:off x="952583" y="96379"/>
            <a:ext cx="7941670" cy="587246"/>
            <a:chOff x="1830288" y="868185"/>
            <a:chExt cx="6229350" cy="498421"/>
          </a:xfrm>
        </p:grpSpPr>
        <p:sp>
          <p:nvSpPr>
            <p:cNvPr id="118" name="Google Shape;118;p4"/>
            <p:cNvSpPr/>
            <p:nvPr/>
          </p:nvSpPr>
          <p:spPr>
            <a:xfrm>
              <a:off x="4463210" y="934746"/>
              <a:ext cx="1009925" cy="391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ko-KR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사업 개요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9" name="Google Shape;119;p4"/>
            <p:cNvCxnSpPr/>
            <p:nvPr/>
          </p:nvCxnSpPr>
          <p:spPr>
            <a:xfrm>
              <a:off x="1836638" y="868185"/>
              <a:ext cx="6223000" cy="1905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0" name="Google Shape;120;p4"/>
            <p:cNvCxnSpPr/>
            <p:nvPr/>
          </p:nvCxnSpPr>
          <p:spPr>
            <a:xfrm>
              <a:off x="1830288" y="1366606"/>
              <a:ext cx="622935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0169" y="1036652"/>
            <a:ext cx="7465662" cy="553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5"/>
          <p:cNvGrpSpPr/>
          <p:nvPr/>
        </p:nvGrpSpPr>
        <p:grpSpPr>
          <a:xfrm>
            <a:off x="452999" y="2299138"/>
            <a:ext cx="2733993" cy="4070531"/>
            <a:chOff x="452999" y="2426138"/>
            <a:chExt cx="2733993" cy="4070531"/>
          </a:xfrm>
        </p:grpSpPr>
        <p:sp>
          <p:nvSpPr>
            <p:cNvPr id="128" name="Google Shape;128;p5"/>
            <p:cNvSpPr/>
            <p:nvPr/>
          </p:nvSpPr>
          <p:spPr>
            <a:xfrm>
              <a:off x="459664" y="2426804"/>
              <a:ext cx="2707436" cy="4069865"/>
            </a:xfrm>
            <a:prstGeom prst="roundRect">
              <a:avLst>
                <a:gd fmla="val 4241" name="adj"/>
              </a:avLst>
            </a:prstGeom>
            <a:solidFill>
              <a:schemeClr val="lt1"/>
            </a:solidFill>
            <a:ln cap="flat" cmpd="sng" w="95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9" name="Google Shape;129;p5"/>
            <p:cNvCxnSpPr/>
            <p:nvPr/>
          </p:nvCxnSpPr>
          <p:spPr>
            <a:xfrm>
              <a:off x="461677" y="5487645"/>
              <a:ext cx="2696567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  <p:sp>
          <p:nvSpPr>
            <p:cNvPr id="130" name="Google Shape;130;p5"/>
            <p:cNvSpPr/>
            <p:nvPr/>
          </p:nvSpPr>
          <p:spPr>
            <a:xfrm>
              <a:off x="452999" y="2563451"/>
              <a:ext cx="2707436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ts val="1600"/>
                <a:buFont typeface="Arial"/>
                <a:buNone/>
              </a:pPr>
              <a:r>
                <a:rPr b="0" i="0" lang="ko-KR" sz="1600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추진계획 타당성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532451" y="3156842"/>
              <a:ext cx="2553979" cy="22593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108000" lvl="0" marL="10800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400"/>
                <a:buFont typeface="Noto Sans Symbols"/>
                <a:buChar char="▪"/>
              </a:pPr>
              <a:r>
                <a:rPr b="0" i="0" lang="ko-KR" sz="14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개요</a:t>
              </a:r>
              <a:endParaRPr b="0" i="0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08000" lvl="0" marL="108000" marR="0" rtl="0" algn="l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7F7F7F"/>
                </a:buClr>
                <a:buSzPts val="1400"/>
                <a:buFont typeface="Noto Sans Symbols"/>
                <a:buChar char="▪"/>
              </a:pPr>
              <a:r>
                <a:rPr b="0" i="0" lang="ko-KR" sz="14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국내외 현황</a:t>
              </a:r>
              <a:endParaRPr b="0" i="0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2" name="Google Shape;132;p5"/>
            <p:cNvGrpSpPr/>
            <p:nvPr/>
          </p:nvGrpSpPr>
          <p:grpSpPr>
            <a:xfrm>
              <a:off x="479556" y="5551199"/>
              <a:ext cx="2707436" cy="874012"/>
              <a:chOff x="272818" y="4609421"/>
              <a:chExt cx="1888120" cy="874012"/>
            </a:xfrm>
          </p:grpSpPr>
          <p:sp>
            <p:nvSpPr>
              <p:cNvPr id="133" name="Google Shape;133;p5"/>
              <p:cNvSpPr/>
              <p:nvPr/>
            </p:nvSpPr>
            <p:spPr>
              <a:xfrm rot="10800000">
                <a:off x="309479" y="4617326"/>
                <a:ext cx="1781100" cy="866107"/>
              </a:xfrm>
              <a:prstGeom prst="round2SameRect">
                <a:avLst>
                  <a:gd fmla="val 12698" name="adj1"/>
                  <a:gd fmla="val 0" name="adj2"/>
                </a:avLst>
              </a:pr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1" i="0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272818" y="4609421"/>
                <a:ext cx="1888120" cy="8740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206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002060"/>
                    </a:solidFill>
                    <a:latin typeface="Arial"/>
                    <a:ea typeface="Arial"/>
                    <a:cs typeface="Arial"/>
                    <a:sym typeface="Arial"/>
                  </a:rPr>
                  <a:t>사전준비성/추진계획 구체성</a:t>
                </a:r>
                <a:endParaRPr b="0" i="0" sz="12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206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002060"/>
                    </a:solidFill>
                    <a:latin typeface="Arial"/>
                    <a:ea typeface="Arial"/>
                    <a:cs typeface="Arial"/>
                    <a:sym typeface="Arial"/>
                  </a:rPr>
                  <a:t>연구개발 목표 명확성</a:t>
                </a:r>
                <a:endParaRPr b="0" i="0" sz="12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" name="Google Shape;135;p5"/>
            <p:cNvSpPr/>
            <p:nvPr/>
          </p:nvSpPr>
          <p:spPr>
            <a:xfrm flipH="1" rot="10800000">
              <a:off x="459832" y="2426138"/>
              <a:ext cx="414354" cy="365500"/>
            </a:xfrm>
            <a:prstGeom prst="rtTriangle">
              <a:avLst/>
            </a:prstGeom>
            <a:solidFill>
              <a:srgbClr val="1F38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t/>
              </a:r>
              <a:endParaRPr b="1" i="0" sz="20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 txBox="1"/>
            <p:nvPr/>
          </p:nvSpPr>
          <p:spPr>
            <a:xfrm>
              <a:off x="485645" y="2447480"/>
              <a:ext cx="246132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1" i="0" lang="ko-KR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Ⅰ</a:t>
              </a:r>
              <a:endPara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7" name="Google Shape;137;p5"/>
            <p:cNvCxnSpPr/>
            <p:nvPr/>
          </p:nvCxnSpPr>
          <p:spPr>
            <a:xfrm>
              <a:off x="461677" y="3039611"/>
              <a:ext cx="2696567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138" name="Google Shape;138;p5"/>
          <p:cNvGrpSpPr/>
          <p:nvPr/>
        </p:nvGrpSpPr>
        <p:grpSpPr>
          <a:xfrm>
            <a:off x="3589336" y="2299138"/>
            <a:ext cx="2727328" cy="4070531"/>
            <a:chOff x="3589336" y="2426138"/>
            <a:chExt cx="2727328" cy="4070531"/>
          </a:xfrm>
        </p:grpSpPr>
        <p:sp>
          <p:nvSpPr>
            <p:cNvPr id="139" name="Google Shape;139;p5"/>
            <p:cNvSpPr/>
            <p:nvPr/>
          </p:nvSpPr>
          <p:spPr>
            <a:xfrm>
              <a:off x="3589336" y="2426804"/>
              <a:ext cx="2707436" cy="4069865"/>
            </a:xfrm>
            <a:prstGeom prst="roundRect">
              <a:avLst>
                <a:gd fmla="val 4241" name="adj"/>
              </a:avLst>
            </a:prstGeom>
            <a:solidFill>
              <a:schemeClr val="lt1"/>
            </a:solidFill>
            <a:ln cap="flat" cmpd="sng" w="95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" name="Google Shape;140;p5"/>
            <p:cNvCxnSpPr/>
            <p:nvPr/>
          </p:nvCxnSpPr>
          <p:spPr>
            <a:xfrm>
              <a:off x="3591349" y="5487645"/>
              <a:ext cx="2696567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  <p:sp>
          <p:nvSpPr>
            <p:cNvPr id="141" name="Google Shape;141;p5"/>
            <p:cNvSpPr/>
            <p:nvPr/>
          </p:nvSpPr>
          <p:spPr>
            <a:xfrm>
              <a:off x="3595923" y="2461205"/>
              <a:ext cx="2707436" cy="593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ko-KR" sz="1600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기술성 및 연구개발 수행능력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3662123" y="3156842"/>
              <a:ext cx="2553979" cy="22593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108000" lvl="0" marL="10800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400"/>
                <a:buFont typeface="Noto Sans Symbols"/>
                <a:buChar char="▪"/>
              </a:pPr>
              <a:r>
                <a:rPr b="0" i="0" lang="ko-KR" sz="14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연구개발 목표의 도전성/혁신성</a:t>
              </a:r>
              <a:endParaRPr b="0" i="0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08000" lvl="0" marL="108000" marR="0" rtl="0" algn="l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7F7F7F"/>
                </a:buClr>
                <a:buSzPts val="1400"/>
                <a:buFont typeface="Noto Sans Symbols"/>
                <a:buChar char="▪"/>
              </a:pPr>
              <a:r>
                <a:rPr b="0" i="0" lang="ko-KR" sz="14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추진체계 적정성 및 연구 개발 방법 창의성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08000" lvl="0" marL="108000" marR="0" rtl="0" algn="l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7F7F7F"/>
                </a:buClr>
                <a:buSzPts val="1400"/>
                <a:buFont typeface="Noto Sans Symbols"/>
                <a:buChar char="▪"/>
              </a:pPr>
              <a:r>
                <a:rPr b="0" i="0" lang="ko-KR" sz="14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연구 책임자/연구팀 연구 개발역량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" name="Google Shape;143;p5"/>
            <p:cNvGrpSpPr/>
            <p:nvPr/>
          </p:nvGrpSpPr>
          <p:grpSpPr>
            <a:xfrm>
              <a:off x="3609228" y="5534394"/>
              <a:ext cx="2707436" cy="890818"/>
              <a:chOff x="272818" y="4592616"/>
              <a:chExt cx="1888120" cy="890818"/>
            </a:xfrm>
          </p:grpSpPr>
          <p:sp>
            <p:nvSpPr>
              <p:cNvPr id="144" name="Google Shape;144;p5"/>
              <p:cNvSpPr/>
              <p:nvPr/>
            </p:nvSpPr>
            <p:spPr>
              <a:xfrm rot="10800000">
                <a:off x="309479" y="4617326"/>
                <a:ext cx="1781100" cy="866107"/>
              </a:xfrm>
              <a:prstGeom prst="round2SameRect">
                <a:avLst>
                  <a:gd fmla="val 12698" name="adj1"/>
                  <a:gd fmla="val 0" name="adj2"/>
                </a:avLst>
              </a:pr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1" i="0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272818" y="4592616"/>
                <a:ext cx="1888120" cy="8908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002060"/>
                    </a:solidFill>
                    <a:latin typeface="Arial"/>
                    <a:ea typeface="Arial"/>
                    <a:cs typeface="Arial"/>
                    <a:sym typeface="Arial"/>
                  </a:rPr>
                  <a:t>연구개발 목표의 도전성/혁신성</a:t>
                </a:r>
                <a:endParaRPr b="0" i="0" sz="12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002060"/>
                    </a:solidFill>
                    <a:latin typeface="Arial"/>
                    <a:ea typeface="Arial"/>
                    <a:cs typeface="Arial"/>
                    <a:sym typeface="Arial"/>
                  </a:rPr>
                  <a:t>추진체계 적정성 및 연구개발방법 창의성</a:t>
                </a:r>
                <a:endParaRPr b="0" i="0" sz="12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002060"/>
                    </a:solidFill>
                    <a:latin typeface="Arial"/>
                    <a:ea typeface="Arial"/>
                    <a:cs typeface="Arial"/>
                    <a:sym typeface="Arial"/>
                  </a:rPr>
                  <a:t>연구책임자/연구팀의 연구개발 역량</a:t>
                </a:r>
                <a:endParaRPr b="0" i="0" sz="12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6" name="Google Shape;146;p5"/>
            <p:cNvSpPr/>
            <p:nvPr/>
          </p:nvSpPr>
          <p:spPr>
            <a:xfrm flipH="1" rot="10800000">
              <a:off x="3589504" y="2426138"/>
              <a:ext cx="414354" cy="365500"/>
            </a:xfrm>
            <a:prstGeom prst="rtTriangle">
              <a:avLst/>
            </a:prstGeom>
            <a:solidFill>
              <a:srgbClr val="1F38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t/>
              </a:r>
              <a:endParaRPr b="1" i="0" sz="20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5"/>
            <p:cNvSpPr txBox="1"/>
            <p:nvPr/>
          </p:nvSpPr>
          <p:spPr>
            <a:xfrm>
              <a:off x="3615317" y="2447480"/>
              <a:ext cx="246132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1" i="0" lang="ko-KR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Ⅱ</a:t>
              </a:r>
              <a:endPara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8" name="Google Shape;148;p5"/>
            <p:cNvCxnSpPr/>
            <p:nvPr/>
          </p:nvCxnSpPr>
          <p:spPr>
            <a:xfrm>
              <a:off x="3591349" y="3039611"/>
              <a:ext cx="2696567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149" name="Google Shape;149;p5"/>
          <p:cNvGrpSpPr/>
          <p:nvPr/>
        </p:nvGrpSpPr>
        <p:grpSpPr>
          <a:xfrm>
            <a:off x="6719008" y="2299138"/>
            <a:ext cx="2730661" cy="4070531"/>
            <a:chOff x="6719008" y="2426138"/>
            <a:chExt cx="2730661" cy="4070531"/>
          </a:xfrm>
        </p:grpSpPr>
        <p:sp>
          <p:nvSpPr>
            <p:cNvPr id="150" name="Google Shape;150;p5"/>
            <p:cNvSpPr/>
            <p:nvPr/>
          </p:nvSpPr>
          <p:spPr>
            <a:xfrm>
              <a:off x="6719008" y="2426804"/>
              <a:ext cx="2707436" cy="4069865"/>
            </a:xfrm>
            <a:prstGeom prst="roundRect">
              <a:avLst>
                <a:gd fmla="val 4241" name="adj"/>
              </a:avLst>
            </a:prstGeom>
            <a:solidFill>
              <a:schemeClr val="lt1"/>
            </a:solidFill>
            <a:ln cap="flat" cmpd="sng" w="95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1" name="Google Shape;151;p5"/>
            <p:cNvCxnSpPr/>
            <p:nvPr/>
          </p:nvCxnSpPr>
          <p:spPr>
            <a:xfrm>
              <a:off x="6724354" y="5487645"/>
              <a:ext cx="2696567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  <p:sp>
          <p:nvSpPr>
            <p:cNvPr id="152" name="Google Shape;152;p5"/>
            <p:cNvSpPr/>
            <p:nvPr/>
          </p:nvSpPr>
          <p:spPr>
            <a:xfrm>
              <a:off x="6719008" y="2563451"/>
              <a:ext cx="2707436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ko-KR" sz="1600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경제성 및 사업화 가능성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6795128" y="3156842"/>
              <a:ext cx="2553979" cy="22593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108000" lvl="0" marL="10800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400"/>
                <a:buFont typeface="Noto Sans Symbols"/>
                <a:buChar char="▪"/>
              </a:pPr>
              <a:r>
                <a:rPr b="0" i="0" lang="ko-KR" sz="14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 활용방안</a:t>
              </a:r>
              <a:endParaRPr b="0" i="0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08000" lvl="0" marL="108000" marR="0" rtl="0" algn="l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7F7F7F"/>
                </a:buClr>
                <a:buSzPts val="1400"/>
                <a:buFont typeface="Noto Sans Symbols"/>
                <a:buChar char="▪"/>
              </a:pPr>
              <a:r>
                <a:rPr b="0" i="0" lang="ko-KR" sz="14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 사업화 계획</a:t>
              </a:r>
              <a:endParaRPr b="0" i="0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08000" lvl="0" marL="108000" marR="0" rtl="0" algn="l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7F7F7F"/>
                </a:buClr>
                <a:buSzPts val="1400"/>
                <a:buFont typeface="Noto Sans Symbols"/>
                <a:buChar char="▪"/>
              </a:pPr>
              <a:r>
                <a:rPr b="0" i="0" lang="ko-KR" sz="14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 파급효과</a:t>
              </a:r>
              <a:endParaRPr b="0" i="0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08000" lvl="0" marL="108000" marR="0" rtl="0" algn="l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7F7F7F"/>
                </a:buClr>
                <a:buSzPts val="1400"/>
                <a:buFont typeface="Noto Sans Symbols"/>
                <a:buChar char="▪"/>
              </a:pPr>
              <a:r>
                <a:rPr b="0" i="0" lang="ko-KR" sz="14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 기술준비도(TRL) 목표</a:t>
              </a:r>
              <a:endParaRPr b="0" i="0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08000" lvl="0" marL="108000" marR="0" rtl="0" algn="l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7F7F7F"/>
                </a:buClr>
                <a:buSzPts val="1400"/>
                <a:buFont typeface="Noto Sans Symbols"/>
                <a:buChar char="▪"/>
              </a:pPr>
              <a:r>
                <a:rPr b="0" i="0" lang="ko-KR" sz="14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 연구시설 장비 구축 운영계획</a:t>
              </a:r>
              <a:endParaRPr b="0" i="0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08000" lvl="0" marL="108000" marR="0" rtl="0" algn="l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7F7F7F"/>
                </a:buClr>
                <a:buSzPts val="1400"/>
                <a:buFont typeface="Noto Sans Symbols"/>
                <a:buChar char="▪"/>
              </a:pPr>
              <a:r>
                <a:rPr b="0" i="0" lang="ko-KR" sz="14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 연구개발비 사용에 관한 계획</a:t>
              </a:r>
              <a:endParaRPr b="0" i="0" sz="1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4" name="Google Shape;154;p5"/>
            <p:cNvGrpSpPr/>
            <p:nvPr/>
          </p:nvGrpSpPr>
          <p:grpSpPr>
            <a:xfrm>
              <a:off x="6742233" y="5557762"/>
              <a:ext cx="2707436" cy="867450"/>
              <a:chOff x="272818" y="4615984"/>
              <a:chExt cx="1888120" cy="867450"/>
            </a:xfrm>
          </p:grpSpPr>
          <p:sp>
            <p:nvSpPr>
              <p:cNvPr id="155" name="Google Shape;155;p5"/>
              <p:cNvSpPr/>
              <p:nvPr/>
            </p:nvSpPr>
            <p:spPr>
              <a:xfrm rot="10800000">
                <a:off x="309479" y="4617326"/>
                <a:ext cx="1781100" cy="866107"/>
              </a:xfrm>
              <a:prstGeom prst="round2SameRect">
                <a:avLst>
                  <a:gd fmla="val 12698" name="adj1"/>
                  <a:gd fmla="val 0" name="adj2"/>
                </a:avLst>
              </a:pr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1" i="0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272818" y="4615984"/>
                <a:ext cx="1888120" cy="867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002060"/>
                    </a:solidFill>
                    <a:latin typeface="Arial"/>
                    <a:ea typeface="Arial"/>
                    <a:cs typeface="Arial"/>
                    <a:sym typeface="Arial"/>
                  </a:rPr>
                  <a:t>사업화 및 시장진입 가능성</a:t>
                </a:r>
                <a:endParaRPr b="1" i="0" sz="12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002060"/>
                    </a:solidFill>
                    <a:latin typeface="Arial"/>
                    <a:ea typeface="Arial"/>
                    <a:cs typeface="Arial"/>
                    <a:sym typeface="Arial"/>
                  </a:rPr>
                  <a:t>학술적 ·기술적 ·경제적 ·지역적 파급효과</a:t>
                </a:r>
                <a:endParaRPr b="1" i="0" sz="1200" u="none" cap="none" strike="noStrik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002060"/>
                    </a:solidFill>
                    <a:latin typeface="Arial"/>
                    <a:ea typeface="Arial"/>
                    <a:cs typeface="Arial"/>
                    <a:sym typeface="Arial"/>
                  </a:rPr>
                  <a:t>연구시설·장비구축 계획의 타당성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7" name="Google Shape;157;p5"/>
            <p:cNvSpPr/>
            <p:nvPr/>
          </p:nvSpPr>
          <p:spPr>
            <a:xfrm flipH="1" rot="10800000">
              <a:off x="6722509" y="2426138"/>
              <a:ext cx="414354" cy="365500"/>
            </a:xfrm>
            <a:prstGeom prst="rtTriangle">
              <a:avLst/>
            </a:prstGeom>
            <a:solidFill>
              <a:srgbClr val="1F38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t/>
              </a:r>
              <a:endParaRPr b="1" i="0" sz="20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6748322" y="2447480"/>
              <a:ext cx="246132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1" i="0" lang="ko-KR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Ⅲ</a:t>
              </a:r>
              <a:endPara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9" name="Google Shape;159;p5"/>
            <p:cNvCxnSpPr/>
            <p:nvPr/>
          </p:nvCxnSpPr>
          <p:spPr>
            <a:xfrm>
              <a:off x="6724354" y="3039611"/>
              <a:ext cx="2696567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dash"/>
              <a:miter lim="8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/>
          <p:nvPr>
            <p:ph type="title"/>
          </p:nvPr>
        </p:nvSpPr>
        <p:spPr>
          <a:xfrm>
            <a:off x="2850184" y="3327358"/>
            <a:ext cx="3868589" cy="463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ko-KR"/>
              <a:t>추진계획 타당성</a:t>
            </a:r>
            <a:endParaRPr/>
          </a:p>
        </p:txBody>
      </p:sp>
      <p:sp>
        <p:nvSpPr>
          <p:cNvPr id="166" name="Google Shape;166;p6"/>
          <p:cNvSpPr txBox="1"/>
          <p:nvPr>
            <p:ph idx="1" type="body"/>
          </p:nvPr>
        </p:nvSpPr>
        <p:spPr>
          <a:xfrm>
            <a:off x="2892178" y="4025900"/>
            <a:ext cx="6518522" cy="10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0000" lvl="0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개요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0000" lvl="0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국내외 현황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1185738" y="2938764"/>
            <a:ext cx="932948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ko-KR" sz="8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Ⅰ</a:t>
            </a:r>
            <a:endParaRPr b="0" i="0" sz="8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개요</a:t>
            </a:r>
            <a:endParaRPr/>
          </a:p>
        </p:txBody>
      </p:sp>
      <p:sp>
        <p:nvSpPr>
          <p:cNvPr id="174" name="Google Shape;174;p7"/>
          <p:cNvSpPr txBox="1"/>
          <p:nvPr>
            <p:ph idx="1" type="body"/>
          </p:nvPr>
        </p:nvSpPr>
        <p:spPr>
          <a:xfrm>
            <a:off x="2108200" y="901700"/>
            <a:ext cx="568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ko-KR"/>
              <a:t>현황 및 문제점</a:t>
            </a:r>
            <a:endParaRPr/>
          </a:p>
        </p:txBody>
      </p:sp>
      <p:pic>
        <p:nvPicPr>
          <p:cNvPr id="175" name="Google Shape;1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7942" y="1519467"/>
            <a:ext cx="199922" cy="51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/>
          <p:nvPr/>
        </p:nvSpPr>
        <p:spPr>
          <a:xfrm>
            <a:off x="5053544" y="1568386"/>
            <a:ext cx="4661605" cy="324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400"/>
              <a:buFont typeface="Noto Sans Symbols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카카오 등 다양한 기업에서도 적극 대응방안 모색 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57190" y="1568386"/>
            <a:ext cx="4661605" cy="324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400"/>
              <a:buFont typeface="Noto Sans Symbols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국내외 현황, 문제점, 전망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" name="Google Shape;178;p7"/>
          <p:cNvGrpSpPr/>
          <p:nvPr/>
        </p:nvGrpSpPr>
        <p:grpSpPr>
          <a:xfrm>
            <a:off x="5053544" y="5100563"/>
            <a:ext cx="4770978" cy="1236738"/>
            <a:chOff x="283922" y="5100563"/>
            <a:chExt cx="3845777" cy="1236738"/>
          </a:xfrm>
        </p:grpSpPr>
        <p:sp>
          <p:nvSpPr>
            <p:cNvPr id="179" name="Google Shape;179;p7"/>
            <p:cNvSpPr/>
            <p:nvPr/>
          </p:nvSpPr>
          <p:spPr>
            <a:xfrm>
              <a:off x="283922" y="5100563"/>
              <a:ext cx="3757614" cy="1236738"/>
            </a:xfrm>
            <a:prstGeom prst="rect">
              <a:avLst/>
            </a:prstGeom>
            <a:solidFill>
              <a:srgbClr val="FEF7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ko-KR" sz="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언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283922" y="5163919"/>
              <a:ext cx="3845777" cy="1118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-  카카오엔터는 플랫폼사로서 자사 IP에 대한 저작권 보호 의무를 다하기</a:t>
              </a:r>
              <a:endParaRPr b="0" i="0" sz="1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    위해 </a:t>
              </a:r>
              <a:r>
                <a:rPr b="1" i="0" lang="ko-KR" sz="1200" u="sng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2016년부터 자사 작품을 대상으로 침해 대응 조치</a:t>
              </a:r>
              <a:r>
                <a:rPr b="0" i="0" lang="ko-KR" sz="120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를 진행.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-  언어권별(국내, 영어권, 중화권, 인도네시아 등) 불법 유통에 대한 대응</a:t>
              </a:r>
              <a:endParaRPr b="0" i="0" sz="1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    하고 있으나 단속 체계 활성화 이후 </a:t>
              </a:r>
              <a:r>
                <a:rPr b="1" i="0" lang="ko-KR" sz="1200" u="sng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불법 유통 그룹 및 커뮤니티의</a:t>
              </a:r>
              <a:endParaRPr b="1" i="0" sz="1200" u="sng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    </a:t>
              </a:r>
              <a:r>
                <a:rPr b="1" i="0" lang="ko-KR" sz="1200" u="sng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폐쇄성이 더 고도화·상습화</a:t>
              </a:r>
              <a:r>
                <a:rPr b="0" i="0" lang="ko-KR" sz="120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되고 있어 난항을 겪고 있음.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" name="Google Shape;181;p7"/>
          <p:cNvGrpSpPr/>
          <p:nvPr/>
        </p:nvGrpSpPr>
        <p:grpSpPr>
          <a:xfrm>
            <a:off x="215980" y="2112485"/>
            <a:ext cx="4593762" cy="1317206"/>
            <a:chOff x="215980" y="2112485"/>
            <a:chExt cx="4593762" cy="1172183"/>
          </a:xfrm>
        </p:grpSpPr>
        <p:grpSp>
          <p:nvGrpSpPr>
            <p:cNvPr id="182" name="Google Shape;182;p7"/>
            <p:cNvGrpSpPr/>
            <p:nvPr/>
          </p:nvGrpSpPr>
          <p:grpSpPr>
            <a:xfrm>
              <a:off x="2033489" y="2117862"/>
              <a:ext cx="2776253" cy="1166806"/>
              <a:chOff x="283922" y="5100563"/>
              <a:chExt cx="3792310" cy="1236738"/>
            </a:xfrm>
          </p:grpSpPr>
          <p:sp>
            <p:nvSpPr>
              <p:cNvPr id="183" name="Google Shape;183;p7"/>
              <p:cNvSpPr/>
              <p:nvPr/>
            </p:nvSpPr>
            <p:spPr>
              <a:xfrm>
                <a:off x="283922" y="5100563"/>
                <a:ext cx="3757614" cy="1236738"/>
              </a:xfrm>
              <a:prstGeom prst="rect">
                <a:avLst/>
              </a:prstGeom>
              <a:solidFill>
                <a:srgbClr val="E7F4F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7"/>
              <p:cNvSpPr/>
              <p:nvPr/>
            </p:nvSpPr>
            <p:spPr>
              <a:xfrm>
                <a:off x="283922" y="5126983"/>
                <a:ext cx="3792310" cy="11183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0267EC"/>
                    </a:solidFill>
                    <a:latin typeface="Arial"/>
                    <a:ea typeface="Arial"/>
                    <a:cs typeface="Arial"/>
                    <a:sym typeface="Arial"/>
                  </a:rPr>
                  <a:t>[ OTT 산업의 성장 ]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1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50"/>
                  <a:buFont typeface="Arial"/>
                  <a:buNone/>
                </a:pPr>
                <a:r>
                  <a:rPr b="0" i="0" lang="ko-KR" sz="11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세계 OTT(Over the Top) 시장 규모는 2023년부터 2027년까지 </a:t>
                </a:r>
                <a:r>
                  <a:rPr b="1" i="0" lang="ko-KR" sz="1150" u="sng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연평균 복합 성장률 (CAGR) 24.85%</a:t>
                </a:r>
                <a:r>
                  <a:rPr b="0" i="0" lang="ko-KR" sz="11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로 성장하여 4,391억 </a:t>
                </a:r>
                <a:endParaRPr b="0" i="0" sz="11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50"/>
                  <a:buFont typeface="Arial"/>
                  <a:buNone/>
                </a:pPr>
                <a:r>
                  <a:rPr b="0" i="0" lang="ko-KR" sz="11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2천만 달러가 될 것으로 전망됨.</a:t>
                </a:r>
                <a:endParaRPr b="0" i="0" sz="115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텍스트, 스크린샷이(가) 표시된 사진&#10;&#10;자동 생성된 설명" id="185" name="Google Shape;185;p7"/>
            <p:cNvPicPr preferRelativeResize="0"/>
            <p:nvPr/>
          </p:nvPicPr>
          <p:blipFill rotWithShape="1">
            <a:blip r:embed="rId5">
              <a:alphaModFix/>
            </a:blip>
            <a:srcRect b="55971" l="4456" r="5040" t="2779"/>
            <a:stretch/>
          </p:blipFill>
          <p:spPr>
            <a:xfrm>
              <a:off x="215980" y="2112485"/>
              <a:ext cx="1645514" cy="11590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6" name="Google Shape;186;p7"/>
          <p:cNvGrpSpPr/>
          <p:nvPr/>
        </p:nvGrpSpPr>
        <p:grpSpPr>
          <a:xfrm>
            <a:off x="215980" y="3575906"/>
            <a:ext cx="4568361" cy="1319281"/>
            <a:chOff x="215980" y="3523523"/>
            <a:chExt cx="4568361" cy="1174030"/>
          </a:xfrm>
        </p:grpSpPr>
        <p:grpSp>
          <p:nvGrpSpPr>
            <p:cNvPr id="187" name="Google Shape;187;p7"/>
            <p:cNvGrpSpPr/>
            <p:nvPr/>
          </p:nvGrpSpPr>
          <p:grpSpPr>
            <a:xfrm>
              <a:off x="215980" y="3530747"/>
              <a:ext cx="2750853" cy="1166806"/>
              <a:chOff x="283922" y="5100563"/>
              <a:chExt cx="3757614" cy="1236738"/>
            </a:xfrm>
          </p:grpSpPr>
          <p:sp>
            <p:nvSpPr>
              <p:cNvPr id="188" name="Google Shape;188;p7"/>
              <p:cNvSpPr/>
              <p:nvPr/>
            </p:nvSpPr>
            <p:spPr>
              <a:xfrm>
                <a:off x="283922" y="5100563"/>
                <a:ext cx="3757614" cy="1236738"/>
              </a:xfrm>
              <a:prstGeom prst="rect">
                <a:avLst/>
              </a:prstGeom>
              <a:solidFill>
                <a:srgbClr val="E7F4F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7"/>
              <p:cNvSpPr/>
              <p:nvPr/>
            </p:nvSpPr>
            <p:spPr>
              <a:xfrm>
                <a:off x="283922" y="5126983"/>
                <a:ext cx="3757614" cy="11183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0267EC"/>
                    </a:solidFill>
                    <a:latin typeface="Arial"/>
                    <a:ea typeface="Arial"/>
                    <a:cs typeface="Arial"/>
                    <a:sym typeface="Arial"/>
                  </a:rPr>
                  <a:t>[ 불법 유통 피해 확대 ]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1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시장 규모가 확대됨에 따라 미디어 콘텐츠 </a:t>
                </a:r>
                <a:r>
                  <a:rPr b="1" i="0" lang="ko-KR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불법 유통 문제</a:t>
                </a:r>
                <a:r>
                  <a:rPr b="0" i="0" lang="ko-KR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도 증가하고 있으며,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sng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문화산업에 치명적인 경제 피해</a:t>
                </a:r>
                <a:r>
                  <a:rPr b="0" i="0" lang="ko-KR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가 발생함.</a:t>
                </a:r>
                <a:endParaRPr b="0" i="0" sz="120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텍스트, 만화 영화, 그래픽 디자인, 포유류이(가) 표시된 사진&#10;&#10;자동 생성된 설명" id="190" name="Google Shape;190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93754" y="3523523"/>
              <a:ext cx="1690587" cy="11740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" name="Google Shape;191;p7"/>
          <p:cNvGrpSpPr/>
          <p:nvPr/>
        </p:nvGrpSpPr>
        <p:grpSpPr>
          <a:xfrm>
            <a:off x="215979" y="5041402"/>
            <a:ext cx="4568363" cy="1317082"/>
            <a:chOff x="215979" y="4965202"/>
            <a:chExt cx="4568363" cy="1172073"/>
          </a:xfrm>
        </p:grpSpPr>
        <p:grpSp>
          <p:nvGrpSpPr>
            <p:cNvPr id="192" name="Google Shape;192;p7"/>
            <p:cNvGrpSpPr/>
            <p:nvPr/>
          </p:nvGrpSpPr>
          <p:grpSpPr>
            <a:xfrm>
              <a:off x="2033489" y="4965202"/>
              <a:ext cx="2750853" cy="1166806"/>
              <a:chOff x="283922" y="5100563"/>
              <a:chExt cx="3757614" cy="1236738"/>
            </a:xfrm>
          </p:grpSpPr>
          <p:sp>
            <p:nvSpPr>
              <p:cNvPr id="193" name="Google Shape;193;p7"/>
              <p:cNvSpPr/>
              <p:nvPr/>
            </p:nvSpPr>
            <p:spPr>
              <a:xfrm>
                <a:off x="283922" y="5100563"/>
                <a:ext cx="3757614" cy="1236738"/>
              </a:xfrm>
              <a:prstGeom prst="rect">
                <a:avLst/>
              </a:prstGeom>
              <a:solidFill>
                <a:srgbClr val="E7F4F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7"/>
              <p:cNvSpPr/>
              <p:nvPr/>
            </p:nvSpPr>
            <p:spPr>
              <a:xfrm>
                <a:off x="283922" y="5126983"/>
                <a:ext cx="3757614" cy="11183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0267EC"/>
                    </a:solidFill>
                    <a:latin typeface="Arial"/>
                    <a:ea typeface="Arial"/>
                    <a:cs typeface="Arial"/>
                    <a:sym typeface="Arial"/>
                  </a:rPr>
                  <a:t>[ 기존 콘텐츠 모니터링의 한계 ]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1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크롤링을 이용한 기술(4,000여건 이상의 특허)이 개발되고 있으나 불법 서비스</a:t>
                </a:r>
                <a:endParaRPr b="0" i="0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또한 </a:t>
                </a:r>
                <a:r>
                  <a:rPr b="1" i="0" lang="ko-KR" sz="1200" u="sng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크롤링 방해와 차단 우회(전용앱)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sng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등을 도입하여 피해가 지속</a:t>
                </a:r>
                <a:r>
                  <a:rPr b="0" i="0" lang="ko-KR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되고 있음.</a:t>
                </a:r>
                <a:endParaRPr b="0" i="0" sz="120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텍스트, 스크린샷, 노트북, 컴퓨터이(가) 표시된 사진&#10;&#10;자동 생성된 설명" id="195" name="Google Shape;195;p7"/>
            <p:cNvPicPr preferRelativeResize="0"/>
            <p:nvPr/>
          </p:nvPicPr>
          <p:blipFill rotWithShape="1">
            <a:blip r:embed="rId7">
              <a:alphaModFix/>
            </a:blip>
            <a:srcRect b="15818" l="0" r="0" t="0"/>
            <a:stretch/>
          </p:blipFill>
          <p:spPr>
            <a:xfrm>
              <a:off x="215979" y="4970469"/>
              <a:ext cx="1651986" cy="116680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6" name="Google Shape;19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10693" y="2041769"/>
            <a:ext cx="2662779" cy="3005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7" name="Google Shape;197;p7"/>
          <p:cNvGrpSpPr/>
          <p:nvPr/>
        </p:nvGrpSpPr>
        <p:grpSpPr>
          <a:xfrm>
            <a:off x="7801873" y="1996429"/>
            <a:ext cx="1932198" cy="3038601"/>
            <a:chOff x="7883351" y="1996429"/>
            <a:chExt cx="1932198" cy="3038601"/>
          </a:xfrm>
        </p:grpSpPr>
        <p:grpSp>
          <p:nvGrpSpPr>
            <p:cNvPr id="198" name="Google Shape;198;p7"/>
            <p:cNvGrpSpPr/>
            <p:nvPr/>
          </p:nvGrpSpPr>
          <p:grpSpPr>
            <a:xfrm>
              <a:off x="7883351" y="2002438"/>
              <a:ext cx="1932198" cy="3032592"/>
              <a:chOff x="7883350" y="2002438"/>
              <a:chExt cx="2625227" cy="3124546"/>
            </a:xfrm>
          </p:grpSpPr>
          <p:pic>
            <p:nvPicPr>
              <p:cNvPr id="199" name="Google Shape;199;p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7883350" y="2002438"/>
                <a:ext cx="2599520" cy="312454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0" name="Google Shape;200;p7"/>
              <p:cNvSpPr/>
              <p:nvPr/>
            </p:nvSpPr>
            <p:spPr>
              <a:xfrm>
                <a:off x="8376926" y="5043477"/>
                <a:ext cx="2131651" cy="45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b="0" i="0" lang="ko-KR" sz="600" u="none" cap="none" strike="noStrike">
                    <a:solidFill>
                      <a:srgbClr val="262626"/>
                    </a:solidFill>
                    <a:latin typeface="Arial"/>
                    <a:ea typeface="Arial"/>
                    <a:cs typeface="Arial"/>
                    <a:sym typeface="Arial"/>
                  </a:rPr>
                  <a:t>출처 – 카카오엔터테인먼트 IP법무팀</a:t>
                </a:r>
                <a:endParaRPr b="0" i="0" sz="60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1" name="Google Shape;201;p7"/>
            <p:cNvSpPr/>
            <p:nvPr/>
          </p:nvSpPr>
          <p:spPr>
            <a:xfrm>
              <a:off x="7923509" y="2026879"/>
              <a:ext cx="853780" cy="74993"/>
            </a:xfrm>
            <a:prstGeom prst="rect">
              <a:avLst/>
            </a:prstGeom>
            <a:solidFill>
              <a:srgbClr val="F9F0C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8876372" y="2021976"/>
              <a:ext cx="821172" cy="84798"/>
            </a:xfrm>
            <a:prstGeom prst="rect">
              <a:avLst/>
            </a:prstGeom>
            <a:solidFill>
              <a:srgbClr val="F9F0C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7905363" y="3239534"/>
              <a:ext cx="821172" cy="84798"/>
            </a:xfrm>
            <a:prstGeom prst="rect">
              <a:avLst/>
            </a:prstGeom>
            <a:solidFill>
              <a:srgbClr val="F9F0C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8868373" y="3242236"/>
              <a:ext cx="821172" cy="84798"/>
            </a:xfrm>
            <a:prstGeom prst="rect">
              <a:avLst/>
            </a:prstGeom>
            <a:solidFill>
              <a:srgbClr val="F9F0C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8849520" y="3229536"/>
              <a:ext cx="947107" cy="1323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ko-KR" sz="50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불법물 기준 설명</a:t>
              </a:r>
              <a:endParaRPr b="0" i="0" sz="5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7893672" y="3229268"/>
              <a:ext cx="945527" cy="1323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ko-KR" sz="50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합법사이트 이용 장려</a:t>
              </a:r>
              <a:endParaRPr b="0" i="0" sz="5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7893672" y="1996429"/>
              <a:ext cx="945527" cy="1323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ko-KR" sz="50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P.CoK 활동 소개</a:t>
              </a:r>
              <a:endParaRPr b="0" i="0" sz="5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8839200" y="2000580"/>
              <a:ext cx="950902" cy="1323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ko-KR" sz="500" u="none" cap="none" strike="noStrik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P.CoK 불법 제보창구 소개</a:t>
              </a:r>
              <a:endParaRPr b="0" i="0" sz="5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9" name="Google Shape;209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99819" y="2375234"/>
            <a:ext cx="1837596" cy="43079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 txBox="1"/>
          <p:nvPr/>
        </p:nvSpPr>
        <p:spPr>
          <a:xfrm>
            <a:off x="8076977" y="-8798"/>
            <a:ext cx="1670650" cy="25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 1~3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개요</a:t>
            </a:r>
            <a:endParaRPr/>
          </a:p>
        </p:txBody>
      </p:sp>
      <p:sp>
        <p:nvSpPr>
          <p:cNvPr id="217" name="Google Shape;217;p8"/>
          <p:cNvSpPr txBox="1"/>
          <p:nvPr>
            <p:ph idx="1" type="body"/>
          </p:nvPr>
        </p:nvSpPr>
        <p:spPr>
          <a:xfrm>
            <a:off x="2108200" y="901700"/>
            <a:ext cx="568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ko-KR"/>
              <a:t>필요성 및 정부정책과의 연관성</a:t>
            </a:r>
            <a:endParaRPr/>
          </a:p>
        </p:txBody>
      </p:sp>
      <p:pic>
        <p:nvPicPr>
          <p:cNvPr id="218" name="Google Shape;2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4935101" y="1919517"/>
            <a:ext cx="199922" cy="51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/>
          <p:nvPr/>
        </p:nvSpPr>
        <p:spPr>
          <a:xfrm>
            <a:off x="2735923" y="1568386"/>
            <a:ext cx="4661605" cy="324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400"/>
              <a:buFont typeface="Noto Sans Symbols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정부정책과의 연관성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2804219" y="4545853"/>
            <a:ext cx="4661605" cy="324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400"/>
              <a:buFont typeface="Noto Sans Symbols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기대효과(국내 연구개발의 필요성)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345236" y="5220562"/>
            <a:ext cx="4535113" cy="1226518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DEEAF8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76811" y="5048365"/>
            <a:ext cx="4271962" cy="703557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219EBC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219EBC"/>
                </a:solidFill>
                <a:latin typeface="Arial"/>
                <a:ea typeface="Arial"/>
                <a:cs typeface="Arial"/>
                <a:sym typeface="Arial"/>
              </a:rPr>
              <a:t>[미디어 콘텐츠 산업 보호]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rgbClr val="219EB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불법 OTT 서비스 활개는 콘텐츠 제작 및 플랫폼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사업자의 수익성을 악화시키는 주요 요인으로, 기술적 조치 필요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733331" y="5743522"/>
            <a:ext cx="3897314" cy="7035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영화 산업에서 </a:t>
            </a:r>
            <a:r>
              <a:rPr b="1" i="0" lang="ko-KR" sz="105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불법 복제물 이용률(온라인)</a:t>
            </a:r>
            <a:r>
              <a:rPr b="0" i="0" lang="ko-K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은 2020년 44.3%,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2021년 41.0%, 2022년 31.7%로 점차 감소하는 추세이지만 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여전히 </a:t>
            </a:r>
            <a:r>
              <a:rPr b="1" i="0" lang="ko-KR" sz="105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많은 비중을 차지</a:t>
            </a:r>
            <a:r>
              <a:rPr b="0" i="0" lang="ko-K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하고 있음.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025652" y="5220562"/>
            <a:ext cx="4535113" cy="1226518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DEEAF8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157227" y="5048365"/>
            <a:ext cx="4271962" cy="703557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219EBC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219EBC"/>
                </a:solidFill>
                <a:latin typeface="Arial"/>
                <a:ea typeface="Arial"/>
                <a:cs typeface="Arial"/>
                <a:sym typeface="Arial"/>
              </a:rPr>
              <a:t>[고도화된 차단 우회 기술에 대응]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rgbClr val="219EB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차단 우회 등 불법 서비스 진화에 대응하여 </a:t>
            </a:r>
            <a:endParaRPr b="0" i="0" sz="11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지속적인 차단 기술 고도화 필요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368705" y="5743522"/>
            <a:ext cx="3942356" cy="7035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불법 영상 판별에 대한 연구는 종종 진행되어 왔으나, 사이트 자체에 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대한 </a:t>
            </a:r>
            <a:r>
              <a:rPr b="1" i="0" lang="ko-KR" sz="1050" u="sng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불법 여부 판별 및 신고 자동화에 대한 연구는 미진</a:t>
            </a:r>
            <a:r>
              <a:rPr b="0" i="0" lang="ko-K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함.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본 연구개발을 통해 콘텐츠 보호 기술 강화 및 신고 과정 간소화 필요.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1782789" y="1925005"/>
            <a:ext cx="634042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[1] 불법복제물 신속 심의를 위한 내부 규정 개정 및 저작권 침해 신속 대응 체계 마련 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[2] OTT 특화 제작 지원 사업 확대 [3] K-콘텐츠 전략 펀드 구성 등 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-KR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영상 콘텐츠를 </a:t>
            </a:r>
            <a:r>
              <a:rPr b="1" i="0" lang="ko-KR" sz="1200" u="sng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국가전략산업으로 육성</a:t>
            </a:r>
            <a:r>
              <a:rPr b="1" i="0" lang="ko-KR" sz="1200" u="none" cap="none" strike="noStrike">
                <a:solidFill>
                  <a:srgbClr val="004070"/>
                </a:solidFill>
                <a:latin typeface="Arial"/>
                <a:ea typeface="Arial"/>
                <a:cs typeface="Arial"/>
                <a:sym typeface="Arial"/>
              </a:rPr>
              <a:t>하고자 함.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" name="Google Shape;228;p8"/>
          <p:cNvGrpSpPr/>
          <p:nvPr/>
        </p:nvGrpSpPr>
        <p:grpSpPr>
          <a:xfrm>
            <a:off x="806031" y="2669170"/>
            <a:ext cx="8293939" cy="1570270"/>
            <a:chOff x="345236" y="2386537"/>
            <a:chExt cx="9215528" cy="1652878"/>
          </a:xfrm>
        </p:grpSpPr>
        <p:grpSp>
          <p:nvGrpSpPr>
            <p:cNvPr id="229" name="Google Shape;229;p8"/>
            <p:cNvGrpSpPr/>
            <p:nvPr/>
          </p:nvGrpSpPr>
          <p:grpSpPr>
            <a:xfrm>
              <a:off x="2051879" y="2386537"/>
              <a:ext cx="3487892" cy="1648363"/>
              <a:chOff x="3050391" y="2261651"/>
              <a:chExt cx="3487892" cy="1773249"/>
            </a:xfrm>
          </p:grpSpPr>
          <p:sp>
            <p:nvSpPr>
              <p:cNvPr id="230" name="Google Shape;230;p8"/>
              <p:cNvSpPr/>
              <p:nvPr/>
            </p:nvSpPr>
            <p:spPr>
              <a:xfrm>
                <a:off x="3050391" y="2261651"/>
                <a:ext cx="3487892" cy="1773249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D8D8D8"/>
                </a:solidFill>
                <a:prstDash val="solid"/>
                <a:miter lim="8000"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31" name="Google Shape;231;p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248826" y="2372513"/>
                <a:ext cx="3131311" cy="157893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2" name="Google Shape;232;p8"/>
            <p:cNvGrpSpPr/>
            <p:nvPr/>
          </p:nvGrpSpPr>
          <p:grpSpPr>
            <a:xfrm>
              <a:off x="345236" y="2399646"/>
              <a:ext cx="1730531" cy="1481621"/>
              <a:chOff x="951457" y="2246015"/>
              <a:chExt cx="1730531" cy="1481621"/>
            </a:xfrm>
          </p:grpSpPr>
          <p:pic>
            <p:nvPicPr>
              <p:cNvPr id="233" name="Google Shape;233;p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51457" y="2246015"/>
                <a:ext cx="984873" cy="1392464"/>
              </a:xfrm>
              <a:prstGeom prst="rect">
                <a:avLst/>
              </a:prstGeom>
              <a:noFill/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</p:pic>
          <p:pic>
            <p:nvPicPr>
              <p:cNvPr id="234" name="Google Shape;234;p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697115" y="2335172"/>
                <a:ext cx="984873" cy="1392464"/>
              </a:xfrm>
              <a:prstGeom prst="rect">
                <a:avLst/>
              </a:prstGeom>
              <a:noFill/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35" name="Google Shape;235;p8"/>
            <p:cNvGrpSpPr/>
            <p:nvPr/>
          </p:nvGrpSpPr>
          <p:grpSpPr>
            <a:xfrm>
              <a:off x="5642956" y="2391052"/>
              <a:ext cx="3917808" cy="1648363"/>
              <a:chOff x="5642956" y="2391052"/>
              <a:chExt cx="3917808" cy="1662898"/>
            </a:xfrm>
          </p:grpSpPr>
          <p:sp>
            <p:nvSpPr>
              <p:cNvPr id="236" name="Google Shape;236;p8"/>
              <p:cNvSpPr/>
              <p:nvPr/>
            </p:nvSpPr>
            <p:spPr>
              <a:xfrm>
                <a:off x="5642956" y="2391052"/>
                <a:ext cx="3917808" cy="166289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D8D8D8"/>
                </a:solidFill>
                <a:prstDash val="solid"/>
                <a:miter lim="8000"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ko-KR" sz="1100" u="none" cap="none" strike="noStrike">
                    <a:solidFill>
                      <a:srgbClr val="219EBC"/>
                    </a:solidFill>
                    <a:latin typeface="Arial"/>
                    <a:ea typeface="Arial"/>
                    <a:cs typeface="Arial"/>
                    <a:sym typeface="Arial"/>
                  </a:rPr>
                  <a:t>[전략 추진목표]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"/>
                  <a:buFont typeface="Arial"/>
                  <a:buNone/>
                </a:pPr>
                <a:r>
                  <a:t/>
                </a:r>
                <a:endParaRPr b="0" i="0" sz="200" u="none" cap="none" strike="noStrike">
                  <a:solidFill>
                    <a:srgbClr val="219EB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ko-KR" sz="1050" u="none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◎  </a:t>
                </a:r>
                <a:r>
                  <a:rPr b="0" i="0" lang="ko-KR" sz="1050" u="sng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저작권 수출 규모</a:t>
                </a:r>
                <a:r>
                  <a:rPr b="0" i="0" lang="ko-KR" sz="1050" u="none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: ’22년 115억 달러 → ‘27년 250억 달러</a:t>
                </a:r>
                <a:endParaRPr b="0" i="0" sz="105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ko-KR" sz="1050" u="none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                                  (연평균 10% 증)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"/>
                  <a:buFont typeface="Arial"/>
                  <a:buNone/>
                </a:pPr>
                <a:r>
                  <a:t/>
                </a:r>
                <a:endParaRPr b="0" i="0" sz="3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ko-KR" sz="1050" u="none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◎  </a:t>
                </a:r>
                <a:r>
                  <a:rPr b="0" i="0" lang="ko-KR" sz="1050" u="sng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국제지식재산지수 저작권 분야</a:t>
                </a:r>
                <a:r>
                  <a:rPr b="0" i="0" lang="ko-KR" sz="1050" u="none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: ’22년 7위 → ’27년 5위</a:t>
                </a:r>
                <a:endParaRPr b="0" i="0" sz="105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"/>
                  <a:buFont typeface="Arial"/>
                  <a:buNone/>
                </a:pPr>
                <a:r>
                  <a:t/>
                </a:r>
                <a:endParaRPr b="0" i="0" sz="3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ko-KR" sz="1050" u="none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◎  </a:t>
                </a:r>
                <a:r>
                  <a:rPr b="0" i="0" lang="ko-KR" sz="1050" u="sng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불법복제물 이용률</a:t>
                </a:r>
                <a:r>
                  <a:rPr b="0" i="0" lang="ko-KR" sz="1050" u="none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: ’22년 19.5% → ’27년 17.0%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ko-KR" sz="1050" u="none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                                     (연평균 0,5% 감)</a:t>
                </a:r>
                <a:endParaRPr b="0" i="0" sz="105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8"/>
              <p:cNvSpPr txBox="1"/>
              <p:nvPr/>
            </p:nvSpPr>
            <p:spPr>
              <a:xfrm>
                <a:off x="7670531" y="2415196"/>
                <a:ext cx="1890233" cy="2954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ko-KR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‘저작권 강국 실현, 4대 전략’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8" name="Google Shape;238;p8"/>
          <p:cNvSpPr txBox="1"/>
          <p:nvPr/>
        </p:nvSpPr>
        <p:spPr>
          <a:xfrm>
            <a:off x="8076977" y="-8798"/>
            <a:ext cx="1670650" cy="25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 2~3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개요</a:t>
            </a:r>
            <a:endParaRPr/>
          </a:p>
        </p:txBody>
      </p:sp>
      <p:sp>
        <p:nvSpPr>
          <p:cNvPr id="245" name="Google Shape;245;p9"/>
          <p:cNvSpPr txBox="1"/>
          <p:nvPr>
            <p:ph idx="1" type="body"/>
          </p:nvPr>
        </p:nvSpPr>
        <p:spPr>
          <a:xfrm>
            <a:off x="2108200" y="901700"/>
            <a:ext cx="568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ko-KR"/>
              <a:t>추진 목표</a:t>
            </a:r>
            <a:endParaRPr/>
          </a:p>
        </p:txBody>
      </p:sp>
      <p:pic>
        <p:nvPicPr>
          <p:cNvPr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39" y="1668758"/>
            <a:ext cx="199922" cy="51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/>
          <p:nvPr/>
        </p:nvSpPr>
        <p:spPr>
          <a:xfrm>
            <a:off x="226687" y="2331163"/>
            <a:ext cx="4444490" cy="324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400"/>
              <a:buFont typeface="Noto Sans Symbols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서비스 흐름도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480335" y="1468068"/>
            <a:ext cx="6945330" cy="536666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219EBC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219EBC"/>
                </a:solidFill>
                <a:latin typeface="Arial"/>
                <a:ea typeface="Arial"/>
                <a:cs typeface="Arial"/>
                <a:sym typeface="Arial"/>
              </a:rPr>
              <a:t>권리가 보호되어야 하는 미디어 콘텐츠를 무단으로 유통하는 인터넷 기반 서비스를 검출 추적하여 </a:t>
            </a:r>
            <a:endParaRPr b="0" i="0" sz="1200" u="none" cap="none" strike="noStrike">
              <a:solidFill>
                <a:srgbClr val="219EB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219EBC"/>
                </a:solidFill>
                <a:latin typeface="Arial"/>
                <a:ea typeface="Arial"/>
                <a:cs typeface="Arial"/>
                <a:sym typeface="Arial"/>
              </a:rPr>
              <a:t>불법 서비스를 식별하고 접속을 차단하는 기술 기발</a:t>
            </a:r>
            <a:endParaRPr b="0" i="0" sz="11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3583" y="2742654"/>
            <a:ext cx="3770699" cy="32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" name="Google Shape;250;p9"/>
          <p:cNvGrpSpPr/>
          <p:nvPr/>
        </p:nvGrpSpPr>
        <p:grpSpPr>
          <a:xfrm>
            <a:off x="531222" y="3314118"/>
            <a:ext cx="3835420" cy="3061291"/>
            <a:chOff x="419835" y="3314118"/>
            <a:chExt cx="3835420" cy="3061291"/>
          </a:xfrm>
        </p:grpSpPr>
        <p:sp>
          <p:nvSpPr>
            <p:cNvPr id="251" name="Google Shape;251;p9"/>
            <p:cNvSpPr/>
            <p:nvPr/>
          </p:nvSpPr>
          <p:spPr>
            <a:xfrm>
              <a:off x="2181719" y="3723182"/>
              <a:ext cx="291126" cy="232447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3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2" name="Google Shape;252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610526" y="3314936"/>
              <a:ext cx="1644729" cy="1047135"/>
            </a:xfrm>
            <a:prstGeom prst="rect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pic>
        <p:sp>
          <p:nvSpPr>
            <p:cNvPr id="253" name="Google Shape;253;p9"/>
            <p:cNvSpPr txBox="1"/>
            <p:nvPr/>
          </p:nvSpPr>
          <p:spPr>
            <a:xfrm>
              <a:off x="542498" y="4411142"/>
              <a:ext cx="1397970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ko-KR" sz="900" u="none" cap="none" strike="noStrike">
                  <a:solidFill>
                    <a:srgbClr val="3A3838"/>
                  </a:solidFill>
                  <a:latin typeface="Arial"/>
                  <a:ea typeface="Arial"/>
                  <a:cs typeface="Arial"/>
                  <a:sym typeface="Arial"/>
                </a:rPr>
                <a:t>불법 사이트 검출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9"/>
            <p:cNvSpPr txBox="1"/>
            <p:nvPr/>
          </p:nvSpPr>
          <p:spPr>
            <a:xfrm>
              <a:off x="2610526" y="4411142"/>
              <a:ext cx="1644728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ko-KR" sz="900" u="none" cap="none" strike="noStrike">
                  <a:solidFill>
                    <a:srgbClr val="3A3838"/>
                  </a:solidFill>
                  <a:latin typeface="Arial"/>
                  <a:ea typeface="Arial"/>
                  <a:cs typeface="Arial"/>
                  <a:sym typeface="Arial"/>
                </a:rPr>
                <a:t>신고서 자동 작성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9"/>
            <p:cNvSpPr txBox="1"/>
            <p:nvPr/>
          </p:nvSpPr>
          <p:spPr>
            <a:xfrm>
              <a:off x="2610526" y="6006077"/>
              <a:ext cx="16447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ko-KR" sz="900" u="none" cap="none" strike="noStrike">
                  <a:solidFill>
                    <a:srgbClr val="3A3838"/>
                  </a:solidFill>
                  <a:latin typeface="Arial"/>
                  <a:ea typeface="Arial"/>
                  <a:cs typeface="Arial"/>
                  <a:sym typeface="Arial"/>
                </a:rPr>
                <a:t>한국저작권 보호원</a:t>
              </a:r>
              <a:endParaRPr b="0" i="0" sz="9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ko-KR" sz="900" u="none" cap="none" strike="noStrike">
                  <a:solidFill>
                    <a:srgbClr val="3A3838"/>
                  </a:solidFill>
                  <a:latin typeface="Arial"/>
                  <a:ea typeface="Arial"/>
                  <a:cs typeface="Arial"/>
                  <a:sym typeface="Arial"/>
                </a:rPr>
                <a:t>신고서 자동 접수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9"/>
            <p:cNvSpPr txBox="1"/>
            <p:nvPr/>
          </p:nvSpPr>
          <p:spPr>
            <a:xfrm>
              <a:off x="542498" y="6073133"/>
              <a:ext cx="1397970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ko-KR" sz="900" u="none" cap="none" strike="noStrike">
                  <a:solidFill>
                    <a:srgbClr val="3A3838"/>
                  </a:solidFill>
                  <a:latin typeface="Arial"/>
                  <a:ea typeface="Arial"/>
                  <a:cs typeface="Arial"/>
                  <a:sym typeface="Arial"/>
                </a:rPr>
                <a:t>심의 및 불법사이트 차단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7" name="Google Shape;257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610526" y="4937314"/>
              <a:ext cx="1644729" cy="1005453"/>
            </a:xfrm>
            <a:prstGeom prst="rect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pic>
        <p:sp>
          <p:nvSpPr>
            <p:cNvPr id="258" name="Google Shape;258;p9"/>
            <p:cNvSpPr/>
            <p:nvPr/>
          </p:nvSpPr>
          <p:spPr>
            <a:xfrm rot="10800000">
              <a:off x="2181719" y="5300217"/>
              <a:ext cx="291126" cy="232447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3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9"/>
            <p:cNvSpPr/>
            <p:nvPr/>
          </p:nvSpPr>
          <p:spPr>
            <a:xfrm rot="5400000">
              <a:off x="3337097" y="4635017"/>
              <a:ext cx="191587" cy="213999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3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0" name="Google Shape;260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19835" y="3314118"/>
              <a:ext cx="1643297" cy="1050577"/>
            </a:xfrm>
            <a:prstGeom prst="rect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pic>
        <p:grpSp>
          <p:nvGrpSpPr>
            <p:cNvPr id="261" name="Google Shape;261;p9"/>
            <p:cNvGrpSpPr/>
            <p:nvPr/>
          </p:nvGrpSpPr>
          <p:grpSpPr>
            <a:xfrm>
              <a:off x="419835" y="4937312"/>
              <a:ext cx="1643297" cy="1005453"/>
              <a:chOff x="523039" y="4937312"/>
              <a:chExt cx="1397970" cy="1005453"/>
            </a:xfrm>
          </p:grpSpPr>
          <p:pic>
            <p:nvPicPr>
              <p:cNvPr id="262" name="Google Shape;262;p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23039" y="4937312"/>
                <a:ext cx="1397970" cy="1005452"/>
              </a:xfrm>
              <a:prstGeom prst="rect">
                <a:avLst/>
              </a:prstGeom>
              <a:noFill/>
              <a:ln cap="flat" cmpd="sng" w="9525">
                <a:solidFill>
                  <a:srgbClr val="D8D8D8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</p:pic>
          <p:sp>
            <p:nvSpPr>
              <p:cNvPr id="263" name="Google Shape;263;p9"/>
              <p:cNvSpPr/>
              <p:nvPr/>
            </p:nvSpPr>
            <p:spPr>
              <a:xfrm>
                <a:off x="523039" y="4937313"/>
                <a:ext cx="1397970" cy="1005452"/>
              </a:xfrm>
              <a:prstGeom prst="rect">
                <a:avLst/>
              </a:prstGeom>
              <a:solidFill>
                <a:srgbClr val="7F7F7F">
                  <a:alpha val="6862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64" name="Google Shape;264;p9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957691" y="5142821"/>
                <a:ext cx="537790" cy="58415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aphicFrame>
        <p:nvGraphicFramePr>
          <p:cNvPr id="265" name="Google Shape;265;p9"/>
          <p:cNvGraphicFramePr/>
          <p:nvPr/>
        </p:nvGraphicFramePr>
        <p:xfrm>
          <a:off x="5286386" y="45144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{F0999B2E-6716-427F-BB08-76C9D8113C3E}</a:tableStyleId>
              </a:tblPr>
              <a:tblGrid>
                <a:gridCol w="1145275"/>
                <a:gridCol w="3028800"/>
              </a:tblGrid>
              <a:tr h="20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ko-KR" sz="11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적용범위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ko-KR" sz="11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세부 내용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</a:tr>
              <a:tr h="55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의심 사이트 </a:t>
                      </a:r>
                      <a:br>
                        <a:rPr lang="ko-KR" sz="10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ko-KR" sz="10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탐색 및 접속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OTT사업자, 디지털 마켓플레이스 운영자, 소셜 미디어 플랫폼, 온라인 커뮤니티 관리자 등이 불법 콘텐츠의 유통을 모니터링 하고 방지하는데 활용 가능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7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사이트 식별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저작권 보호기관, 법 집행 기관, 콘텐츠 제공자 등 저작권 침해, 불법적인 정보의 확산 방지 및 유해 콘텐츠 필터링을 위해 활용 가능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7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콘텐츠 식별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콘텐츠 저작권자가 콘텐츠가 불법적으로 복제되거나 유통되는 것을 감지하고 대응하는데 활용 가능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7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사이트 차단</a:t>
                      </a:r>
                      <a:endParaRPr sz="10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자동화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ISP사 및 정부기관 등이 불법 사이트에 대한 접근 차단 명령을 신속하게 처리하고 실행하는데 활용 가능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6" name="Google Shape;266;p9"/>
          <p:cNvGraphicFramePr/>
          <p:nvPr/>
        </p:nvGraphicFramePr>
        <p:xfrm>
          <a:off x="5286385" y="26730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{F0999B2E-6716-427F-BB08-76C9D8113C3E}</a:tableStyleId>
              </a:tblPr>
              <a:tblGrid>
                <a:gridCol w="2087050"/>
                <a:gridCol w="2087050"/>
              </a:tblGrid>
              <a:tr h="17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ko-KR" sz="11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is</a:t>
                      </a:r>
                      <a:endParaRPr b="1" i="0" sz="1100" u="none" cap="none" strike="noStrike">
                        <a:solidFill>
                          <a:srgbClr val="345EA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00" marB="2700" marR="2700" marL="2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ko-KR" sz="11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Be</a:t>
                      </a:r>
                      <a:endParaRPr b="1" i="0" sz="1100" u="none" cap="none" strike="noStrike">
                        <a:solidFill>
                          <a:srgbClr val="345EA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00" marB="2700" marR="2700" marL="2700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</a:tr>
              <a:tr h="1062275">
                <a:tc>
                  <a:txBody>
                    <a:bodyPr/>
                    <a:lstStyle/>
                    <a:p>
                      <a:pPr indent="-222250" lvl="0" marL="22225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■  관리자에 의한 불법서비스 모니터링 및 접근 차단 조치</a:t>
                      </a:r>
                      <a:endParaRPr b="1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전담 관리자에 의한 수동 관리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불법 여부 검증 및 심의 절차 진행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차단 이후 변경 및 복제로 차단 무력화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글로벌 CDN 이용으로 차단 효과 제한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22250" lvl="0" marL="22225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■  자동화된 불법 서비스 검출과 차단으로 권리 침해 피해 최소화</a:t>
                      </a:r>
                      <a:endParaRPr b="1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접근 방해 우회로 자동화 검색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변경·복제 서비스 검출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검증가능한 근거를 바탕으로 차단 자동화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불법 미디어 서비스 데이터베이스 축적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64775" marL="6477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67" name="Google Shape;267;p9"/>
          <p:cNvSpPr/>
          <p:nvPr/>
        </p:nvSpPr>
        <p:spPr>
          <a:xfrm flipH="1">
            <a:off x="5286385" y="2346701"/>
            <a:ext cx="4174080" cy="259623"/>
          </a:xfrm>
          <a:prstGeom prst="roundRect">
            <a:avLst>
              <a:gd fmla="val 16364" name="adj"/>
            </a:avLst>
          </a:prstGeom>
          <a:solidFill>
            <a:srgbClr val="D7E9F3"/>
          </a:solidFill>
          <a:ln>
            <a:noFill/>
          </a:ln>
        </p:spPr>
        <p:txBody>
          <a:bodyPr anchorCtr="0" anchor="ctr" bIns="45700" lIns="91425" spcFirstLastPara="1" rIns="91425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불법 서비스 검출과 차단으로 권리 침해 피해 최소화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/>
          <p:nvPr/>
        </p:nvSpPr>
        <p:spPr>
          <a:xfrm flipH="1">
            <a:off x="5286385" y="4151122"/>
            <a:ext cx="4174080" cy="259623"/>
          </a:xfrm>
          <a:prstGeom prst="roundRect">
            <a:avLst>
              <a:gd fmla="val 16364" name="adj"/>
            </a:avLst>
          </a:prstGeom>
          <a:solidFill>
            <a:srgbClr val="D7E9F3"/>
          </a:solidFill>
          <a:ln>
            <a:noFill/>
          </a:ln>
        </p:spPr>
        <p:txBody>
          <a:bodyPr anchorCtr="0" anchor="ctr" bIns="45700" lIns="91425" spcFirstLastPara="1" rIns="91425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서비스 적용 범위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/>
          <p:cNvSpPr txBox="1"/>
          <p:nvPr/>
        </p:nvSpPr>
        <p:spPr>
          <a:xfrm>
            <a:off x="7697066" y="-8798"/>
            <a:ext cx="2050561" cy="25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 2, 14~16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2. 국내외 현황</a:t>
            </a:r>
            <a:endParaRPr/>
          </a:p>
        </p:txBody>
      </p:sp>
      <p:sp>
        <p:nvSpPr>
          <p:cNvPr id="276" name="Google Shape;276;p10"/>
          <p:cNvSpPr txBox="1"/>
          <p:nvPr>
            <p:ph idx="1" type="body"/>
          </p:nvPr>
        </p:nvSpPr>
        <p:spPr>
          <a:xfrm>
            <a:off x="2108200" y="901700"/>
            <a:ext cx="568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ko-KR"/>
              <a:t>시장 현황</a:t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5054672" y="1568386"/>
            <a:ext cx="4661605" cy="32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400"/>
              <a:buFont typeface="Noto Sans Symbols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국내외 수요처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189724" y="1568386"/>
            <a:ext cx="4661605" cy="32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400"/>
              <a:buFont typeface="Noto Sans Symbols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시장 규모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5087397" y="1940011"/>
            <a:ext cx="468187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 본 서비스는 OTT 기업 뿐만 아니라 관리·감독 기관, ISP(Internet Service Provider),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CDN(Content Delivery Network) 서비스에 활용될 수 있음.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267EC"/>
                </a:solidFill>
                <a:latin typeface="Arial"/>
                <a:ea typeface="Arial"/>
                <a:cs typeface="Arial"/>
                <a:sym typeface="Arial"/>
              </a:rPr>
              <a:t>-  본 컨소시엄은 연구개발 서비스가 필요한 수요처와 긴밀한 관계를 맺고 협력하고자 함.</a:t>
            </a:r>
            <a:endParaRPr b="1" i="0" sz="1100" u="none" cap="none" strike="noStrike">
              <a:solidFill>
                <a:srgbClr val="0267E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924" y="4883433"/>
            <a:ext cx="4657610" cy="1516149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0"/>
          <p:cNvSpPr/>
          <p:nvPr/>
        </p:nvSpPr>
        <p:spPr>
          <a:xfrm>
            <a:off x="2743200" y="4118269"/>
            <a:ext cx="1924050" cy="554637"/>
          </a:xfrm>
          <a:prstGeom prst="roundRect">
            <a:avLst>
              <a:gd fmla="val 8034" name="adj"/>
            </a:avLst>
          </a:prstGeom>
          <a:solidFill>
            <a:srgbClr val="F7CA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390303" y="3283533"/>
            <a:ext cx="2170592" cy="1394858"/>
          </a:xfrm>
          <a:prstGeom prst="roundRect">
            <a:avLst>
              <a:gd fmla="val 8034" name="adj"/>
            </a:avLst>
          </a:prstGeom>
          <a:solidFill>
            <a:srgbClr val="8DA9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722571" y="3686175"/>
            <a:ext cx="1783035" cy="946846"/>
          </a:xfrm>
          <a:prstGeom prst="roundRect">
            <a:avLst>
              <a:gd fmla="val 8034" name="adj"/>
            </a:avLst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2843628" y="3971926"/>
            <a:ext cx="1739915" cy="20349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33C0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온라인 불법 영상/사이트 시장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855657" y="3601787"/>
            <a:ext cx="1549136" cy="3593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33C0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온라인 합법 영상/사이트 침해 시장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537722" y="3141938"/>
            <a:ext cx="1897903" cy="20568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833C0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온라인 합법 영상/사이트 시장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876548" y="4158814"/>
            <a:ext cx="1379909" cy="28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ko-K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세계: 26조 원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ko-K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한국: 8,550억 원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2974976" y="4222778"/>
            <a:ext cx="1460499" cy="391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ko-K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세계: 150조 원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ko-K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한국: 4.9조 원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569035" y="3495335"/>
            <a:ext cx="4253874" cy="1261716"/>
          </a:xfrm>
          <a:custGeom>
            <a:rect b="b" l="l" r="r" t="t"/>
            <a:pathLst>
              <a:path extrusionOk="0" h="1261716" w="4219575">
                <a:moveTo>
                  <a:pt x="0" y="0"/>
                </a:moveTo>
                <a:lnTo>
                  <a:pt x="2025589" y="0"/>
                </a:lnTo>
                <a:lnTo>
                  <a:pt x="2025589" y="336070"/>
                </a:lnTo>
                <a:lnTo>
                  <a:pt x="4219575" y="336070"/>
                </a:lnTo>
                <a:lnTo>
                  <a:pt x="4219575" y="1261716"/>
                </a:lnTo>
                <a:lnTo>
                  <a:pt x="0" y="1261716"/>
                </a:lnTo>
                <a:close/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0"/>
          <p:cNvSpPr/>
          <p:nvPr/>
        </p:nvSpPr>
        <p:spPr>
          <a:xfrm rot="-5400000">
            <a:off x="3547194" y="3218578"/>
            <a:ext cx="768639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590550" y="2462761"/>
            <a:ext cx="4251408" cy="490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불법 시장으로 </a:t>
            </a:r>
            <a:r>
              <a:rPr b="1" i="0" lang="ko-KR" sz="1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침해된 잠재적 온라인 합법 영상/사이트 시장 규모</a:t>
            </a: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는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(합법 저작물 시장규모 + 침해 규모) 2024년도 기준으로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세계 약 176조 원, 한국 약 5조 7,550억 원</a:t>
            </a: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임.</a:t>
            </a:r>
            <a:endParaRPr b="0" i="0" sz="10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2" name="Google Shape;292;p10"/>
          <p:cNvGraphicFramePr/>
          <p:nvPr/>
        </p:nvGraphicFramePr>
        <p:xfrm>
          <a:off x="5171119" y="25444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{F0999B2E-6716-427F-BB08-76C9D8113C3E}</a:tableStyleId>
              </a:tblPr>
              <a:tblGrid>
                <a:gridCol w="1057650"/>
                <a:gridCol w="2248475"/>
                <a:gridCol w="418600"/>
                <a:gridCol w="797225"/>
              </a:tblGrid>
              <a:tr h="236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ko-KR" sz="11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수요처 </a:t>
                      </a:r>
                      <a:endParaRPr sz="1400" u="none" cap="none" strike="noStrike"/>
                    </a:p>
                  </a:txBody>
                  <a:tcPr marT="1925" marB="1925" marR="1925" marL="1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ko-KR" sz="11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국가명</a:t>
                      </a:r>
                      <a:endParaRPr sz="1400" u="none" cap="none" strike="noStrike"/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ko-KR" sz="11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관련제품</a:t>
                      </a:r>
                      <a:endParaRPr sz="1400" u="none" cap="none" strike="noStrike"/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</a:tr>
              <a:tr h="166625">
                <a:tc row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ko-KR" sz="11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OTT 기업</a:t>
                      </a:r>
                      <a:endParaRPr sz="1400" u="none" cap="none" strike="noStrike"/>
                    </a:p>
                  </a:txBody>
                  <a:tcPr marT="1925" marB="1925" marR="1925" marL="1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0267E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웨이브(Wavve) – 수요기관 협약 완료</a:t>
                      </a:r>
                      <a:endParaRPr b="1" sz="1000" u="none" cap="none" strike="noStrike">
                        <a:solidFill>
                          <a:srgbClr val="0267E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한국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1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미디어 유통 서비스 검출 및 차단 시스템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6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티빙(Tving)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1666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왓챠(Watcha)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1681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Netflix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미국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1681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Amazon Prime Video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1681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Disney+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166625">
                <a:tc row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ko-KR" sz="11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미디어 서비스 관리·감독 기관</a:t>
                      </a:r>
                      <a:endParaRPr sz="1400" u="none" cap="none" strike="noStrike"/>
                    </a:p>
                  </a:txBody>
                  <a:tcPr marT="1925" marB="1925" marR="1925" marL="1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한국저작권보호원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한국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1666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방송통신심의위원회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3246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0267E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한국방송광고진흥공사(Kobaco)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0267E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컨소시엄 공동연구개발기관3</a:t>
                      </a:r>
                      <a:endParaRPr b="1" sz="1000" u="none" cap="none" strike="noStrike">
                        <a:solidFill>
                          <a:srgbClr val="0267E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1666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한국인터넷진흥원(KISA)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1666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국가심의위원회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미국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1666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미국저작권국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168175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ko-KR" sz="11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주요 ISP</a:t>
                      </a:r>
                      <a:endParaRPr sz="1400" u="none" cap="none" strike="noStrike"/>
                    </a:p>
                  </a:txBody>
                  <a:tcPr marT="1925" marB="1925" marR="1925" marL="1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KT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한국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1666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SK브로드밴드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1666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LG유플러스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1666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CJ헬로비전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168175"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ko-KR" sz="11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CDN 서비스</a:t>
                      </a:r>
                      <a:endParaRPr sz="1400" u="none" cap="none" strike="noStrike"/>
                    </a:p>
                  </a:txBody>
                  <a:tcPr marT="1925" marB="1925" marR="1925" marL="1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KT CDN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한국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1666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SK텔레콤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1681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Amazon Web Services(AWS)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미국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1681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Cloudflare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1681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Akamai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25" marB="1925" marR="1925" marL="1925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grpSp>
        <p:nvGrpSpPr>
          <p:cNvPr id="293" name="Google Shape;293;p10"/>
          <p:cNvGrpSpPr/>
          <p:nvPr/>
        </p:nvGrpSpPr>
        <p:grpSpPr>
          <a:xfrm>
            <a:off x="184349" y="1961668"/>
            <a:ext cx="4657609" cy="391041"/>
            <a:chOff x="184349" y="1961668"/>
            <a:chExt cx="4657609" cy="391041"/>
          </a:xfrm>
        </p:grpSpPr>
        <p:sp>
          <p:nvSpPr>
            <p:cNvPr id="294" name="Google Shape;294;p10"/>
            <p:cNvSpPr/>
            <p:nvPr/>
          </p:nvSpPr>
          <p:spPr>
            <a:xfrm>
              <a:off x="203399" y="1961668"/>
              <a:ext cx="4614996" cy="356280"/>
            </a:xfrm>
            <a:prstGeom prst="rect">
              <a:avLst/>
            </a:prstGeom>
            <a:solidFill>
              <a:srgbClr val="E7F4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0"/>
            <p:cNvSpPr/>
            <p:nvPr/>
          </p:nvSpPr>
          <p:spPr>
            <a:xfrm>
              <a:off x="184349" y="1968567"/>
              <a:ext cx="4657609" cy="3841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ko-KR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[타겟 시장: ① 온라인 불법 영상 시장과 ② 온라인 불법 영상 사이트 시장]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"/>
                <a:buFont typeface="Arial"/>
                <a:buNone/>
              </a:pPr>
              <a:r>
                <a:t/>
              </a:r>
              <a:endParaRPr b="1" i="0" sz="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6" name="Google Shape;296;p10"/>
          <p:cNvSpPr txBox="1"/>
          <p:nvPr/>
        </p:nvSpPr>
        <p:spPr>
          <a:xfrm>
            <a:off x="8266131" y="-8798"/>
            <a:ext cx="1481496" cy="25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 7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2. 국내외 현황</a:t>
            </a:r>
            <a:endParaRPr/>
          </a:p>
        </p:txBody>
      </p:sp>
      <p:sp>
        <p:nvSpPr>
          <p:cNvPr id="303" name="Google Shape;303;p11"/>
          <p:cNvSpPr txBox="1"/>
          <p:nvPr>
            <p:ph idx="1" type="body"/>
          </p:nvPr>
        </p:nvSpPr>
        <p:spPr>
          <a:xfrm>
            <a:off x="2108200" y="901700"/>
            <a:ext cx="568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ko-KR"/>
              <a:t>기술 및 경쟁사 현황</a:t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184349" y="1568386"/>
            <a:ext cx="4661605" cy="32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400"/>
              <a:buFont typeface="Noto Sans Symbols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기술 현황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192" y="2660156"/>
            <a:ext cx="3784006" cy="1623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6688" y="1965324"/>
            <a:ext cx="4654752" cy="1414779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1"/>
          <p:cNvSpPr/>
          <p:nvPr/>
        </p:nvSpPr>
        <p:spPr>
          <a:xfrm>
            <a:off x="2564180" y="3509161"/>
            <a:ext cx="2277259" cy="1226518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DEEAF8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p11"/>
          <p:cNvCxnSpPr/>
          <p:nvPr/>
        </p:nvCxnSpPr>
        <p:spPr>
          <a:xfrm>
            <a:off x="2748809" y="3843965"/>
            <a:ext cx="1908000" cy="0"/>
          </a:xfrm>
          <a:prstGeom prst="straightConnector1">
            <a:avLst/>
          </a:prstGeom>
          <a:noFill/>
          <a:ln cap="flat" cmpd="sng" w="19050">
            <a:solidFill>
              <a:srgbClr val="39549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9" name="Google Shape;309;p11"/>
          <p:cNvSpPr/>
          <p:nvPr/>
        </p:nvSpPr>
        <p:spPr>
          <a:xfrm>
            <a:off x="2793591" y="3594817"/>
            <a:ext cx="1800000" cy="230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ko-K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영상물 식별 기술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0" name="Google Shape;310;p11"/>
          <p:cNvGrpSpPr/>
          <p:nvPr/>
        </p:nvGrpSpPr>
        <p:grpSpPr>
          <a:xfrm>
            <a:off x="213958" y="3509161"/>
            <a:ext cx="2277259" cy="2991227"/>
            <a:chOff x="213958" y="3509161"/>
            <a:chExt cx="2277259" cy="2991227"/>
          </a:xfrm>
        </p:grpSpPr>
        <p:sp>
          <p:nvSpPr>
            <p:cNvPr id="311" name="Google Shape;311;p11"/>
            <p:cNvSpPr/>
            <p:nvPr/>
          </p:nvSpPr>
          <p:spPr>
            <a:xfrm>
              <a:off x="213958" y="3509161"/>
              <a:ext cx="2277259" cy="1226518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DEEAF8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1"/>
            <p:cNvSpPr/>
            <p:nvPr/>
          </p:nvSpPr>
          <p:spPr>
            <a:xfrm>
              <a:off x="363116" y="3928624"/>
              <a:ext cx="1956995" cy="40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사용자가 인간인지 로봇인지를 구분하기 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ko-KR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위해 컴퓨터에서 사용되는 일종의 테스트로, 텍스트/이미지/오디오 캡챠 등이 있음.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3" name="Google Shape;313;p11"/>
            <p:cNvCxnSpPr/>
            <p:nvPr/>
          </p:nvCxnSpPr>
          <p:spPr>
            <a:xfrm>
              <a:off x="398587" y="3843965"/>
              <a:ext cx="1908000" cy="0"/>
            </a:xfrm>
            <a:prstGeom prst="straightConnector1">
              <a:avLst/>
            </a:prstGeom>
            <a:noFill/>
            <a:ln cap="flat" cmpd="sng" w="19050">
              <a:solidFill>
                <a:srgbClr val="395498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314" name="Google Shape;314;p11"/>
            <p:cNvSpPr/>
            <p:nvPr/>
          </p:nvSpPr>
          <p:spPr>
            <a:xfrm>
              <a:off x="301034" y="3594817"/>
              <a:ext cx="2103106" cy="2300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ko-KR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사용자검증(CAPTCHA) 우회 기술</a:t>
              </a:r>
              <a:endParaRPr b="1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5" name="Google Shape;315;p11"/>
            <p:cNvGrpSpPr/>
            <p:nvPr/>
          </p:nvGrpSpPr>
          <p:grpSpPr>
            <a:xfrm>
              <a:off x="346124" y="4447713"/>
              <a:ext cx="2012926" cy="1418002"/>
              <a:chOff x="471562" y="4749129"/>
              <a:chExt cx="2012926" cy="1418002"/>
            </a:xfrm>
          </p:grpSpPr>
          <p:pic>
            <p:nvPicPr>
              <p:cNvPr descr="text-based captcha" id="316" name="Google Shape;316;p1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692244" y="4749129"/>
                <a:ext cx="1390177" cy="68730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text-based captcha 1" id="317" name="Google Shape;317;p11"/>
              <p:cNvPicPr preferRelativeResize="0"/>
              <p:nvPr/>
            </p:nvPicPr>
            <p:blipFill rotWithShape="1">
              <a:blip r:embed="rId7">
                <a:alphaModFix/>
              </a:blip>
              <a:srcRect b="0" l="1329" r="2207" t="0"/>
              <a:stretch/>
            </p:blipFill>
            <p:spPr>
              <a:xfrm>
                <a:off x="471562" y="5279124"/>
                <a:ext cx="1048100" cy="49890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-based captcha" id="318" name="Google Shape;318;p1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313924" y="5337111"/>
                <a:ext cx="1170564" cy="826996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19" name="Google Shape;319;p11"/>
              <p:cNvGrpSpPr/>
              <p:nvPr/>
            </p:nvGrpSpPr>
            <p:grpSpPr>
              <a:xfrm>
                <a:off x="832786" y="5987379"/>
                <a:ext cx="682150" cy="179752"/>
                <a:chOff x="744706" y="5338561"/>
                <a:chExt cx="838752" cy="236480"/>
              </a:xfrm>
            </p:grpSpPr>
            <p:pic>
              <p:nvPicPr>
                <p:cNvPr descr="i am not a robot" id="320" name="Google Shape;320;p11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28500" l="13064" r="13278" t="32068"/>
                <a:stretch/>
              </p:blipFill>
              <p:spPr>
                <a:xfrm>
                  <a:off x="744706" y="5338561"/>
                  <a:ext cx="838752" cy="2364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i am not a robot" id="321" name="Google Shape;321;p11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44481" l="26920" r="44848" t="46087"/>
                <a:stretch/>
              </p:blipFill>
              <p:spPr>
                <a:xfrm>
                  <a:off x="896108" y="5406204"/>
                  <a:ext cx="512912" cy="902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sp>
          <p:nvSpPr>
            <p:cNvPr id="322" name="Google Shape;322;p11"/>
            <p:cNvSpPr txBox="1"/>
            <p:nvPr/>
          </p:nvSpPr>
          <p:spPr>
            <a:xfrm>
              <a:off x="254569" y="5977168"/>
              <a:ext cx="223664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ko-KR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Guerar, M., Verderame, L., Migliardi, M., Palmieri, F., &amp; Merlo, A. Gotta Captcha’em All: A Survey of Twenty Years of the Human-or-Computer Dilemma (2021). </a:t>
              </a:r>
              <a:r>
                <a:rPr b="0" i="1" lang="ko-KR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arXiv preprint arXiv:2103.01748</a:t>
              </a:r>
              <a:r>
                <a:rPr b="0" i="0" lang="ko-KR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3" name="Google Shape;323;p11"/>
          <p:cNvSpPr/>
          <p:nvPr/>
        </p:nvSpPr>
        <p:spPr>
          <a:xfrm>
            <a:off x="2789780" y="3901465"/>
            <a:ext cx="1857151" cy="353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영상물 식별 기술은 신호처리 기반에서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CNN 등 딥러닝 기반으로 발전하고 있음.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" name="Google Shape;324;p11"/>
          <p:cNvGrpSpPr/>
          <p:nvPr/>
        </p:nvGrpSpPr>
        <p:grpSpPr>
          <a:xfrm>
            <a:off x="2686630" y="4324709"/>
            <a:ext cx="2032359" cy="823193"/>
            <a:chOff x="283922" y="5100563"/>
            <a:chExt cx="3792310" cy="1236738"/>
          </a:xfrm>
        </p:grpSpPr>
        <p:sp>
          <p:nvSpPr>
            <p:cNvPr id="325" name="Google Shape;325;p11"/>
            <p:cNvSpPr/>
            <p:nvPr/>
          </p:nvSpPr>
          <p:spPr>
            <a:xfrm>
              <a:off x="283922" y="5100563"/>
              <a:ext cx="3757614" cy="123673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283922" y="5126983"/>
              <a:ext cx="3792310" cy="1118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ko-KR" sz="900" u="none" cap="none" strike="noStrike">
                  <a:solidFill>
                    <a:srgbClr val="0267EC"/>
                  </a:solidFill>
                  <a:latin typeface="Arial"/>
                  <a:ea typeface="Arial"/>
                  <a:cs typeface="Arial"/>
                  <a:sym typeface="Arial"/>
                </a:rPr>
                <a:t>[ 신호처리 기반 ]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"/>
                <a:buFont typeface="Arial"/>
                <a:buNone/>
              </a:pPr>
              <a:r>
                <a:t/>
              </a:r>
              <a:endParaRPr b="1" i="0" sz="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ko-KR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특징점 기반의 핑거프린팅 기술로, 콘텐츠에서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ko-KR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특징점을 찾아 DB에 보관하고, 이를 </a:t>
              </a:r>
              <a:r>
                <a:rPr b="1" i="0" lang="ko-KR" sz="800" u="none" cap="none" strike="noStrike">
                  <a:solidFill>
                    <a:srgbClr val="0267EC"/>
                  </a:solidFill>
                  <a:latin typeface="Arial"/>
                  <a:ea typeface="Arial"/>
                  <a:cs typeface="Arial"/>
                  <a:sym typeface="Arial"/>
                </a:rPr>
                <a:t>다른 </a:t>
              </a:r>
              <a:endParaRPr b="1" i="0" sz="800" u="none" cap="none" strike="noStrike">
                <a:solidFill>
                  <a:srgbClr val="0267E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ko-KR" sz="800" u="none" cap="none" strike="noStrike">
                  <a:solidFill>
                    <a:srgbClr val="0267EC"/>
                  </a:solidFill>
                  <a:latin typeface="Arial"/>
                  <a:ea typeface="Arial"/>
                  <a:cs typeface="Arial"/>
                  <a:sym typeface="Arial"/>
                </a:rPr>
                <a:t>콘텐츠에서 추출된 특징점과 비교</a:t>
              </a:r>
              <a:r>
                <a:rPr b="0" i="0" lang="ko-KR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하여 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ko-KR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두 콘텐츠가 일치 혹은 유사한지 알아내는 방법</a:t>
              </a:r>
              <a:endParaRPr b="0" i="0" sz="7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7" name="Google Shape;327;p11"/>
          <p:cNvGrpSpPr/>
          <p:nvPr/>
        </p:nvGrpSpPr>
        <p:grpSpPr>
          <a:xfrm>
            <a:off x="2686630" y="5707818"/>
            <a:ext cx="2013766" cy="731081"/>
            <a:chOff x="283922" y="5100563"/>
            <a:chExt cx="3792310" cy="1236738"/>
          </a:xfrm>
        </p:grpSpPr>
        <p:sp>
          <p:nvSpPr>
            <p:cNvPr id="328" name="Google Shape;328;p11"/>
            <p:cNvSpPr/>
            <p:nvPr/>
          </p:nvSpPr>
          <p:spPr>
            <a:xfrm>
              <a:off x="283922" y="5100563"/>
              <a:ext cx="3757614" cy="1236738"/>
            </a:xfrm>
            <a:prstGeom prst="rect">
              <a:avLst/>
            </a:prstGeom>
            <a:solidFill>
              <a:srgbClr val="E7F4F6"/>
            </a:solidFill>
            <a:ln cap="flat" cmpd="sng" w="19050">
              <a:solidFill>
                <a:srgbClr val="0267E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283922" y="5169951"/>
              <a:ext cx="3792310" cy="1118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ko-KR" sz="900" u="none" cap="none" strike="noStrike">
                  <a:solidFill>
                    <a:srgbClr val="0267EC"/>
                  </a:solidFill>
                  <a:latin typeface="Arial"/>
                  <a:ea typeface="Arial"/>
                  <a:cs typeface="Arial"/>
                  <a:sym typeface="Arial"/>
                </a:rPr>
                <a:t>[ 딥러닝 기반 ]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"/>
                <a:buFont typeface="Arial"/>
                <a:buNone/>
              </a:pPr>
              <a:r>
                <a:t/>
              </a:r>
              <a:endParaRPr b="1" i="0" sz="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ko-KR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딥러닝 기반의 영상물 식별 기술은 기존 신호처리 기반 방식의 단점을 보완하여 원본영상에 대한 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ko-KR" sz="800" u="none" cap="none" strike="noStrike">
                  <a:solidFill>
                    <a:srgbClr val="0267EC"/>
                  </a:solidFill>
                  <a:latin typeface="Arial"/>
                  <a:ea typeface="Arial"/>
                  <a:cs typeface="Arial"/>
                  <a:sym typeface="Arial"/>
                </a:rPr>
                <a:t>특징정보가 없어도 식별이 가능</a:t>
              </a:r>
              <a:r>
                <a:rPr b="0" i="0" lang="ko-KR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함.</a:t>
              </a:r>
              <a:endParaRPr b="0" i="0" sz="7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0" name="Google Shape;330;p11"/>
          <p:cNvSpPr/>
          <p:nvPr/>
        </p:nvSpPr>
        <p:spPr>
          <a:xfrm flipH="1" rot="-5400000">
            <a:off x="3626714" y="5032498"/>
            <a:ext cx="152191" cy="36204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2625849" y="5316354"/>
            <a:ext cx="2116618" cy="24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ko-K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원본 저작물 왜곡을 통해 해당 검출 기능을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ko-KR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무력화하는 사례가 많아지고 있어, </a:t>
            </a:r>
            <a:r>
              <a:rPr b="1" i="0" lang="ko-KR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한계 존재</a:t>
            </a:r>
            <a:endParaRPr b="1" i="0" sz="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5054672" y="1568386"/>
            <a:ext cx="4661605" cy="32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400"/>
              <a:buFont typeface="Noto Sans Symbols"/>
              <a:buNone/>
            </a:pPr>
            <a:r>
              <a:rPr b="1" i="0" lang="ko-K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경쟁사 현황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5087397" y="5845592"/>
            <a:ext cx="4681879" cy="644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90488" lvl="0" marL="9048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267EC"/>
                </a:solidFill>
                <a:latin typeface="Arial"/>
                <a:ea typeface="Arial"/>
                <a:cs typeface="Arial"/>
                <a:sym typeface="Arial"/>
              </a:rPr>
              <a:t>[ 컨소시엄의 경쟁력 ]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0488" lvl="0" marL="9048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rgbClr val="0267E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0488" lvl="0" marL="9048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267EC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본 컨소시엄은 각각 </a:t>
            </a:r>
            <a:r>
              <a:rPr b="0" i="0" lang="ko-KR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법률, 개발, 인공지능 분야의 전문기관 및 기업으로 구성</a:t>
            </a: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되어 있어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0488" lvl="0" marL="9048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경쟁기관 대비 과제 이해도가 높으며, 다년간의 관련 기술개발 및 연구로 차별성을 가짐. </a:t>
            </a:r>
            <a:endParaRPr b="1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5087397" y="1940011"/>
            <a:ext cx="4681879" cy="644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92075" lvl="0" marL="9207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267EC"/>
                </a:solidFill>
                <a:latin typeface="Arial"/>
                <a:ea typeface="Arial"/>
                <a:cs typeface="Arial"/>
                <a:sym typeface="Arial"/>
              </a:rPr>
              <a:t>[ 기술개발의 도전성 ]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2075" lvl="0" marL="9207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rgbClr val="0267E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2075" lvl="0" marL="9207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불법 콘텐츠 식별의 경우 문화체육관광부에서 2017-2018년도에 기술연구를 한 적이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2075" lvl="0" marL="9207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있으며, 본 컨소시엄이 개발하고자 하는 서비스의 </a:t>
            </a:r>
            <a:r>
              <a:rPr b="0" i="0" lang="ko-KR" sz="1000" u="none" cap="none" strike="noStrike">
                <a:solidFill>
                  <a:srgbClr val="0267EC"/>
                </a:solidFill>
                <a:latin typeface="Arial"/>
                <a:ea typeface="Arial"/>
                <a:cs typeface="Arial"/>
                <a:sym typeface="Arial"/>
              </a:rPr>
              <a:t>일부 기능을 개발한 기업들은 존재</a:t>
            </a: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함.</a:t>
            </a:r>
            <a:endParaRPr b="1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5187012" y="4459580"/>
            <a:ext cx="4228592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92075" lvl="0" marL="92075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그러나,  불법 미디어 유통 서비스 검출부터 심의 증빙 생성, ISP 차단 신청까지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2075" lvl="0" marL="92075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“</a:t>
            </a:r>
            <a:r>
              <a:rPr b="0" i="0" lang="ko-KR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원스톱 모니터링 서비스를 개발한 사례는 전무”</a:t>
            </a: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함.</a:t>
            </a:r>
            <a:endParaRPr b="1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6" name="Google Shape;336;p11"/>
          <p:cNvGrpSpPr/>
          <p:nvPr/>
        </p:nvGrpSpPr>
        <p:grpSpPr>
          <a:xfrm>
            <a:off x="5278709" y="4984777"/>
            <a:ext cx="4051432" cy="751723"/>
            <a:chOff x="5287762" y="5066257"/>
            <a:chExt cx="4051432" cy="751723"/>
          </a:xfrm>
        </p:grpSpPr>
        <p:grpSp>
          <p:nvGrpSpPr>
            <p:cNvPr id="337" name="Google Shape;337;p11"/>
            <p:cNvGrpSpPr/>
            <p:nvPr/>
          </p:nvGrpSpPr>
          <p:grpSpPr>
            <a:xfrm>
              <a:off x="5287762" y="5066257"/>
              <a:ext cx="4051432" cy="751723"/>
              <a:chOff x="5287762" y="3860179"/>
              <a:chExt cx="4051432" cy="751723"/>
            </a:xfrm>
          </p:grpSpPr>
          <p:sp>
            <p:nvSpPr>
              <p:cNvPr id="338" name="Google Shape;338;p11"/>
              <p:cNvSpPr/>
              <p:nvPr/>
            </p:nvSpPr>
            <p:spPr>
              <a:xfrm>
                <a:off x="5287762" y="3860179"/>
                <a:ext cx="4051432" cy="751723"/>
              </a:xfrm>
              <a:prstGeom prst="rect">
                <a:avLst/>
              </a:prstGeom>
              <a:gradFill>
                <a:gsLst>
                  <a:gs pos="0">
                    <a:schemeClr val="lt1"/>
                  </a:gs>
                  <a:gs pos="100000">
                    <a:srgbClr val="DEEAF8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39" name="Google Shape;339;p11"/>
              <p:cNvGrpSpPr/>
              <p:nvPr/>
            </p:nvGrpSpPr>
            <p:grpSpPr>
              <a:xfrm>
                <a:off x="5434290" y="4010330"/>
                <a:ext cx="1115754" cy="414523"/>
                <a:chOff x="283922" y="5100563"/>
                <a:chExt cx="3792310" cy="1236738"/>
              </a:xfrm>
            </p:grpSpPr>
            <p:sp>
              <p:nvSpPr>
                <p:cNvPr id="340" name="Google Shape;340;p11"/>
                <p:cNvSpPr/>
                <p:nvPr/>
              </p:nvSpPr>
              <p:spPr>
                <a:xfrm>
                  <a:off x="283922" y="5100563"/>
                  <a:ext cx="3757614" cy="1236738"/>
                </a:xfrm>
                <a:prstGeom prst="rect">
                  <a:avLst/>
                </a:prstGeom>
                <a:solidFill>
                  <a:srgbClr val="E1EFD8"/>
                </a:solidFill>
                <a:ln cap="flat" cmpd="sng" w="19050">
                  <a:solidFill>
                    <a:srgbClr val="548135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r>
                    <a:t/>
                  </a:r>
                  <a:endParaRPr b="0" i="0" sz="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1" name="Google Shape;341;p11"/>
                <p:cNvSpPr/>
                <p:nvPr/>
              </p:nvSpPr>
              <p:spPr>
                <a:xfrm>
                  <a:off x="283922" y="5169951"/>
                  <a:ext cx="3792310" cy="1118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1" i="0" lang="ko-KR" sz="800" u="none" cap="none" strike="noStrike">
                      <a:solidFill>
                        <a:srgbClr val="385623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불법 미디어 </a:t>
                  </a:r>
                  <a:endParaRPr b="1" i="0" sz="800" u="none" cap="none" strike="noStrike">
                    <a:solidFill>
                      <a:srgbClr val="385623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1" i="0" lang="ko-KR" sz="800" u="none" cap="none" strike="noStrike">
                      <a:solidFill>
                        <a:srgbClr val="385623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유통 서비스 검출</a:t>
                  </a:r>
                  <a:endParaRPr b="0" i="0" sz="600" u="none" cap="none" strike="noStrike">
                    <a:solidFill>
                      <a:srgbClr val="385623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2" name="Google Shape;342;p11"/>
              <p:cNvGrpSpPr/>
              <p:nvPr/>
            </p:nvGrpSpPr>
            <p:grpSpPr>
              <a:xfrm>
                <a:off x="6754280" y="4010330"/>
                <a:ext cx="1115754" cy="414523"/>
                <a:chOff x="283922" y="5100563"/>
                <a:chExt cx="3792310" cy="1236738"/>
              </a:xfrm>
            </p:grpSpPr>
            <p:sp>
              <p:nvSpPr>
                <p:cNvPr id="343" name="Google Shape;343;p11"/>
                <p:cNvSpPr/>
                <p:nvPr/>
              </p:nvSpPr>
              <p:spPr>
                <a:xfrm>
                  <a:off x="283922" y="5100563"/>
                  <a:ext cx="3757614" cy="1236738"/>
                </a:xfrm>
                <a:prstGeom prst="rect">
                  <a:avLst/>
                </a:prstGeom>
                <a:solidFill>
                  <a:srgbClr val="E1EFD8"/>
                </a:solidFill>
                <a:ln cap="flat" cmpd="sng" w="19050">
                  <a:solidFill>
                    <a:srgbClr val="548135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r>
                    <a:t/>
                  </a:r>
                  <a:endParaRPr b="0" i="0" sz="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4" name="Google Shape;344;p11"/>
                <p:cNvSpPr/>
                <p:nvPr/>
              </p:nvSpPr>
              <p:spPr>
                <a:xfrm>
                  <a:off x="283922" y="5169951"/>
                  <a:ext cx="3792310" cy="1118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1" i="0" lang="ko-KR" sz="800" u="none" cap="none" strike="noStrike">
                      <a:solidFill>
                        <a:srgbClr val="385623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불법 콘텐츠 식별</a:t>
                  </a:r>
                  <a:endParaRPr b="1" i="0" sz="800" u="none" cap="none" strike="noStrike">
                    <a:solidFill>
                      <a:srgbClr val="385623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1" i="0" lang="ko-KR" sz="800" u="none" cap="none" strike="noStrike">
                      <a:solidFill>
                        <a:srgbClr val="385623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(저작권 침해 식별)</a:t>
                  </a:r>
                  <a:endParaRPr b="0" i="0" sz="600" u="none" cap="none" strike="noStrike">
                    <a:solidFill>
                      <a:srgbClr val="385623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5" name="Google Shape;345;p11"/>
              <p:cNvGrpSpPr/>
              <p:nvPr/>
            </p:nvGrpSpPr>
            <p:grpSpPr>
              <a:xfrm>
                <a:off x="8074269" y="4010330"/>
                <a:ext cx="1115754" cy="414523"/>
                <a:chOff x="283922" y="5100563"/>
                <a:chExt cx="3792310" cy="1236738"/>
              </a:xfrm>
            </p:grpSpPr>
            <p:sp>
              <p:nvSpPr>
                <p:cNvPr id="346" name="Google Shape;346;p11"/>
                <p:cNvSpPr/>
                <p:nvPr/>
              </p:nvSpPr>
              <p:spPr>
                <a:xfrm>
                  <a:off x="283922" y="5100563"/>
                  <a:ext cx="3757614" cy="1236738"/>
                </a:xfrm>
                <a:prstGeom prst="rect">
                  <a:avLst/>
                </a:prstGeom>
                <a:solidFill>
                  <a:srgbClr val="E1EFD8"/>
                </a:solidFill>
                <a:ln cap="flat" cmpd="sng" w="19050">
                  <a:solidFill>
                    <a:srgbClr val="548135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r>
                    <a:t/>
                  </a:r>
                  <a:endParaRPr b="0" i="0" sz="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" name="Google Shape;347;p11"/>
                <p:cNvSpPr/>
                <p:nvPr/>
              </p:nvSpPr>
              <p:spPr>
                <a:xfrm>
                  <a:off x="283922" y="5169951"/>
                  <a:ext cx="3792310" cy="1118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1" i="0" lang="ko-KR" sz="800" u="none" cap="none" strike="noStrike">
                      <a:solidFill>
                        <a:srgbClr val="385623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심의 증빙 생성</a:t>
                  </a:r>
                  <a:endParaRPr b="1" i="0" sz="800" u="none" cap="none" strike="noStrike">
                    <a:solidFill>
                      <a:srgbClr val="385623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1" i="0" lang="ko-KR" sz="800" u="none" cap="none" strike="noStrike">
                      <a:solidFill>
                        <a:srgbClr val="385623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ISP 차단 자동화</a:t>
                  </a:r>
                  <a:endParaRPr b="0" i="0" sz="600" u="none" cap="none" strike="noStrike">
                    <a:solidFill>
                      <a:srgbClr val="385623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48" name="Google Shape;348;p11"/>
            <p:cNvSpPr/>
            <p:nvPr/>
          </p:nvSpPr>
          <p:spPr>
            <a:xfrm>
              <a:off x="6582161" y="5339464"/>
              <a:ext cx="130286" cy="199861"/>
            </a:xfrm>
            <a:prstGeom prst="chevron">
              <a:avLst>
                <a:gd fmla="val 50000" name="adj"/>
              </a:avLst>
            </a:prstGeom>
            <a:solidFill>
              <a:srgbClr val="548135"/>
            </a:solidFill>
            <a:ln cap="flat" cmpd="sng" w="12700">
              <a:solidFill>
                <a:srgbClr val="54813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7907008" y="5339464"/>
              <a:ext cx="130286" cy="199861"/>
            </a:xfrm>
            <a:prstGeom prst="chevron">
              <a:avLst>
                <a:gd fmla="val 50000" name="adj"/>
              </a:avLst>
            </a:prstGeom>
            <a:solidFill>
              <a:srgbClr val="548135"/>
            </a:solidFill>
            <a:ln cap="flat" cmpd="sng" w="12700">
              <a:solidFill>
                <a:srgbClr val="54813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0" name="Google Shape;350;p11"/>
          <p:cNvSpPr txBox="1"/>
          <p:nvPr/>
        </p:nvSpPr>
        <p:spPr>
          <a:xfrm>
            <a:off x="7604091" y="-8798"/>
            <a:ext cx="2143536" cy="25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 3~6, 8~13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2. 국내외 현황</a:t>
            </a:r>
            <a:endParaRPr/>
          </a:p>
        </p:txBody>
      </p:sp>
      <p:sp>
        <p:nvSpPr>
          <p:cNvPr id="357" name="Google Shape;357;p12"/>
          <p:cNvSpPr txBox="1"/>
          <p:nvPr>
            <p:ph idx="1" type="body"/>
          </p:nvPr>
        </p:nvSpPr>
        <p:spPr>
          <a:xfrm>
            <a:off x="2108200" y="901700"/>
            <a:ext cx="568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ko-KR"/>
              <a:t>기술 및 경쟁사 현황</a:t>
            </a:r>
            <a:endParaRPr/>
          </a:p>
        </p:txBody>
      </p:sp>
      <p:grpSp>
        <p:nvGrpSpPr>
          <p:cNvPr id="358" name="Google Shape;358;p12"/>
          <p:cNvGrpSpPr/>
          <p:nvPr/>
        </p:nvGrpSpPr>
        <p:grpSpPr>
          <a:xfrm>
            <a:off x="810221" y="2090986"/>
            <a:ext cx="3625400" cy="4585897"/>
            <a:chOff x="0" y="586297"/>
            <a:chExt cx="9924472" cy="13696466"/>
          </a:xfrm>
        </p:grpSpPr>
        <p:grpSp>
          <p:nvGrpSpPr>
            <p:cNvPr id="359" name="Google Shape;359;p12"/>
            <p:cNvGrpSpPr/>
            <p:nvPr/>
          </p:nvGrpSpPr>
          <p:grpSpPr>
            <a:xfrm>
              <a:off x="0" y="586297"/>
              <a:ext cx="9906000" cy="11208179"/>
              <a:chOff x="0" y="586297"/>
              <a:chExt cx="9906000" cy="11208179"/>
            </a:xfrm>
          </p:grpSpPr>
          <p:pic>
            <p:nvPicPr>
              <p:cNvPr id="360" name="Google Shape;360;p1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586297"/>
                <a:ext cx="9906000" cy="57434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1" name="Google Shape;361;p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6303289"/>
                <a:ext cx="9906000" cy="54911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62" name="Google Shape;362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472" y="11785240"/>
              <a:ext cx="9906000" cy="24975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3" name="Google Shape;363;p12"/>
          <p:cNvSpPr/>
          <p:nvPr/>
        </p:nvSpPr>
        <p:spPr>
          <a:xfrm>
            <a:off x="588449" y="1654111"/>
            <a:ext cx="4068945" cy="324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200"/>
              <a:buFont typeface="Noto Sans Symbols"/>
              <a:buNone/>
            </a:pPr>
            <a:r>
              <a:rPr b="1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선행 기술 현황 및 컨소시엄 보유 기술과의 격차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4" name="Google Shape;364;p12"/>
          <p:cNvGrpSpPr/>
          <p:nvPr/>
        </p:nvGrpSpPr>
        <p:grpSpPr>
          <a:xfrm>
            <a:off x="5477129" y="2090986"/>
            <a:ext cx="3630795" cy="4607182"/>
            <a:chOff x="4373271" y="1581411"/>
            <a:chExt cx="4142656" cy="4981904"/>
          </a:xfrm>
        </p:grpSpPr>
        <p:grpSp>
          <p:nvGrpSpPr>
            <p:cNvPr id="365" name="Google Shape;365;p12"/>
            <p:cNvGrpSpPr/>
            <p:nvPr/>
          </p:nvGrpSpPr>
          <p:grpSpPr>
            <a:xfrm>
              <a:off x="4379427" y="1581411"/>
              <a:ext cx="4136500" cy="2838451"/>
              <a:chOff x="2548856" y="2445533"/>
              <a:chExt cx="9906000" cy="7812361"/>
            </a:xfrm>
          </p:grpSpPr>
          <p:pic>
            <p:nvPicPr>
              <p:cNvPr id="366" name="Google Shape;366;p12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2548856" y="2445533"/>
                <a:ext cx="9906000" cy="331040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7" name="Google Shape;367;p12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548856" y="5712393"/>
                <a:ext cx="9906000" cy="45455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68" name="Google Shape;368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373271" y="4447584"/>
              <a:ext cx="4136500" cy="21157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9" name="Google Shape;369;p12"/>
          <p:cNvSpPr/>
          <p:nvPr/>
        </p:nvSpPr>
        <p:spPr>
          <a:xfrm>
            <a:off x="5248607" y="1654111"/>
            <a:ext cx="4068945" cy="324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200"/>
              <a:buFont typeface="Noto Sans Symbols"/>
              <a:buNone/>
            </a:pPr>
            <a:r>
              <a:rPr b="1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지식재산권 확보·회피 방안 보유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"/>
          <p:cNvSpPr txBox="1"/>
          <p:nvPr/>
        </p:nvSpPr>
        <p:spPr>
          <a:xfrm>
            <a:off x="8169951" y="-8798"/>
            <a:ext cx="1577676" cy="25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 40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"/>
          <p:cNvSpPr txBox="1"/>
          <p:nvPr>
            <p:ph type="title"/>
          </p:nvPr>
        </p:nvSpPr>
        <p:spPr>
          <a:xfrm>
            <a:off x="2850184" y="3327358"/>
            <a:ext cx="3868589" cy="463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ko-KR"/>
              <a:t>기술성 및 연구개발 수행능력</a:t>
            </a:r>
            <a:endParaRPr/>
          </a:p>
        </p:txBody>
      </p:sp>
      <p:sp>
        <p:nvSpPr>
          <p:cNvPr id="377" name="Google Shape;377;p13"/>
          <p:cNvSpPr txBox="1"/>
          <p:nvPr>
            <p:ph idx="1" type="body"/>
          </p:nvPr>
        </p:nvSpPr>
        <p:spPr>
          <a:xfrm>
            <a:off x="2892178" y="4025899"/>
            <a:ext cx="6518522" cy="2403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0000" lvl="0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연구개발 목표의 도전성/혁신성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0000" lvl="0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추진체계 적정성 및 연구 개발 방법 창의성</a:t>
            </a:r>
            <a:endParaRPr/>
          </a:p>
          <a:p>
            <a:pPr indent="-360000" lvl="0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연구 책임자/연구팀 연구 개발역량</a:t>
            </a:r>
            <a:endParaRPr/>
          </a:p>
        </p:txBody>
      </p:sp>
      <p:sp>
        <p:nvSpPr>
          <p:cNvPr id="378" name="Google Shape;378;p13"/>
          <p:cNvSpPr txBox="1"/>
          <p:nvPr/>
        </p:nvSpPr>
        <p:spPr>
          <a:xfrm>
            <a:off x="1185738" y="2938764"/>
            <a:ext cx="932948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ko-KR" sz="8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Ⅱ</a:t>
            </a:r>
            <a:endParaRPr b="0" i="0" sz="8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4"/>
          <p:cNvSpPr/>
          <p:nvPr/>
        </p:nvSpPr>
        <p:spPr>
          <a:xfrm>
            <a:off x="2355960" y="2615700"/>
            <a:ext cx="5194080" cy="918127"/>
          </a:xfrm>
          <a:prstGeom prst="roundRect">
            <a:avLst>
              <a:gd fmla="val 50000" name="adj"/>
            </a:avLst>
          </a:prstGeom>
          <a:noFill/>
          <a:ln cap="flat" cmpd="sng" w="44450">
            <a:solidFill>
              <a:srgbClr val="058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기술 이전 및 사업화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4356672" y="2346173"/>
            <a:ext cx="1192656" cy="23477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  <a:effectLst>
            <a:outerShdw blurRad="50800" rotWithShape="0" dir="162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6" name="Google Shape;386;p14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1. 연구개발 목표의 도전성/혁신성</a:t>
            </a:r>
            <a:endParaRPr/>
          </a:p>
        </p:txBody>
      </p:sp>
      <p:sp>
        <p:nvSpPr>
          <p:cNvPr id="387" name="Google Shape;387;p14"/>
          <p:cNvSpPr txBox="1"/>
          <p:nvPr>
            <p:ph idx="1" type="body"/>
          </p:nvPr>
        </p:nvSpPr>
        <p:spPr>
          <a:xfrm>
            <a:off x="2108200" y="901700"/>
            <a:ext cx="568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ko-KR"/>
              <a:t>연구 개발 최종 목표</a:t>
            </a:r>
            <a:endParaRPr/>
          </a:p>
        </p:txBody>
      </p:sp>
      <p:sp>
        <p:nvSpPr>
          <p:cNvPr id="388" name="Google Shape;388;p14"/>
          <p:cNvSpPr txBox="1"/>
          <p:nvPr/>
        </p:nvSpPr>
        <p:spPr>
          <a:xfrm>
            <a:off x="8169951" y="-8798"/>
            <a:ext cx="1577676" cy="25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 14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4"/>
          <p:cNvSpPr txBox="1"/>
          <p:nvPr/>
        </p:nvSpPr>
        <p:spPr>
          <a:xfrm>
            <a:off x="398487" y="1610307"/>
            <a:ext cx="91090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FF6372"/>
                </a:solidFill>
                <a:latin typeface="Arial"/>
                <a:ea typeface="Arial"/>
                <a:cs typeface="Arial"/>
                <a:sym typeface="Arial"/>
              </a:rPr>
              <a:t>“불법 서비스 조기 검출을 통한 국내 미디어 생태계 성장 도모”</a:t>
            </a:r>
            <a:endParaRPr b="0" i="0" sz="2400" u="none" cap="none" strike="noStrike">
              <a:solidFill>
                <a:srgbClr val="FF63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0" name="Google Shape;390;p14"/>
          <p:cNvGrpSpPr/>
          <p:nvPr/>
        </p:nvGrpSpPr>
        <p:grpSpPr>
          <a:xfrm rot="-5400000">
            <a:off x="4747775" y="711343"/>
            <a:ext cx="410449" cy="6055421"/>
            <a:chOff x="1974" y="2096"/>
            <a:chExt cx="336" cy="1720"/>
          </a:xfrm>
        </p:grpSpPr>
        <p:sp>
          <p:nvSpPr>
            <p:cNvPr id="391" name="Google Shape;391;p14"/>
            <p:cNvSpPr/>
            <p:nvPr/>
          </p:nvSpPr>
          <p:spPr>
            <a:xfrm flipH="1">
              <a:off x="2019" y="2096"/>
              <a:ext cx="291" cy="1720"/>
            </a:xfrm>
            <a:prstGeom prst="leftBrace">
              <a:avLst>
                <a:gd fmla="val 71201" name="adj1"/>
                <a:gd fmla="val 50000" name="adj2"/>
              </a:avLst>
            </a:prstGeom>
            <a:gradFill>
              <a:gsLst>
                <a:gs pos="0">
                  <a:srgbClr val="DDDDDD"/>
                </a:gs>
                <a:gs pos="100000">
                  <a:srgbClr val="F5F6F5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4"/>
            <p:cNvSpPr txBox="1"/>
            <p:nvPr/>
          </p:nvSpPr>
          <p:spPr>
            <a:xfrm flipH="1" rot="5400000">
              <a:off x="1252" y="2884"/>
              <a:ext cx="1599" cy="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Gulim"/>
                <a:buNone/>
              </a:pPr>
              <a:r>
                <a:t/>
              </a:r>
              <a:endPara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4"/>
            <p:cNvSpPr/>
            <p:nvPr/>
          </p:nvSpPr>
          <p:spPr>
            <a:xfrm flipH="1">
              <a:off x="1983" y="2096"/>
              <a:ext cx="291" cy="1720"/>
            </a:xfrm>
            <a:prstGeom prst="leftBrace">
              <a:avLst>
                <a:gd fmla="val 73890" name="adj1"/>
                <a:gd fmla="val 50000" name="adj2"/>
              </a:avLst>
            </a:prstGeom>
            <a:gradFill>
              <a:gsLst>
                <a:gs pos="0">
                  <a:srgbClr val="757575"/>
                </a:gs>
                <a:gs pos="11000">
                  <a:srgbClr val="757575"/>
                </a:gs>
                <a:gs pos="32000">
                  <a:srgbClr val="B2B2B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4"/>
            <p:cNvSpPr txBox="1"/>
            <p:nvPr/>
          </p:nvSpPr>
          <p:spPr>
            <a:xfrm flipH="1" rot="5400000">
              <a:off x="1229" y="2884"/>
              <a:ext cx="1594" cy="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Gulim"/>
                <a:buNone/>
              </a:pPr>
              <a:r>
                <a:t/>
              </a:r>
              <a:endPara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5" name="Google Shape;395;p14"/>
          <p:cNvGrpSpPr/>
          <p:nvPr/>
        </p:nvGrpSpPr>
        <p:grpSpPr>
          <a:xfrm rot="-5400000">
            <a:off x="4747775" y="2804555"/>
            <a:ext cx="410449" cy="6055421"/>
            <a:chOff x="1974" y="2096"/>
            <a:chExt cx="336" cy="1720"/>
          </a:xfrm>
        </p:grpSpPr>
        <p:sp>
          <p:nvSpPr>
            <p:cNvPr id="396" name="Google Shape;396;p14"/>
            <p:cNvSpPr/>
            <p:nvPr/>
          </p:nvSpPr>
          <p:spPr>
            <a:xfrm flipH="1">
              <a:off x="2019" y="2096"/>
              <a:ext cx="291" cy="1720"/>
            </a:xfrm>
            <a:prstGeom prst="leftBrace">
              <a:avLst>
                <a:gd fmla="val 71201" name="adj1"/>
                <a:gd fmla="val 50000" name="adj2"/>
              </a:avLst>
            </a:prstGeom>
            <a:gradFill>
              <a:gsLst>
                <a:gs pos="0">
                  <a:srgbClr val="DDDDDD"/>
                </a:gs>
                <a:gs pos="100000">
                  <a:srgbClr val="F5F6F5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4"/>
            <p:cNvSpPr txBox="1"/>
            <p:nvPr/>
          </p:nvSpPr>
          <p:spPr>
            <a:xfrm flipH="1" rot="5400000">
              <a:off x="1252" y="2884"/>
              <a:ext cx="1599" cy="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Gulim"/>
                <a:buNone/>
              </a:pPr>
              <a:r>
                <a:t/>
              </a:r>
              <a:endPara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4"/>
            <p:cNvSpPr/>
            <p:nvPr/>
          </p:nvSpPr>
          <p:spPr>
            <a:xfrm flipH="1">
              <a:off x="1983" y="2096"/>
              <a:ext cx="291" cy="1720"/>
            </a:xfrm>
            <a:prstGeom prst="leftBrace">
              <a:avLst>
                <a:gd fmla="val 73890" name="adj1"/>
                <a:gd fmla="val 50000" name="adj2"/>
              </a:avLst>
            </a:prstGeom>
            <a:gradFill>
              <a:gsLst>
                <a:gs pos="0">
                  <a:srgbClr val="757575"/>
                </a:gs>
                <a:gs pos="11000">
                  <a:srgbClr val="757575"/>
                </a:gs>
                <a:gs pos="32000">
                  <a:srgbClr val="B2B2B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4"/>
            <p:cNvSpPr txBox="1"/>
            <p:nvPr/>
          </p:nvSpPr>
          <p:spPr>
            <a:xfrm flipH="1" rot="5400000">
              <a:off x="1229" y="2884"/>
              <a:ext cx="1594" cy="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Gulim"/>
                <a:buNone/>
              </a:pPr>
              <a:r>
                <a:t/>
              </a:r>
              <a:endPara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14"/>
          <p:cNvSpPr/>
          <p:nvPr/>
        </p:nvSpPr>
        <p:spPr>
          <a:xfrm>
            <a:off x="5016851" y="5991776"/>
            <a:ext cx="3964515" cy="439953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미디어 유통 서비스 식별 연구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908336" y="5991776"/>
            <a:ext cx="3964515" cy="439953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의심 사이트 탐색 및 접속 연구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1056104" y="3883767"/>
            <a:ext cx="2516400" cy="756000"/>
          </a:xfrm>
          <a:prstGeom prst="roundRect">
            <a:avLst>
              <a:gd fmla="val 16667" name="adj"/>
            </a:avLst>
          </a:prstGeom>
          <a:solidFill>
            <a:srgbClr val="2689B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의심 사이트 DB 구축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3694800" y="3883767"/>
            <a:ext cx="2516400" cy="756000"/>
          </a:xfrm>
          <a:prstGeom prst="roundRect">
            <a:avLst>
              <a:gd fmla="val 16667" name="adj"/>
            </a:avLst>
          </a:prstGeom>
          <a:solidFill>
            <a:srgbClr val="2689B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사이트 식별 기술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6333496" y="3883767"/>
            <a:ext cx="2516400" cy="756000"/>
          </a:xfrm>
          <a:prstGeom prst="roundRect">
            <a:avLst>
              <a:gd fmla="val 16667" name="adj"/>
            </a:avLst>
          </a:prstGeom>
          <a:solidFill>
            <a:srgbClr val="2689B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콘텐츠 식별 기술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2372750" y="4750307"/>
            <a:ext cx="2516400" cy="756000"/>
          </a:xfrm>
          <a:prstGeom prst="roundRect">
            <a:avLst>
              <a:gd fmla="val 16667" name="adj"/>
            </a:avLst>
          </a:prstGeom>
          <a:solidFill>
            <a:srgbClr val="2689B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사이트 접속 및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구조 분석 기술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5016851" y="4750307"/>
            <a:ext cx="2516400" cy="756000"/>
          </a:xfrm>
          <a:prstGeom prst="roundRect">
            <a:avLst>
              <a:gd fmla="val 16667" name="adj"/>
            </a:avLst>
          </a:prstGeom>
          <a:solidFill>
            <a:srgbClr val="2689B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검증 정보 생성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및 차단 기술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" name="Google Shape;4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6336" y="3078163"/>
            <a:ext cx="1581957" cy="37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5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1. 연구개발 목표의 도전성/혁신성</a:t>
            </a:r>
            <a:endParaRPr/>
          </a:p>
        </p:txBody>
      </p:sp>
      <p:sp>
        <p:nvSpPr>
          <p:cNvPr id="414" name="Google Shape;414;p15"/>
          <p:cNvSpPr txBox="1"/>
          <p:nvPr>
            <p:ph idx="1" type="body"/>
          </p:nvPr>
        </p:nvSpPr>
        <p:spPr>
          <a:xfrm>
            <a:off x="2108200" y="901700"/>
            <a:ext cx="568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ko-KR"/>
              <a:t>기술 개발 목표 및 세계 최고 기술과 비교</a:t>
            </a:r>
            <a:endParaRPr/>
          </a:p>
        </p:txBody>
      </p:sp>
      <p:sp>
        <p:nvSpPr>
          <p:cNvPr id="415" name="Google Shape;415;p15"/>
          <p:cNvSpPr txBox="1"/>
          <p:nvPr/>
        </p:nvSpPr>
        <p:spPr>
          <a:xfrm>
            <a:off x="2481580" y="3229094"/>
            <a:ext cx="49631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5"/>
          <p:cNvSpPr txBox="1"/>
          <p:nvPr/>
        </p:nvSpPr>
        <p:spPr>
          <a:xfrm>
            <a:off x="7982400" y="-8798"/>
            <a:ext cx="1765227" cy="25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</a:t>
            </a: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p. 2, 15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7" name="Google Shape;417;p15"/>
          <p:cNvGraphicFramePr/>
          <p:nvPr/>
        </p:nvGraphicFramePr>
        <p:xfrm>
          <a:off x="262010" y="15077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{48FDC05E-379E-4F7F-B2B9-D55E55C8228D}</a:tableStyleId>
              </a:tblPr>
              <a:tblGrid>
                <a:gridCol w="2059475"/>
                <a:gridCol w="1878525"/>
                <a:gridCol w="1878525"/>
                <a:gridCol w="1135375"/>
                <a:gridCol w="1098050"/>
                <a:gridCol w="1332000"/>
              </a:tblGrid>
              <a:tr h="2871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5EA9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성과지표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5EA9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목표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5EA9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담당기관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5EA9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평가방법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5EA9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SOTA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5EA9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(보유국/기관명)</a:t>
                      </a:r>
                      <a:endParaRPr b="1" i="0" sz="1400" u="none" cap="none" strike="noStrike">
                        <a:solidFill>
                          <a:srgbClr val="345EA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</a:tr>
              <a:tr h="2871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5EA9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1년차</a:t>
                      </a:r>
                      <a:endParaRPr b="1" i="0" sz="1400" u="none" cap="none" strike="noStrike">
                        <a:solidFill>
                          <a:srgbClr val="345EA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5EA9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2년차</a:t>
                      </a:r>
                      <a:endParaRPr b="1" i="0" sz="1400" u="none" cap="none" strike="noStrike">
                        <a:solidFill>
                          <a:srgbClr val="345EA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 vMerge="1"/>
                <a:tc vMerge="1"/>
                <a:tc vMerge="1"/>
              </a:tr>
              <a:tr h="903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식별 정확도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(Accuracy)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2B55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cap="none" strike="noStrike">
                          <a:solidFill>
                            <a:srgbClr val="EE2B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95% 이상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㈜마크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클라우드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KOLAS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인증 기관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성능 평가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(외부 기관)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3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영상 일치 여부 확률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(F1 Score)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2B55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cap="none" strike="noStrike">
                          <a:solidFill>
                            <a:srgbClr val="EE2B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95% 이상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92.50%*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(한국/한양대학교)</a:t>
                      </a:r>
                      <a:b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ko-KR" sz="11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*mAP 기준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3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텍스트 판단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파이프라인 속도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(Transaction/Sec)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2B55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cap="none" strike="noStrike">
                          <a:solidFill>
                            <a:srgbClr val="EE2B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페이지당</a:t>
                      </a:r>
                      <a:endParaRPr sz="1600" u="none" cap="none" strike="noStrike">
                        <a:solidFill>
                          <a:srgbClr val="EE2B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2B55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cap="none" strike="noStrike">
                          <a:solidFill>
                            <a:srgbClr val="EE2B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3초 이내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3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이미지 판단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파이프라인 속도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(Transaction/Sec)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2B55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cap="none" strike="noStrike">
                          <a:solidFill>
                            <a:srgbClr val="EE2B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페이지당</a:t>
                      </a:r>
                      <a:endParaRPr sz="1600" u="none" cap="none" strike="noStrike">
                        <a:solidFill>
                          <a:srgbClr val="EE2B5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2B55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cap="none" strike="noStrike">
                          <a:solidFill>
                            <a:srgbClr val="EE2B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3초 이내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8" name="Google Shape;418;p15"/>
          <p:cNvSpPr/>
          <p:nvPr/>
        </p:nvSpPr>
        <p:spPr>
          <a:xfrm>
            <a:off x="1080770" y="6024653"/>
            <a:ext cx="7764780" cy="642705"/>
          </a:xfrm>
          <a:prstGeom prst="roundRect">
            <a:avLst>
              <a:gd fmla="val 16667" name="adj"/>
            </a:avLst>
          </a:prstGeom>
          <a:solidFill>
            <a:srgbClr val="FF6372"/>
          </a:solidFill>
          <a:ln>
            <a:noFill/>
          </a:ln>
        </p:spPr>
        <p:txBody>
          <a:bodyPr anchorCtr="0" anchor="ctr" bIns="45700" lIns="72000" spcFirstLastPara="1" rIns="72000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ko-K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도전성 : 상용화 수준의 기술 개발이지만, 기술 개발 목표를 세계 최고 수준보다 높게 책정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i="0" lang="ko-K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객관성 : 모든 기술 개발 지표 외부기관 평가 진행 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6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1. 연구개발 목표의 도전성/혁신성</a:t>
            </a:r>
            <a:endParaRPr/>
          </a:p>
        </p:txBody>
      </p:sp>
      <p:sp>
        <p:nvSpPr>
          <p:cNvPr id="425" name="Google Shape;425;p16"/>
          <p:cNvSpPr txBox="1"/>
          <p:nvPr/>
        </p:nvSpPr>
        <p:spPr>
          <a:xfrm>
            <a:off x="7225782" y="-8798"/>
            <a:ext cx="2521845" cy="25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</a:t>
            </a: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p. 16 / 본문 2 p.15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6" name="Google Shape;426;p16"/>
          <p:cNvGraphicFramePr/>
          <p:nvPr/>
        </p:nvGraphicFramePr>
        <p:xfrm>
          <a:off x="221794" y="15963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{48FDC05E-379E-4F7F-B2B9-D55E55C8228D}</a:tableStyleId>
              </a:tblPr>
              <a:tblGrid>
                <a:gridCol w="1667325"/>
                <a:gridCol w="3897550"/>
                <a:gridCol w="3897550"/>
              </a:tblGrid>
              <a:tr h="5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5EA9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성과지표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5EA9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성능 지표 측정 방법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5EA9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성능 목표치 근거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</a:tr>
              <a:tr h="108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식별 정확도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(Accuracy)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해당 도메인의 벤치마크 없음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그러나 실효성을 고려하여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높은 성능 제시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영상 일치 여부 확률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(F1 Score)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해당 도메인의 벤치마크 없음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그러나 실효성을 고려하여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높은 성능 제시</a:t>
                      </a:r>
                      <a:endParaRPr sz="1400" u="none" cap="none" strike="noStrike"/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텍스트 판단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파이프라인 속도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(Transaction/Sec)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해당 도메인의 벤치마크 없음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실제 서비스 환경에서 안정적인 운용을 고려하여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3초 이내의 목표치 제시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이미지 판단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파이프라인 속도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(Transaction/Sec)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해당 도메인의 벤치마크 없음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실제 서비스 환경에서 안정적인 운용을 고려하여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3초 이내의 목표치 제시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00" marB="17900" marR="17900" marL="1790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7" name="Google Shape;427;p16"/>
          <p:cNvSpPr txBox="1"/>
          <p:nvPr>
            <p:ph idx="1" type="body"/>
          </p:nvPr>
        </p:nvSpPr>
        <p:spPr>
          <a:xfrm>
            <a:off x="2108200" y="901700"/>
            <a:ext cx="568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ko-KR"/>
              <a:t>기술 개발 목표 측정 방법 및 근거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7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1. 연구개발 목표의 도전성/혁신성</a:t>
            </a:r>
            <a:endParaRPr/>
          </a:p>
        </p:txBody>
      </p:sp>
      <p:sp>
        <p:nvSpPr>
          <p:cNvPr id="434" name="Google Shape;434;p17"/>
          <p:cNvSpPr txBox="1"/>
          <p:nvPr>
            <p:ph idx="1" type="body"/>
          </p:nvPr>
        </p:nvSpPr>
        <p:spPr>
          <a:xfrm>
            <a:off x="2108200" y="901700"/>
            <a:ext cx="568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ko-KR"/>
              <a:t>연구 개발 기술의 전체 개요</a:t>
            </a:r>
            <a:endParaRPr/>
          </a:p>
        </p:txBody>
      </p:sp>
      <p:sp>
        <p:nvSpPr>
          <p:cNvPr id="435" name="Google Shape;435;p17"/>
          <p:cNvSpPr txBox="1"/>
          <p:nvPr/>
        </p:nvSpPr>
        <p:spPr>
          <a:xfrm>
            <a:off x="7923089" y="-8798"/>
            <a:ext cx="1824538" cy="25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p.14~34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261682" y="1937294"/>
            <a:ext cx="3045722" cy="3835554"/>
          </a:xfrm>
          <a:prstGeom prst="roundRect">
            <a:avLst>
              <a:gd fmla="val 2012" name="adj"/>
            </a:avLst>
          </a:prstGeom>
          <a:noFill/>
          <a:ln cap="flat" cmpd="sng" w="12700">
            <a:solidFill>
              <a:srgbClr val="A26E4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335782" y="1702344"/>
            <a:ext cx="2897522" cy="469900"/>
          </a:xfrm>
          <a:prstGeom prst="roundRect">
            <a:avLst>
              <a:gd fmla="val 16667" name="adj"/>
            </a:avLst>
          </a:prstGeom>
          <a:solidFill>
            <a:srgbClr val="A26E4C"/>
          </a:solidFill>
          <a:ln cap="flat" cmpd="sng" w="9525">
            <a:solidFill>
              <a:srgbClr val="A26E4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의심 사이트 탐색 및 접속 연구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427052" y="2351686"/>
            <a:ext cx="2714982" cy="1871782"/>
          </a:xfrm>
          <a:prstGeom prst="roundRect">
            <a:avLst>
              <a:gd fmla="val 5154" name="adj"/>
            </a:avLst>
          </a:prstGeom>
          <a:solidFill>
            <a:srgbClr val="161154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ko-K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의심 사이트 탐색 및 DB 구축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#저작권 전문가 기반 소스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#SNS(개방형, 폐쇄형) 기반 소스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#검색어 기반 소스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#네트워크 관계 기반 소스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#유사 링크 탐색 및 역추적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427052" y="4390281"/>
            <a:ext cx="2714982" cy="1232305"/>
          </a:xfrm>
          <a:prstGeom prst="roundRect">
            <a:avLst>
              <a:gd fmla="val 5154" name="adj"/>
            </a:avLst>
          </a:prstGeom>
          <a:solidFill>
            <a:srgbClr val="161154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ko-K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사이트 접속 및 구조 분석 기술 개발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#보안 메커니즘 동적 우회 자동화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#DOM 구조 분석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3430139" y="1937294"/>
            <a:ext cx="3045722" cy="3835554"/>
          </a:xfrm>
          <a:prstGeom prst="roundRect">
            <a:avLst>
              <a:gd fmla="val 2012" name="adj"/>
            </a:avLst>
          </a:prstGeom>
          <a:noFill/>
          <a:ln cap="flat" cmpd="sng" w="12700">
            <a:solidFill>
              <a:srgbClr val="A26E4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3504239" y="1702344"/>
            <a:ext cx="2897522" cy="469900"/>
          </a:xfrm>
          <a:prstGeom prst="roundRect">
            <a:avLst>
              <a:gd fmla="val 16667" name="adj"/>
            </a:avLst>
          </a:prstGeom>
          <a:solidFill>
            <a:srgbClr val="A26E4C"/>
          </a:solidFill>
          <a:ln cap="flat" cmpd="sng" w="9525">
            <a:solidFill>
              <a:srgbClr val="A26E4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미디어 유통 서비스 식별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3595509" y="2351686"/>
            <a:ext cx="2714982" cy="1871782"/>
          </a:xfrm>
          <a:prstGeom prst="roundRect">
            <a:avLst>
              <a:gd fmla="val 5154" name="adj"/>
            </a:avLst>
          </a:prstGeom>
          <a:solidFill>
            <a:srgbClr val="161154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ko-K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사이트 식별 기술 개발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#불법 콘텐츠 식별 방법론 연구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#페이지별 정보 수집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#불법 이미지 분류 모델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#불법 텍스트 분류 모델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#웹사이트 연결 구조 분석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3595509" y="4390281"/>
            <a:ext cx="2714982" cy="1232305"/>
          </a:xfrm>
          <a:prstGeom prst="roundRect">
            <a:avLst>
              <a:gd fmla="val 5154" name="adj"/>
            </a:avLst>
          </a:prstGeom>
          <a:solidFill>
            <a:srgbClr val="161154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ko-K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콘텐츠 식별 기술 개발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#비교 대상 영상 샘플링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#저작권 영상 키프레인 추출 및 임베딩 저장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#영상 유사도 비교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6595836" y="4650954"/>
            <a:ext cx="3045722" cy="743645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미디어 유통 서비스 검출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및 차단 서비스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6595836" y="1937294"/>
            <a:ext cx="3045722" cy="2286174"/>
          </a:xfrm>
          <a:prstGeom prst="roundRect">
            <a:avLst>
              <a:gd fmla="val 2012" name="adj"/>
            </a:avLst>
          </a:prstGeom>
          <a:noFill/>
          <a:ln cap="flat" cmpd="sng" w="12700">
            <a:solidFill>
              <a:srgbClr val="A26E4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6669936" y="1702344"/>
            <a:ext cx="2897522" cy="469900"/>
          </a:xfrm>
          <a:prstGeom prst="roundRect">
            <a:avLst>
              <a:gd fmla="val 16667" name="adj"/>
            </a:avLst>
          </a:prstGeom>
          <a:solidFill>
            <a:srgbClr val="A26E4C"/>
          </a:solidFill>
          <a:ln cap="flat" cmpd="sng" w="9525">
            <a:solidFill>
              <a:srgbClr val="A26E4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사이트 차단 자동화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7"/>
          <p:cNvSpPr/>
          <p:nvPr/>
        </p:nvSpPr>
        <p:spPr>
          <a:xfrm rot="5400000">
            <a:off x="7956831" y="4261901"/>
            <a:ext cx="323732" cy="3365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C8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261680" y="6036095"/>
            <a:ext cx="9379877" cy="393700"/>
          </a:xfrm>
          <a:prstGeom prst="roundRect">
            <a:avLst>
              <a:gd fmla="val 16667" name="adj"/>
            </a:avLst>
          </a:prstGeom>
          <a:solidFill>
            <a:srgbClr val="4188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ko-K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언론 홍보 / 포럼 개최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7"/>
          <p:cNvSpPr txBox="1"/>
          <p:nvPr/>
        </p:nvSpPr>
        <p:spPr>
          <a:xfrm>
            <a:off x="6822181" y="5431473"/>
            <a:ext cx="25930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시범 적용, 고도화, 상용화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6761206" y="2351686"/>
            <a:ext cx="2714982" cy="1681334"/>
          </a:xfrm>
          <a:prstGeom prst="roundRect">
            <a:avLst>
              <a:gd fmla="val 5154" name="adj"/>
            </a:avLst>
          </a:prstGeom>
          <a:solidFill>
            <a:srgbClr val="161154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ko-K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검증 정보 생성 및 차단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#심의 증빙 생성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#심의 증빙 제출 연동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#ISP 서비스 연동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#자동 경고장 생성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8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1. 연구개발 목표의 도전성/혁신성</a:t>
            </a:r>
            <a:endParaRPr/>
          </a:p>
        </p:txBody>
      </p:sp>
      <p:sp>
        <p:nvSpPr>
          <p:cNvPr id="457" name="Google Shape;457;p18"/>
          <p:cNvSpPr txBox="1"/>
          <p:nvPr/>
        </p:nvSpPr>
        <p:spPr>
          <a:xfrm>
            <a:off x="7923089" y="-8798"/>
            <a:ext cx="1824538" cy="25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p.14~34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8"/>
          <p:cNvSpPr txBox="1"/>
          <p:nvPr>
            <p:ph idx="1" type="body"/>
          </p:nvPr>
        </p:nvSpPr>
        <p:spPr>
          <a:xfrm>
            <a:off x="2108200" y="901700"/>
            <a:ext cx="568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ko-KR"/>
              <a:t>혁신성 1. 다중채널 소스 분석을 통한 불법 의심 사이트 DB 구축 기술</a:t>
            </a:r>
            <a:endParaRPr/>
          </a:p>
        </p:txBody>
      </p:sp>
      <p:sp>
        <p:nvSpPr>
          <p:cNvPr id="459" name="Google Shape;459;p18"/>
          <p:cNvSpPr txBox="1"/>
          <p:nvPr/>
        </p:nvSpPr>
        <p:spPr>
          <a:xfrm>
            <a:off x="133008" y="5828304"/>
            <a:ext cx="42757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인력 기반으로 불법 의심 사이트를 탐지하여,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DB 구축 시 장시간, 고비용 필요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8"/>
          <p:cNvSpPr txBox="1"/>
          <p:nvPr/>
        </p:nvSpPr>
        <p:spPr>
          <a:xfrm>
            <a:off x="5497246" y="5689804"/>
            <a:ext cx="427574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SNS, 검색어, 네트워크 관계 등</a:t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다중채널 소스 분석을 통한</a:t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대량의 불법 의심 사이트 DB 구축 가능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3773117" y="1635848"/>
            <a:ext cx="2359765" cy="30689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19EBC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6573841" y="1635848"/>
            <a:ext cx="2122559" cy="304392"/>
          </a:xfrm>
          <a:prstGeom prst="roundRect">
            <a:avLst>
              <a:gd fmla="val 16667" name="adj"/>
            </a:avLst>
          </a:prstGeom>
          <a:solidFill>
            <a:srgbClr val="0E6590"/>
          </a:solidFill>
          <a:ln cap="flat" cmpd="sng" w="12700">
            <a:solidFill>
              <a:srgbClr val="0E65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개발 후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1209601" y="1635848"/>
            <a:ext cx="2122559" cy="30439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E65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0E6590"/>
                </a:solidFill>
                <a:latin typeface="Arial"/>
                <a:ea typeface="Arial"/>
                <a:cs typeface="Arial"/>
                <a:sym typeface="Arial"/>
              </a:rPr>
              <a:t>개발 전</a:t>
            </a:r>
            <a:endParaRPr b="0" i="0" sz="1800" u="none" cap="none" strike="noStrike">
              <a:solidFill>
                <a:srgbClr val="0E659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4" name="Google Shape;464;p18"/>
          <p:cNvGrpSpPr/>
          <p:nvPr/>
        </p:nvGrpSpPr>
        <p:grpSpPr>
          <a:xfrm>
            <a:off x="437936" y="3394107"/>
            <a:ext cx="3665892" cy="1005900"/>
            <a:chOff x="341180" y="3394107"/>
            <a:chExt cx="3665892" cy="1005900"/>
          </a:xfrm>
        </p:grpSpPr>
        <p:grpSp>
          <p:nvGrpSpPr>
            <p:cNvPr id="465" name="Google Shape;465;p18"/>
            <p:cNvGrpSpPr/>
            <p:nvPr/>
          </p:nvGrpSpPr>
          <p:grpSpPr>
            <a:xfrm>
              <a:off x="341180" y="3394107"/>
              <a:ext cx="1128882" cy="1005900"/>
              <a:chOff x="883731" y="3965613"/>
              <a:chExt cx="1492867" cy="1330232"/>
            </a:xfrm>
          </p:grpSpPr>
          <p:pic>
            <p:nvPicPr>
              <p:cNvPr descr="Teamwork icon" id="466" name="Google Shape;466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83731" y="3965613"/>
                <a:ext cx="1140052" cy="114005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Magnifying glass icon" id="467" name="Google Shape;467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1453757" y="4373004"/>
                <a:ext cx="922841" cy="9228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Document icon" id="468" name="Google Shape;468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40322" y="3413682"/>
              <a:ext cx="966750" cy="966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18"/>
            <p:cNvSpPr/>
            <p:nvPr/>
          </p:nvSpPr>
          <p:spPr>
            <a:xfrm>
              <a:off x="1868458" y="3728782"/>
              <a:ext cx="773469" cy="33655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Document icon" id="470" name="Google Shape;4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23304" y="3413682"/>
            <a:ext cx="966750" cy="9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1" name="Google Shape;471;p18"/>
          <p:cNvGrpSpPr/>
          <p:nvPr/>
        </p:nvGrpSpPr>
        <p:grpSpPr>
          <a:xfrm>
            <a:off x="5058179" y="2810491"/>
            <a:ext cx="3174928" cy="2459435"/>
            <a:chOff x="4939934" y="2810491"/>
            <a:chExt cx="3174928" cy="2459435"/>
          </a:xfrm>
        </p:grpSpPr>
        <p:grpSp>
          <p:nvGrpSpPr>
            <p:cNvPr id="472" name="Google Shape;472;p18"/>
            <p:cNvGrpSpPr/>
            <p:nvPr/>
          </p:nvGrpSpPr>
          <p:grpSpPr>
            <a:xfrm>
              <a:off x="5538917" y="2810491"/>
              <a:ext cx="2575945" cy="2173132"/>
              <a:chOff x="338325" y="3326920"/>
              <a:chExt cx="2575945" cy="2173132"/>
            </a:xfrm>
          </p:grpSpPr>
          <p:pic>
            <p:nvPicPr>
              <p:cNvPr id="473" name="Google Shape;473;p1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8325" y="3326920"/>
                <a:ext cx="1885163" cy="96675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</p:pic>
          <p:pic>
            <p:nvPicPr>
              <p:cNvPr id="474" name="Google Shape;474;p1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627490" y="3630089"/>
                <a:ext cx="1286780" cy="112227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</p:pic>
          <p:pic>
            <p:nvPicPr>
              <p:cNvPr id="475" name="Google Shape;475;p18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77530" y="4204982"/>
                <a:ext cx="1494033" cy="12950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</p:pic>
        </p:grpSp>
        <p:pic>
          <p:nvPicPr>
            <p:cNvPr id="476" name="Google Shape;476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383017" y="3516908"/>
              <a:ext cx="532742" cy="5321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7" name="Google Shape;477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017128" y="4545007"/>
              <a:ext cx="536282" cy="5321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8" name="Google Shape;478;p1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379903" y="4737741"/>
              <a:ext cx="535856" cy="5321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9" name="Google Shape;479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484972" y="4095682"/>
              <a:ext cx="532185" cy="5321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0" name="Google Shape;480;p1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939934" y="4205556"/>
              <a:ext cx="536407" cy="5321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1" name="Google Shape;481;p18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017157" y="3903190"/>
              <a:ext cx="536224" cy="53218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2" name="Google Shape;482;p18"/>
          <p:cNvSpPr/>
          <p:nvPr/>
        </p:nvSpPr>
        <p:spPr>
          <a:xfrm>
            <a:off x="8002451" y="3788754"/>
            <a:ext cx="773469" cy="3365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8"/>
          <p:cNvSpPr/>
          <p:nvPr/>
        </p:nvSpPr>
        <p:spPr>
          <a:xfrm rot="-1116768">
            <a:off x="7811623" y="4363706"/>
            <a:ext cx="1034343" cy="38003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8"/>
          <p:cNvSpPr/>
          <p:nvPr/>
        </p:nvSpPr>
        <p:spPr>
          <a:xfrm rot="1370072">
            <a:off x="7782286" y="3177145"/>
            <a:ext cx="1034344" cy="3365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9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1. 연구개발 목표의 도전성/혁신성</a:t>
            </a:r>
            <a:endParaRPr/>
          </a:p>
        </p:txBody>
      </p:sp>
      <p:sp>
        <p:nvSpPr>
          <p:cNvPr id="491" name="Google Shape;491;p19"/>
          <p:cNvSpPr txBox="1"/>
          <p:nvPr/>
        </p:nvSpPr>
        <p:spPr>
          <a:xfrm>
            <a:off x="7923089" y="-8798"/>
            <a:ext cx="1824538" cy="25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p.14~34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9"/>
          <p:cNvSpPr txBox="1"/>
          <p:nvPr>
            <p:ph idx="1" type="body"/>
          </p:nvPr>
        </p:nvSpPr>
        <p:spPr>
          <a:xfrm>
            <a:off x="2108200" y="901700"/>
            <a:ext cx="568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ko-KR"/>
              <a:t>혁신성 2. LLM 활용 DOM 구조 맥락 분석을 통한 의미론적 정보 추출 기술</a:t>
            </a: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3773117" y="1635848"/>
            <a:ext cx="2359765" cy="30689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19EBC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6573840" y="1635848"/>
            <a:ext cx="2122559" cy="304392"/>
          </a:xfrm>
          <a:prstGeom prst="roundRect">
            <a:avLst>
              <a:gd fmla="val 16667" name="adj"/>
            </a:avLst>
          </a:prstGeom>
          <a:solidFill>
            <a:srgbClr val="0E6590"/>
          </a:solidFill>
          <a:ln cap="flat" cmpd="sng" w="12700">
            <a:solidFill>
              <a:srgbClr val="0E65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개발 후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1209601" y="1635848"/>
            <a:ext cx="2122559" cy="30439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E65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0E6590"/>
                </a:solidFill>
                <a:latin typeface="Arial"/>
                <a:ea typeface="Arial"/>
                <a:cs typeface="Arial"/>
                <a:sym typeface="Arial"/>
              </a:rPr>
              <a:t>개발 전</a:t>
            </a:r>
            <a:endParaRPr b="0" i="0" sz="1800" u="none" cap="none" strike="noStrike">
              <a:solidFill>
                <a:srgbClr val="0E659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9"/>
          <p:cNvSpPr txBox="1"/>
          <p:nvPr/>
        </p:nvSpPr>
        <p:spPr>
          <a:xfrm>
            <a:off x="133008" y="5789022"/>
            <a:ext cx="42757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사전 지정된 불법 키워드 기반</a:t>
            </a:r>
            <a:r>
              <a:rPr b="0" i="0" lang="ko-KR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으로만</a:t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불법 의심 사이트를 판별</a:t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9"/>
          <p:cNvSpPr txBox="1"/>
          <p:nvPr/>
        </p:nvSpPr>
        <p:spPr>
          <a:xfrm>
            <a:off x="5497246" y="5789022"/>
            <a:ext cx="42757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LLM 활용 DOM 구조 맥락 분석을 통한</a:t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의미론적 정보 추출 가능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8" name="Google Shape;498;p19"/>
          <p:cNvPicPr preferRelativeResize="0"/>
          <p:nvPr/>
        </p:nvPicPr>
        <p:blipFill rotWithShape="1">
          <a:blip r:embed="rId3">
            <a:alphaModFix/>
          </a:blip>
          <a:srcRect b="0" l="6173" r="0" t="28964"/>
          <a:stretch/>
        </p:blipFill>
        <p:spPr>
          <a:xfrm>
            <a:off x="206198" y="2755991"/>
            <a:ext cx="3804004" cy="1860385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9"/>
          <p:cNvSpPr/>
          <p:nvPr/>
        </p:nvSpPr>
        <p:spPr>
          <a:xfrm>
            <a:off x="1558212" y="3704253"/>
            <a:ext cx="2080727" cy="15862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9"/>
          <p:cNvSpPr txBox="1"/>
          <p:nvPr/>
        </p:nvSpPr>
        <p:spPr>
          <a:xfrm>
            <a:off x="2228850" y="3891085"/>
            <a:ext cx="2787019" cy="307777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“다시보기” 키워드 🡪 불법 사이트</a:t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9159" y="2464031"/>
            <a:ext cx="4603835" cy="2856844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19"/>
          <p:cNvSpPr txBox="1"/>
          <p:nvPr/>
        </p:nvSpPr>
        <p:spPr>
          <a:xfrm>
            <a:off x="7324725" y="5222152"/>
            <a:ext cx="2484949" cy="307777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유연한 불법 키워드 탐지 가능</a:t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0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1. 연구개발 목표의 도전성/혁신성</a:t>
            </a:r>
            <a:endParaRPr/>
          </a:p>
        </p:txBody>
      </p:sp>
      <p:sp>
        <p:nvSpPr>
          <p:cNvPr id="509" name="Google Shape;509;p20"/>
          <p:cNvSpPr txBox="1"/>
          <p:nvPr/>
        </p:nvSpPr>
        <p:spPr>
          <a:xfrm>
            <a:off x="7923089" y="-8798"/>
            <a:ext cx="1824538" cy="25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p.14~34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0"/>
          <p:cNvSpPr txBox="1"/>
          <p:nvPr>
            <p:ph idx="1" type="body"/>
          </p:nvPr>
        </p:nvSpPr>
        <p:spPr>
          <a:xfrm>
            <a:off x="2108200" y="901700"/>
            <a:ext cx="568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ko-KR"/>
              <a:t>혁신성 3. AI 기반 보안 메커니즘 인식 및 동적 우회 기술</a:t>
            </a:r>
            <a:endParaRPr/>
          </a:p>
        </p:txBody>
      </p:sp>
      <p:sp>
        <p:nvSpPr>
          <p:cNvPr id="511" name="Google Shape;511;p20"/>
          <p:cNvSpPr/>
          <p:nvPr/>
        </p:nvSpPr>
        <p:spPr>
          <a:xfrm>
            <a:off x="3773117" y="1635848"/>
            <a:ext cx="2359765" cy="30689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19EBC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6573840" y="1635848"/>
            <a:ext cx="2122559" cy="304392"/>
          </a:xfrm>
          <a:prstGeom prst="roundRect">
            <a:avLst>
              <a:gd fmla="val 16667" name="adj"/>
            </a:avLst>
          </a:prstGeom>
          <a:solidFill>
            <a:srgbClr val="0E6590"/>
          </a:solidFill>
          <a:ln cap="flat" cmpd="sng" w="12700">
            <a:solidFill>
              <a:srgbClr val="0E65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개발 후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1205416" y="1635848"/>
            <a:ext cx="2122559" cy="30439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E65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0E6590"/>
                </a:solidFill>
                <a:latin typeface="Arial"/>
                <a:ea typeface="Arial"/>
                <a:cs typeface="Arial"/>
                <a:sym typeface="Arial"/>
              </a:rPr>
              <a:t>개발 전</a:t>
            </a:r>
            <a:endParaRPr b="0" i="0" sz="1800" u="none" cap="none" strike="noStrike">
              <a:solidFill>
                <a:srgbClr val="0E659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0"/>
          <p:cNvSpPr txBox="1"/>
          <p:nvPr/>
        </p:nvSpPr>
        <p:spPr>
          <a:xfrm>
            <a:off x="128821" y="5789700"/>
            <a:ext cx="42757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보안 메커니즘(캡챠)으로 인한</a:t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불법 사이트 자동 탐지 불가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0"/>
          <p:cNvSpPr txBox="1"/>
          <p:nvPr/>
        </p:nvSpPr>
        <p:spPr>
          <a:xfrm>
            <a:off x="5497246" y="5651200"/>
            <a:ext cx="427574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AI기반 보안 메커니즘 인식 및</a:t>
            </a:r>
            <a:br>
              <a:rPr b="0" i="0" lang="ko-KR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동적 우회 기술을 통한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불법 사이트 자동 탐지 가능</a:t>
            </a:r>
            <a:endParaRPr b="1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6" name="Google Shape;516;p20"/>
          <p:cNvPicPr preferRelativeResize="0"/>
          <p:nvPr/>
        </p:nvPicPr>
        <p:blipFill rotWithShape="1">
          <a:blip r:embed="rId3">
            <a:alphaModFix/>
          </a:blip>
          <a:srcRect b="1511" l="1088" r="2144" t="724"/>
          <a:stretch/>
        </p:blipFill>
        <p:spPr>
          <a:xfrm>
            <a:off x="5339467" y="2823279"/>
            <a:ext cx="1467023" cy="2346296"/>
          </a:xfrm>
          <a:prstGeom prst="rect">
            <a:avLst/>
          </a:prstGeom>
          <a:noFill/>
          <a:ln>
            <a:noFill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</p:pic>
      <p:pic>
        <p:nvPicPr>
          <p:cNvPr descr="Configuration icon" id="517" name="Google Shape;51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8114" y="3534855"/>
            <a:ext cx="923330" cy="923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불법 복제 " id="518" name="Google Shape;51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53068" y="3435723"/>
            <a:ext cx="996315" cy="996315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20"/>
          <p:cNvSpPr/>
          <p:nvPr/>
        </p:nvSpPr>
        <p:spPr>
          <a:xfrm>
            <a:off x="8190376" y="3757167"/>
            <a:ext cx="346964" cy="3365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0" name="Google Shape;520;p20"/>
          <p:cNvGrpSpPr/>
          <p:nvPr/>
        </p:nvGrpSpPr>
        <p:grpSpPr>
          <a:xfrm>
            <a:off x="7773826" y="3956121"/>
            <a:ext cx="534346" cy="530285"/>
            <a:chOff x="2703177" y="3200400"/>
            <a:chExt cx="381000" cy="381000"/>
          </a:xfrm>
        </p:grpSpPr>
        <p:sp>
          <p:nvSpPr>
            <p:cNvPr id="521" name="Google Shape;521;p20"/>
            <p:cNvSpPr/>
            <p:nvPr/>
          </p:nvSpPr>
          <p:spPr>
            <a:xfrm>
              <a:off x="2732713" y="3238704"/>
              <a:ext cx="321927" cy="30439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Check icon" id="522" name="Google Shape;522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03177" y="32004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3" name="Google Shape;523;p20"/>
          <p:cNvSpPr/>
          <p:nvPr/>
        </p:nvSpPr>
        <p:spPr>
          <a:xfrm>
            <a:off x="6861150" y="3757167"/>
            <a:ext cx="346964" cy="3365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0"/>
          <p:cNvSpPr txBox="1"/>
          <p:nvPr/>
        </p:nvSpPr>
        <p:spPr>
          <a:xfrm>
            <a:off x="6806490" y="4600761"/>
            <a:ext cx="22327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200"/>
              <a:buFont typeface="Arial"/>
              <a:buChar char="•"/>
            </a:pPr>
            <a:r>
              <a:rPr b="1" i="0" lang="ko-KR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웹사이트 로그인 우회 기술</a:t>
            </a:r>
            <a:endParaRPr b="1" i="0" sz="1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200"/>
              <a:buFont typeface="Arial"/>
              <a:buChar char="•"/>
            </a:pPr>
            <a:r>
              <a:rPr b="1" i="0" lang="ko-KR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캡차 보안 메커니즘 우회 기술</a:t>
            </a:r>
            <a:endParaRPr b="1" i="0" sz="1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200"/>
              <a:buFont typeface="Arial"/>
              <a:buChar char="•"/>
            </a:pPr>
            <a:r>
              <a:rPr b="1" i="0" lang="ko-KR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폐쇄형 SNS 자동화 접근 기술</a:t>
            </a:r>
            <a:endParaRPr b="1" i="0" sz="1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llegal Special Lineal color icon" id="525" name="Google Shape;525;p20"/>
          <p:cNvPicPr preferRelativeResize="0"/>
          <p:nvPr/>
        </p:nvPicPr>
        <p:blipFill rotWithShape="1">
          <a:blip r:embed="rId7">
            <a:alphaModFix/>
          </a:blip>
          <a:srcRect b="35677" l="0" r="0" t="35416"/>
          <a:stretch/>
        </p:blipFill>
        <p:spPr>
          <a:xfrm rot="1203401">
            <a:off x="8428542" y="3178878"/>
            <a:ext cx="1381476" cy="399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5103" y="2722252"/>
            <a:ext cx="4243184" cy="254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1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1. 연구개발 목표의 도전성/혁신성</a:t>
            </a:r>
            <a:endParaRPr/>
          </a:p>
        </p:txBody>
      </p:sp>
      <p:sp>
        <p:nvSpPr>
          <p:cNvPr id="533" name="Google Shape;533;p21"/>
          <p:cNvSpPr txBox="1"/>
          <p:nvPr/>
        </p:nvSpPr>
        <p:spPr>
          <a:xfrm>
            <a:off x="7923089" y="-8798"/>
            <a:ext cx="1824538" cy="25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p.14~34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1"/>
          <p:cNvSpPr txBox="1"/>
          <p:nvPr>
            <p:ph idx="1" type="body"/>
          </p:nvPr>
        </p:nvSpPr>
        <p:spPr>
          <a:xfrm>
            <a:off x="2108200" y="901700"/>
            <a:ext cx="568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ko-KR"/>
              <a:t>혁신성 4. 다차원적인 분석을 통한 정확도 높은 불법 식별 기술</a:t>
            </a:r>
            <a:endParaRPr/>
          </a:p>
        </p:txBody>
      </p:sp>
      <p:grpSp>
        <p:nvGrpSpPr>
          <p:cNvPr id="535" name="Google Shape;535;p21"/>
          <p:cNvGrpSpPr/>
          <p:nvPr/>
        </p:nvGrpSpPr>
        <p:grpSpPr>
          <a:xfrm>
            <a:off x="1209601" y="1635848"/>
            <a:ext cx="7486798" cy="306890"/>
            <a:chOff x="1209601" y="1635848"/>
            <a:chExt cx="7486798" cy="306890"/>
          </a:xfrm>
        </p:grpSpPr>
        <p:sp>
          <p:nvSpPr>
            <p:cNvPr id="536" name="Google Shape;536;p21"/>
            <p:cNvSpPr/>
            <p:nvPr/>
          </p:nvSpPr>
          <p:spPr>
            <a:xfrm>
              <a:off x="3773117" y="1635848"/>
              <a:ext cx="2359765" cy="30689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219EBC"/>
            </a:solidFill>
            <a:ln>
              <a:noFill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1"/>
            <p:cNvSpPr/>
            <p:nvPr/>
          </p:nvSpPr>
          <p:spPr>
            <a:xfrm>
              <a:off x="6573840" y="1635848"/>
              <a:ext cx="2122559" cy="304392"/>
            </a:xfrm>
            <a:prstGeom prst="roundRect">
              <a:avLst>
                <a:gd fmla="val 16667" name="adj"/>
              </a:avLst>
            </a:prstGeom>
            <a:solidFill>
              <a:srgbClr val="0E6590"/>
            </a:solidFill>
            <a:ln cap="flat" cmpd="sng" w="12700">
              <a:solidFill>
                <a:srgbClr val="0E659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개발 후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21"/>
            <p:cNvSpPr/>
            <p:nvPr/>
          </p:nvSpPr>
          <p:spPr>
            <a:xfrm>
              <a:off x="1209601" y="1635848"/>
              <a:ext cx="2122559" cy="304392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0E659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0E6590"/>
                  </a:solidFill>
                  <a:latin typeface="Arial"/>
                  <a:ea typeface="Arial"/>
                  <a:cs typeface="Arial"/>
                  <a:sym typeface="Arial"/>
                </a:rPr>
                <a:t>개발 전</a:t>
              </a:r>
              <a:endParaRPr b="0" i="0" sz="1800" u="none" cap="none" strike="noStrike">
                <a:solidFill>
                  <a:srgbClr val="0E659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9" name="Google Shape;539;p21"/>
          <p:cNvSpPr txBox="1"/>
          <p:nvPr/>
        </p:nvSpPr>
        <p:spPr>
          <a:xfrm>
            <a:off x="133008" y="5775745"/>
            <a:ext cx="42757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저작권 영상과의 비교를 통한</a:t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불법 여부 식별</a:t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1"/>
          <p:cNvSpPr txBox="1"/>
          <p:nvPr/>
        </p:nvSpPr>
        <p:spPr>
          <a:xfrm>
            <a:off x="5497246" y="5637245"/>
            <a:ext cx="427574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이미지, 텍스트, 영상, 네트워크 관계 등</a:t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다차원적인 분석을 통한</a:t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정확도 높은 불법 식별 기술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1" name="Google Shape;541;p21"/>
          <p:cNvGrpSpPr/>
          <p:nvPr/>
        </p:nvGrpSpPr>
        <p:grpSpPr>
          <a:xfrm>
            <a:off x="196606" y="2029629"/>
            <a:ext cx="4148552" cy="3514109"/>
            <a:chOff x="260204" y="2029629"/>
            <a:chExt cx="4148552" cy="3514109"/>
          </a:xfrm>
        </p:grpSpPr>
        <p:pic>
          <p:nvPicPr>
            <p:cNvPr id="542" name="Google Shape;542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39749" y="4035091"/>
              <a:ext cx="2365405" cy="13305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3" name="Google Shape;543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0204" y="2350889"/>
              <a:ext cx="2759090" cy="1513742"/>
            </a:xfrm>
            <a:prstGeom prst="rect">
              <a:avLst/>
            </a:prstGeom>
            <a:noFill/>
            <a:ln>
              <a:noFill/>
            </a:ln>
            <a:effectLst>
              <a:outerShdw blurRad="63500" sx="102000" rotWithShape="0" algn="ctr" sy="102000">
                <a:srgbClr val="000000">
                  <a:alpha val="40000"/>
                </a:srgbClr>
              </a:outerShdw>
            </a:effectLst>
          </p:spPr>
        </p:pic>
        <p:sp>
          <p:nvSpPr>
            <p:cNvPr id="544" name="Google Shape;544;p21"/>
            <p:cNvSpPr txBox="1"/>
            <p:nvPr/>
          </p:nvSpPr>
          <p:spPr>
            <a:xfrm>
              <a:off x="3429001" y="5205184"/>
              <a:ext cx="979755" cy="338554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ko-KR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원본 영상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21"/>
            <p:cNvSpPr txBox="1"/>
            <p:nvPr/>
          </p:nvSpPr>
          <p:spPr>
            <a:xfrm>
              <a:off x="2626840" y="3620438"/>
              <a:ext cx="986167" cy="33855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ko-KR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불법 영상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1"/>
            <p:cNvSpPr/>
            <p:nvPr/>
          </p:nvSpPr>
          <p:spPr>
            <a:xfrm rot="-2611978">
              <a:off x="1806203" y="3470252"/>
              <a:ext cx="501650" cy="963797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ED184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Illegal Special Lineal color icon" id="547" name="Google Shape;547;p21"/>
            <p:cNvPicPr preferRelativeResize="0"/>
            <p:nvPr/>
          </p:nvPicPr>
          <p:blipFill rotWithShape="1">
            <a:blip r:embed="rId5">
              <a:alphaModFix/>
            </a:blip>
            <a:srcRect b="35677" l="0" r="0" t="35416"/>
            <a:stretch/>
          </p:blipFill>
          <p:spPr>
            <a:xfrm rot="1203401">
              <a:off x="1889080" y="2254408"/>
              <a:ext cx="1381476" cy="39933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8" name="Google Shape;548;p21"/>
          <p:cNvGrpSpPr/>
          <p:nvPr/>
        </p:nvGrpSpPr>
        <p:grpSpPr>
          <a:xfrm>
            <a:off x="5588450" y="2733222"/>
            <a:ext cx="4209929" cy="2478920"/>
            <a:chOff x="5588450" y="2733222"/>
            <a:chExt cx="4209929" cy="2478920"/>
          </a:xfrm>
        </p:grpSpPr>
        <p:grpSp>
          <p:nvGrpSpPr>
            <p:cNvPr id="549" name="Google Shape;549;p21"/>
            <p:cNvGrpSpPr/>
            <p:nvPr/>
          </p:nvGrpSpPr>
          <p:grpSpPr>
            <a:xfrm>
              <a:off x="5588450" y="2751468"/>
              <a:ext cx="4209929" cy="2453716"/>
              <a:chOff x="0" y="542192"/>
              <a:chExt cx="9906000" cy="5773615"/>
            </a:xfrm>
          </p:grpSpPr>
          <p:pic>
            <p:nvPicPr>
              <p:cNvPr id="550" name="Google Shape;550;p2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0" y="542192"/>
                <a:ext cx="9906000" cy="577361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1" name="Google Shape;551;p21"/>
              <p:cNvSpPr/>
              <p:nvPr/>
            </p:nvSpPr>
            <p:spPr>
              <a:xfrm>
                <a:off x="2787427" y="2511591"/>
                <a:ext cx="790556" cy="268748"/>
              </a:xfrm>
              <a:prstGeom prst="rect">
                <a:avLst/>
              </a:prstGeom>
              <a:noFill/>
              <a:ln cap="flat" cmpd="sng" w="28575">
                <a:solidFill>
                  <a:srgbClr val="FFFF00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21"/>
              <p:cNvSpPr/>
              <p:nvPr/>
            </p:nvSpPr>
            <p:spPr>
              <a:xfrm>
                <a:off x="2688147" y="2846195"/>
                <a:ext cx="6083388" cy="3469612"/>
              </a:xfrm>
              <a:prstGeom prst="rect">
                <a:avLst/>
              </a:prstGeom>
              <a:noFill/>
              <a:ln cap="flat" cmpd="sng" w="28575">
                <a:solidFill>
                  <a:srgbClr val="FFFF00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21"/>
              <p:cNvSpPr/>
              <p:nvPr/>
            </p:nvSpPr>
            <p:spPr>
              <a:xfrm>
                <a:off x="2839916" y="1159623"/>
                <a:ext cx="6784572" cy="1080481"/>
              </a:xfrm>
              <a:prstGeom prst="rect">
                <a:avLst/>
              </a:prstGeom>
              <a:noFill/>
              <a:ln cap="flat" cmpd="sng" w="28575">
                <a:solidFill>
                  <a:srgbClr val="FFFF00"/>
                </a:solidFill>
                <a:prstDash val="dash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54" name="Google Shape;554;p21"/>
            <p:cNvSpPr txBox="1"/>
            <p:nvPr/>
          </p:nvSpPr>
          <p:spPr>
            <a:xfrm>
              <a:off x="6480152" y="2733222"/>
              <a:ext cx="222655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0000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ko-KR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불법 광고 이미지 탐지</a:t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21"/>
            <p:cNvSpPr txBox="1"/>
            <p:nvPr/>
          </p:nvSpPr>
          <p:spPr>
            <a:xfrm>
              <a:off x="7062645" y="3473060"/>
              <a:ext cx="153843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0000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ko-KR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불법 텍스트 탐지</a:t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21"/>
            <p:cNvSpPr txBox="1"/>
            <p:nvPr/>
          </p:nvSpPr>
          <p:spPr>
            <a:xfrm>
              <a:off x="7565149" y="4904365"/>
              <a:ext cx="18083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0000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ko-KR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불법 유통 콘텐츠 탐지</a:t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2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1. 연구개발 목표의 도전성/혁신성</a:t>
            </a:r>
            <a:endParaRPr/>
          </a:p>
        </p:txBody>
      </p:sp>
      <p:sp>
        <p:nvSpPr>
          <p:cNvPr id="563" name="Google Shape;563;p22"/>
          <p:cNvSpPr txBox="1"/>
          <p:nvPr/>
        </p:nvSpPr>
        <p:spPr>
          <a:xfrm>
            <a:off x="7923089" y="-8798"/>
            <a:ext cx="1824538" cy="25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p.14~34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2"/>
          <p:cNvSpPr txBox="1"/>
          <p:nvPr>
            <p:ph idx="1" type="body"/>
          </p:nvPr>
        </p:nvSpPr>
        <p:spPr>
          <a:xfrm>
            <a:off x="2108200" y="901700"/>
            <a:ext cx="568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ko-KR"/>
              <a:t>혁신성 5. LLM 기반 불법 근거 포함 법적 문서 자동 생성 및 신고/차단 기술</a:t>
            </a:r>
            <a:endParaRPr/>
          </a:p>
        </p:txBody>
      </p:sp>
      <p:grpSp>
        <p:nvGrpSpPr>
          <p:cNvPr id="565" name="Google Shape;565;p22"/>
          <p:cNvGrpSpPr/>
          <p:nvPr/>
        </p:nvGrpSpPr>
        <p:grpSpPr>
          <a:xfrm>
            <a:off x="1209601" y="1635848"/>
            <a:ext cx="7486798" cy="306890"/>
            <a:chOff x="1209601" y="1635848"/>
            <a:chExt cx="7486798" cy="306890"/>
          </a:xfrm>
        </p:grpSpPr>
        <p:sp>
          <p:nvSpPr>
            <p:cNvPr id="566" name="Google Shape;566;p22"/>
            <p:cNvSpPr/>
            <p:nvPr/>
          </p:nvSpPr>
          <p:spPr>
            <a:xfrm>
              <a:off x="3773117" y="1635848"/>
              <a:ext cx="2359765" cy="30689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219EBC"/>
            </a:solidFill>
            <a:ln>
              <a:noFill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6573840" y="1635848"/>
              <a:ext cx="2122559" cy="304392"/>
            </a:xfrm>
            <a:prstGeom prst="roundRect">
              <a:avLst>
                <a:gd fmla="val 16667" name="adj"/>
              </a:avLst>
            </a:prstGeom>
            <a:solidFill>
              <a:srgbClr val="0E6590"/>
            </a:solidFill>
            <a:ln cap="flat" cmpd="sng" w="12700">
              <a:solidFill>
                <a:srgbClr val="0E659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개발 후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1209601" y="1635848"/>
              <a:ext cx="2122559" cy="304392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0E659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0E6590"/>
                  </a:solidFill>
                  <a:latin typeface="Arial"/>
                  <a:ea typeface="Arial"/>
                  <a:cs typeface="Arial"/>
                  <a:sym typeface="Arial"/>
                </a:rPr>
                <a:t>개발 전</a:t>
              </a:r>
              <a:endParaRPr b="0" i="0" sz="1800" u="none" cap="none" strike="noStrike">
                <a:solidFill>
                  <a:srgbClr val="0E659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9" name="Google Shape;569;p22"/>
          <p:cNvSpPr txBox="1"/>
          <p:nvPr/>
        </p:nvSpPr>
        <p:spPr>
          <a:xfrm>
            <a:off x="133008" y="5789022"/>
            <a:ext cx="42757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수동 심의 신청으로,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신청 – 확인 – 차단까지 장기간 소요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2"/>
          <p:cNvSpPr txBox="1"/>
          <p:nvPr/>
        </p:nvSpPr>
        <p:spPr>
          <a:xfrm>
            <a:off x="5497246" y="5512022"/>
            <a:ext cx="427574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LLM을 활용하여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심의 증빙, 경고장 등 불법 근거를 포함한</a:t>
            </a:r>
            <a:br>
              <a:rPr b="0" i="0" lang="ko-KR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법적 문서를 </a:t>
            </a:r>
            <a:r>
              <a:rPr b="1" i="0" lang="ko-K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자동 생성 및 신고</a:t>
            </a:r>
            <a:r>
              <a:rPr b="0" i="0" lang="ko-KR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하여</a:t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신속한 차단 가능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1" name="Google Shape;571;p22"/>
          <p:cNvGrpSpPr/>
          <p:nvPr/>
        </p:nvGrpSpPr>
        <p:grpSpPr>
          <a:xfrm>
            <a:off x="134579" y="2241939"/>
            <a:ext cx="4272607" cy="3393006"/>
            <a:chOff x="136149" y="2116771"/>
            <a:chExt cx="4272607" cy="3393006"/>
          </a:xfrm>
        </p:grpSpPr>
        <p:pic>
          <p:nvPicPr>
            <p:cNvPr id="572" name="Google Shape;572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6149" y="2116771"/>
              <a:ext cx="3278558" cy="2861713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pic>
        <p:pic>
          <p:nvPicPr>
            <p:cNvPr id="573" name="Google Shape;573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08556" y="3557152"/>
              <a:ext cx="1600200" cy="1952625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pic>
      </p:grpSp>
      <p:pic>
        <p:nvPicPr>
          <p:cNvPr id="574" name="Google Shape;574;p22"/>
          <p:cNvPicPr preferRelativeResize="0"/>
          <p:nvPr/>
        </p:nvPicPr>
        <p:blipFill rotWithShape="1">
          <a:blip r:embed="rId5">
            <a:alphaModFix/>
          </a:blip>
          <a:srcRect b="0" l="0" r="1046" t="0"/>
          <a:stretch/>
        </p:blipFill>
        <p:spPr>
          <a:xfrm>
            <a:off x="5206178" y="2913566"/>
            <a:ext cx="4699822" cy="2049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3"/>
          <p:cNvSpPr/>
          <p:nvPr/>
        </p:nvSpPr>
        <p:spPr>
          <a:xfrm>
            <a:off x="145541" y="1417340"/>
            <a:ext cx="9614915" cy="500138"/>
          </a:xfrm>
          <a:prstGeom prst="rect">
            <a:avLst/>
          </a:prstGeom>
          <a:solidFill>
            <a:srgbClr val="CDE9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rgbClr val="058FB6"/>
                </a:solidFill>
                <a:latin typeface="Arial"/>
                <a:ea typeface="Arial"/>
                <a:cs typeface="Arial"/>
                <a:sym typeface="Arial"/>
              </a:rPr>
              <a:t>불법 의심 사이트 탐색 및 DB 구축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3"/>
          <p:cNvSpPr/>
          <p:nvPr/>
        </p:nvSpPr>
        <p:spPr>
          <a:xfrm>
            <a:off x="145543" y="1417340"/>
            <a:ext cx="9614914" cy="514221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3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2. 추진 체계 적정성 및 연구 개발 방법의 창의성_구체성</a:t>
            </a:r>
            <a:endParaRPr/>
          </a:p>
        </p:txBody>
      </p:sp>
      <p:sp>
        <p:nvSpPr>
          <p:cNvPr id="583" name="Google Shape;583;p23"/>
          <p:cNvSpPr txBox="1"/>
          <p:nvPr/>
        </p:nvSpPr>
        <p:spPr>
          <a:xfrm>
            <a:off x="7923089" y="-8798"/>
            <a:ext cx="1824538" cy="25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p.14~34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3"/>
          <p:cNvSpPr/>
          <p:nvPr/>
        </p:nvSpPr>
        <p:spPr>
          <a:xfrm>
            <a:off x="145542" y="904775"/>
            <a:ext cx="3202847" cy="512565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rgbClr val="058FB6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의심 사이트 탐색 및 접속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3"/>
          <p:cNvSpPr/>
          <p:nvPr/>
        </p:nvSpPr>
        <p:spPr>
          <a:xfrm>
            <a:off x="3347470" y="1141221"/>
            <a:ext cx="3218353" cy="276119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불법 미디어 유통 서비스 식별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3"/>
          <p:cNvSpPr/>
          <p:nvPr/>
        </p:nvSpPr>
        <p:spPr>
          <a:xfrm>
            <a:off x="6565823" y="1141221"/>
            <a:ext cx="3194634" cy="276119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불법 사이트 차단 자동화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7" name="Google Shape;587;p23"/>
          <p:cNvGrpSpPr/>
          <p:nvPr/>
        </p:nvGrpSpPr>
        <p:grpSpPr>
          <a:xfrm>
            <a:off x="3703595" y="2214240"/>
            <a:ext cx="459272" cy="387774"/>
            <a:chOff x="4172203" y="5407312"/>
            <a:chExt cx="567481" cy="479138"/>
          </a:xfrm>
        </p:grpSpPr>
        <p:sp>
          <p:nvSpPr>
            <p:cNvPr id="588" name="Google Shape;588;p23"/>
            <p:cNvSpPr/>
            <p:nvPr/>
          </p:nvSpPr>
          <p:spPr>
            <a:xfrm>
              <a:off x="4260546" y="5407312"/>
              <a:ext cx="479138" cy="479138"/>
            </a:xfrm>
            <a:prstGeom prst="diamond">
              <a:avLst/>
            </a:prstGeom>
            <a:noFill/>
            <a:ln cap="flat" cmpd="sng" w="19050">
              <a:solidFill>
                <a:srgbClr val="058FB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4172203" y="5407312"/>
              <a:ext cx="479138" cy="479138"/>
            </a:xfrm>
            <a:prstGeom prst="diamond">
              <a:avLst/>
            </a:prstGeom>
            <a:solidFill>
              <a:srgbClr val="058F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0" name="Google Shape;590;p23"/>
          <p:cNvSpPr txBox="1"/>
          <p:nvPr/>
        </p:nvSpPr>
        <p:spPr>
          <a:xfrm>
            <a:off x="4140601" y="2115740"/>
            <a:ext cx="162479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SNS 기반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소스 수집 기술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1" name="Google Shape;591;p23"/>
          <p:cNvGrpSpPr/>
          <p:nvPr/>
        </p:nvGrpSpPr>
        <p:grpSpPr>
          <a:xfrm>
            <a:off x="6878904" y="2214240"/>
            <a:ext cx="459272" cy="387774"/>
            <a:chOff x="4172203" y="5407312"/>
            <a:chExt cx="567481" cy="479138"/>
          </a:xfrm>
        </p:grpSpPr>
        <p:sp>
          <p:nvSpPr>
            <p:cNvPr id="592" name="Google Shape;592;p23"/>
            <p:cNvSpPr/>
            <p:nvPr/>
          </p:nvSpPr>
          <p:spPr>
            <a:xfrm>
              <a:off x="4260546" y="5407312"/>
              <a:ext cx="479138" cy="479138"/>
            </a:xfrm>
            <a:prstGeom prst="diamond">
              <a:avLst/>
            </a:prstGeom>
            <a:noFill/>
            <a:ln cap="flat" cmpd="sng" w="19050">
              <a:solidFill>
                <a:srgbClr val="058FB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4172203" y="5407312"/>
              <a:ext cx="479138" cy="479138"/>
            </a:xfrm>
            <a:prstGeom prst="diamond">
              <a:avLst/>
            </a:prstGeom>
            <a:solidFill>
              <a:srgbClr val="058F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4" name="Google Shape;594;p23"/>
          <p:cNvSpPr txBox="1"/>
          <p:nvPr/>
        </p:nvSpPr>
        <p:spPr>
          <a:xfrm>
            <a:off x="7312349" y="2238850"/>
            <a:ext cx="1800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검색어 기반 소스 수집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3"/>
          <p:cNvSpPr txBox="1"/>
          <p:nvPr/>
        </p:nvSpPr>
        <p:spPr>
          <a:xfrm>
            <a:off x="785579" y="2115740"/>
            <a:ext cx="1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불법 사이트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데이터베이스 구축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6" name="Google Shape;596;p23"/>
          <p:cNvGrpSpPr/>
          <p:nvPr/>
        </p:nvGrpSpPr>
        <p:grpSpPr>
          <a:xfrm>
            <a:off x="371200" y="2214240"/>
            <a:ext cx="459272" cy="387774"/>
            <a:chOff x="4172203" y="5407312"/>
            <a:chExt cx="567481" cy="479138"/>
          </a:xfrm>
        </p:grpSpPr>
        <p:sp>
          <p:nvSpPr>
            <p:cNvPr id="597" name="Google Shape;597;p23"/>
            <p:cNvSpPr/>
            <p:nvPr/>
          </p:nvSpPr>
          <p:spPr>
            <a:xfrm>
              <a:off x="4260546" y="5407312"/>
              <a:ext cx="479138" cy="479138"/>
            </a:xfrm>
            <a:prstGeom prst="diamond">
              <a:avLst/>
            </a:prstGeom>
            <a:noFill/>
            <a:ln cap="flat" cmpd="sng" w="19050">
              <a:solidFill>
                <a:srgbClr val="058FB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23"/>
            <p:cNvSpPr/>
            <p:nvPr/>
          </p:nvSpPr>
          <p:spPr>
            <a:xfrm>
              <a:off x="4172203" y="5407312"/>
              <a:ext cx="479138" cy="479138"/>
            </a:xfrm>
            <a:prstGeom prst="diamond">
              <a:avLst/>
            </a:prstGeom>
            <a:solidFill>
              <a:srgbClr val="058F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9" name="Google Shape;599;p23"/>
          <p:cNvCxnSpPr/>
          <p:nvPr/>
        </p:nvCxnSpPr>
        <p:spPr>
          <a:xfrm>
            <a:off x="3347470" y="2168276"/>
            <a:ext cx="0" cy="4212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lgDash"/>
            <a:miter lim="8000"/>
            <a:headEnd len="sm" w="sm" type="none"/>
            <a:tailEnd len="sm" w="sm" type="none"/>
          </a:ln>
        </p:spPr>
      </p:cxnSp>
      <p:cxnSp>
        <p:nvCxnSpPr>
          <p:cNvPr id="600" name="Google Shape;600;p23"/>
          <p:cNvCxnSpPr/>
          <p:nvPr/>
        </p:nvCxnSpPr>
        <p:spPr>
          <a:xfrm>
            <a:off x="6568450" y="2168276"/>
            <a:ext cx="0" cy="4212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601" name="Google Shape;601;p23"/>
          <p:cNvSpPr txBox="1"/>
          <p:nvPr/>
        </p:nvSpPr>
        <p:spPr>
          <a:xfrm>
            <a:off x="755020" y="2799015"/>
            <a:ext cx="227581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불법 사이트 DB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스키마 설계 및 구축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3"/>
          <p:cNvSpPr txBox="1"/>
          <p:nvPr/>
        </p:nvSpPr>
        <p:spPr>
          <a:xfrm>
            <a:off x="3961247" y="2799015"/>
            <a:ext cx="234554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개방형/폐쇄형 SNS에서의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불법사이트 공유 방법 분석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개방형/폐쇄형 SNS에서의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불법사이트 </a:t>
            </a:r>
            <a:r>
              <a:rPr b="0" i="0" lang="ko-KR" sz="10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URL</a:t>
            </a: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수집 방법 연구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저작권 전문가 기반 소스 수집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(개방형/폐쇄형)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3"/>
          <p:cNvSpPr txBox="1"/>
          <p:nvPr/>
        </p:nvSpPr>
        <p:spPr>
          <a:xfrm>
            <a:off x="7182226" y="2799015"/>
            <a:ext cx="23455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서치 엔진 기반 불법 사이트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검색 키워드 자동화 수집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검색 키워드 정렬 알고리즘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aph Databases for Beginners: The Basics of Data Modeling" id="604" name="Google Shape;6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669" y="3773245"/>
            <a:ext cx="2952485" cy="26495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ns Icon at Vectorified.com | Collection of Sns Icon free for personal use" id="605" name="Google Shape;605;p23"/>
          <p:cNvPicPr preferRelativeResize="0"/>
          <p:nvPr/>
        </p:nvPicPr>
        <p:blipFill rotWithShape="1">
          <a:blip r:embed="rId4">
            <a:alphaModFix/>
          </a:blip>
          <a:srcRect b="50133" l="0" r="0" t="0"/>
          <a:stretch/>
        </p:blipFill>
        <p:spPr>
          <a:xfrm>
            <a:off x="3749604" y="4777447"/>
            <a:ext cx="2406792" cy="1200203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3"/>
          <p:cNvSpPr/>
          <p:nvPr/>
        </p:nvSpPr>
        <p:spPr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7" name="Google Shape;607;p23"/>
          <p:cNvGrpSpPr/>
          <p:nvPr/>
        </p:nvGrpSpPr>
        <p:grpSpPr>
          <a:xfrm>
            <a:off x="6750459" y="4092433"/>
            <a:ext cx="2918872" cy="2011131"/>
            <a:chOff x="1555530" y="23238"/>
            <a:chExt cx="9164319" cy="6314303"/>
          </a:xfrm>
        </p:grpSpPr>
        <p:pic>
          <p:nvPicPr>
            <p:cNvPr id="608" name="Google Shape;608;p23"/>
            <p:cNvPicPr preferRelativeResize="0"/>
            <p:nvPr/>
          </p:nvPicPr>
          <p:blipFill rotWithShape="1">
            <a:blip r:embed="rId5">
              <a:alphaModFix/>
            </a:blip>
            <a:srcRect b="0" l="12290" r="36344" t="0"/>
            <a:stretch/>
          </p:blipFill>
          <p:spPr>
            <a:xfrm>
              <a:off x="1555530" y="88849"/>
              <a:ext cx="9164319" cy="62486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9" name="Google Shape;609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805611" y="23238"/>
              <a:ext cx="1133633" cy="4858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4"/>
          <p:cNvSpPr/>
          <p:nvPr/>
        </p:nvSpPr>
        <p:spPr>
          <a:xfrm>
            <a:off x="145541" y="1417340"/>
            <a:ext cx="9614915" cy="500138"/>
          </a:xfrm>
          <a:prstGeom prst="rect">
            <a:avLst/>
          </a:prstGeom>
          <a:solidFill>
            <a:srgbClr val="CDE9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rgbClr val="058FB6"/>
                </a:solidFill>
                <a:latin typeface="Arial"/>
                <a:ea typeface="Arial"/>
                <a:cs typeface="Arial"/>
                <a:sym typeface="Arial"/>
              </a:rPr>
              <a:t>불법 의심 사이트 탐색 및 DB 구축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4"/>
          <p:cNvSpPr/>
          <p:nvPr/>
        </p:nvSpPr>
        <p:spPr>
          <a:xfrm>
            <a:off x="145543" y="1417340"/>
            <a:ext cx="9614914" cy="514221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4"/>
          <p:cNvSpPr txBox="1"/>
          <p:nvPr>
            <p:ph type="title"/>
          </p:nvPr>
        </p:nvSpPr>
        <p:spPr>
          <a:xfrm>
            <a:off x="379379" y="190641"/>
            <a:ext cx="8543925" cy="56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2. 추진 체계 적정성 및 연구 개발 방법의 창의성_구체성</a:t>
            </a:r>
            <a:endParaRPr/>
          </a:p>
        </p:txBody>
      </p:sp>
      <p:sp>
        <p:nvSpPr>
          <p:cNvPr id="618" name="Google Shape;618;p24"/>
          <p:cNvSpPr txBox="1"/>
          <p:nvPr/>
        </p:nvSpPr>
        <p:spPr>
          <a:xfrm>
            <a:off x="7923089" y="-8798"/>
            <a:ext cx="1824538" cy="25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p.14~34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4"/>
          <p:cNvSpPr/>
          <p:nvPr/>
        </p:nvSpPr>
        <p:spPr>
          <a:xfrm>
            <a:off x="145542" y="904775"/>
            <a:ext cx="3202847" cy="512565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rgbClr val="058FB6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의심 사이트 탐색 및 접속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4"/>
          <p:cNvSpPr/>
          <p:nvPr/>
        </p:nvSpPr>
        <p:spPr>
          <a:xfrm>
            <a:off x="3347470" y="1141221"/>
            <a:ext cx="3218353" cy="276119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불법 미디어 유통 서비스 식별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4"/>
          <p:cNvSpPr/>
          <p:nvPr/>
        </p:nvSpPr>
        <p:spPr>
          <a:xfrm>
            <a:off x="6565823" y="1141221"/>
            <a:ext cx="3194634" cy="276119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불법 사이트 차단 자동화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2" name="Google Shape;622;p24"/>
          <p:cNvGrpSpPr/>
          <p:nvPr/>
        </p:nvGrpSpPr>
        <p:grpSpPr>
          <a:xfrm>
            <a:off x="3703595" y="2214240"/>
            <a:ext cx="459272" cy="387774"/>
            <a:chOff x="4172203" y="5407312"/>
            <a:chExt cx="567481" cy="479138"/>
          </a:xfrm>
        </p:grpSpPr>
        <p:sp>
          <p:nvSpPr>
            <p:cNvPr id="623" name="Google Shape;623;p24"/>
            <p:cNvSpPr/>
            <p:nvPr/>
          </p:nvSpPr>
          <p:spPr>
            <a:xfrm>
              <a:off x="4260546" y="5407312"/>
              <a:ext cx="479138" cy="479138"/>
            </a:xfrm>
            <a:prstGeom prst="diamond">
              <a:avLst/>
            </a:prstGeom>
            <a:noFill/>
            <a:ln cap="flat" cmpd="sng" w="19050">
              <a:solidFill>
                <a:srgbClr val="058FB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4172203" y="5407312"/>
              <a:ext cx="479138" cy="479138"/>
            </a:xfrm>
            <a:prstGeom prst="diamond">
              <a:avLst/>
            </a:prstGeom>
            <a:solidFill>
              <a:srgbClr val="058F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5" name="Google Shape;625;p24"/>
          <p:cNvSpPr txBox="1"/>
          <p:nvPr/>
        </p:nvSpPr>
        <p:spPr>
          <a:xfrm>
            <a:off x="4140601" y="2115740"/>
            <a:ext cx="162479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유사 링크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탐색 기술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6" name="Google Shape;626;p24"/>
          <p:cNvGrpSpPr/>
          <p:nvPr/>
        </p:nvGrpSpPr>
        <p:grpSpPr>
          <a:xfrm>
            <a:off x="6878904" y="2214240"/>
            <a:ext cx="459272" cy="387774"/>
            <a:chOff x="4172203" y="5407312"/>
            <a:chExt cx="567481" cy="479138"/>
          </a:xfrm>
        </p:grpSpPr>
        <p:sp>
          <p:nvSpPr>
            <p:cNvPr id="627" name="Google Shape;627;p24"/>
            <p:cNvSpPr/>
            <p:nvPr/>
          </p:nvSpPr>
          <p:spPr>
            <a:xfrm>
              <a:off x="4260546" y="5407312"/>
              <a:ext cx="479138" cy="479138"/>
            </a:xfrm>
            <a:prstGeom prst="diamond">
              <a:avLst/>
            </a:prstGeom>
            <a:noFill/>
            <a:ln cap="flat" cmpd="sng" w="19050">
              <a:solidFill>
                <a:srgbClr val="058FB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4"/>
            <p:cNvSpPr/>
            <p:nvPr/>
          </p:nvSpPr>
          <p:spPr>
            <a:xfrm>
              <a:off x="4172203" y="5407312"/>
              <a:ext cx="479138" cy="479138"/>
            </a:xfrm>
            <a:prstGeom prst="diamond">
              <a:avLst/>
            </a:prstGeom>
            <a:solidFill>
              <a:srgbClr val="058F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9" name="Google Shape;629;p24"/>
          <p:cNvSpPr txBox="1"/>
          <p:nvPr/>
        </p:nvSpPr>
        <p:spPr>
          <a:xfrm>
            <a:off x="7312349" y="2115740"/>
            <a:ext cx="1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불법 컨텐츠 링크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역추적 기술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4"/>
          <p:cNvSpPr txBox="1"/>
          <p:nvPr/>
        </p:nvSpPr>
        <p:spPr>
          <a:xfrm>
            <a:off x="785579" y="2115740"/>
            <a:ext cx="1800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네트워크 관계 기반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소스 수집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1" name="Google Shape;631;p24"/>
          <p:cNvGrpSpPr/>
          <p:nvPr/>
        </p:nvGrpSpPr>
        <p:grpSpPr>
          <a:xfrm>
            <a:off x="371200" y="2214240"/>
            <a:ext cx="459272" cy="387774"/>
            <a:chOff x="4172203" y="5407312"/>
            <a:chExt cx="567481" cy="479138"/>
          </a:xfrm>
        </p:grpSpPr>
        <p:sp>
          <p:nvSpPr>
            <p:cNvPr id="632" name="Google Shape;632;p24"/>
            <p:cNvSpPr/>
            <p:nvPr/>
          </p:nvSpPr>
          <p:spPr>
            <a:xfrm>
              <a:off x="4260546" y="5407312"/>
              <a:ext cx="479138" cy="479138"/>
            </a:xfrm>
            <a:prstGeom prst="diamond">
              <a:avLst/>
            </a:prstGeom>
            <a:noFill/>
            <a:ln cap="flat" cmpd="sng" w="19050">
              <a:solidFill>
                <a:srgbClr val="058FB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24"/>
            <p:cNvSpPr/>
            <p:nvPr/>
          </p:nvSpPr>
          <p:spPr>
            <a:xfrm>
              <a:off x="4172203" y="5407312"/>
              <a:ext cx="479138" cy="479138"/>
            </a:xfrm>
            <a:prstGeom prst="diamond">
              <a:avLst/>
            </a:prstGeom>
            <a:solidFill>
              <a:srgbClr val="058F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34" name="Google Shape;634;p24"/>
          <p:cNvCxnSpPr/>
          <p:nvPr/>
        </p:nvCxnSpPr>
        <p:spPr>
          <a:xfrm>
            <a:off x="3347470" y="2168276"/>
            <a:ext cx="0" cy="4212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lgDash"/>
            <a:miter lim="8000"/>
            <a:headEnd len="sm" w="sm" type="none"/>
            <a:tailEnd len="sm" w="sm" type="none"/>
          </a:ln>
        </p:spPr>
      </p:cxnSp>
      <p:cxnSp>
        <p:nvCxnSpPr>
          <p:cNvPr id="635" name="Google Shape;635;p24"/>
          <p:cNvCxnSpPr/>
          <p:nvPr/>
        </p:nvCxnSpPr>
        <p:spPr>
          <a:xfrm>
            <a:off x="6568450" y="2168276"/>
            <a:ext cx="0" cy="4212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636" name="Google Shape;636;p24"/>
          <p:cNvSpPr txBox="1"/>
          <p:nvPr/>
        </p:nvSpPr>
        <p:spPr>
          <a:xfrm>
            <a:off x="755020" y="2799015"/>
            <a:ext cx="25924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불법 의심 사이트 탐색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알고리즘 구현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4"/>
          <p:cNvSpPr txBox="1"/>
          <p:nvPr/>
        </p:nvSpPr>
        <p:spPr>
          <a:xfrm>
            <a:off x="3961247" y="2799015"/>
            <a:ext cx="227581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LLM 기반 유사 링크 패턴 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분석 및 예측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4"/>
          <p:cNvSpPr txBox="1"/>
          <p:nvPr/>
        </p:nvSpPr>
        <p:spPr>
          <a:xfrm>
            <a:off x="7182226" y="2799015"/>
            <a:ext cx="22758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불법 콘텐츠 링크 식별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역추적을 통한 원천 소스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수집 기술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4"/>
          <p:cNvSpPr/>
          <p:nvPr/>
        </p:nvSpPr>
        <p:spPr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0" name="Google Shape;640;p24"/>
          <p:cNvGrpSpPr/>
          <p:nvPr/>
        </p:nvGrpSpPr>
        <p:grpSpPr>
          <a:xfrm>
            <a:off x="3534107" y="3429000"/>
            <a:ext cx="2837787" cy="2951276"/>
            <a:chOff x="3520966" y="3429000"/>
            <a:chExt cx="2837787" cy="2951276"/>
          </a:xfrm>
        </p:grpSpPr>
        <p:sp>
          <p:nvSpPr>
            <p:cNvPr id="641" name="Google Shape;641;p24"/>
            <p:cNvSpPr/>
            <p:nvPr/>
          </p:nvSpPr>
          <p:spPr>
            <a:xfrm>
              <a:off x="3520966" y="3429000"/>
              <a:ext cx="2837787" cy="295127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24"/>
            <p:cNvSpPr txBox="1"/>
            <p:nvPr/>
          </p:nvSpPr>
          <p:spPr>
            <a:xfrm>
              <a:off x="3619506" y="3483551"/>
              <a:ext cx="2640706" cy="2840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1. 숫자 증가 패턴: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현재 도메인: '</a:t>
              </a:r>
              <a:r>
                <a:rPr b="0" i="0" lang="ko-KR" sz="10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example123.com</a:t>
              </a: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예상 다음 도메인: 'example124.com'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2. 알파벳 사용 패턴: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현재 도메인: '</a:t>
              </a:r>
              <a:r>
                <a:rPr b="0" i="0" lang="ko-KR" sz="10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exampleA.com</a:t>
              </a: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예상 다음 도메인: 'exampleB.com'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3. 키워드 변형 패턴: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현재 도메인: '</a:t>
              </a:r>
              <a:r>
                <a:rPr b="0" i="0" lang="ko-KR" sz="10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watchmoviesnow.com</a:t>
              </a: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예상 다음 도메인: '</a:t>
              </a:r>
              <a:r>
                <a:rPr b="0" i="0" lang="ko-KR" sz="10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streammoviesnow.com</a:t>
              </a: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'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4. 도메인 확장자 변경: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현재 도메인: 'example.net’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예상 다음 도메인: '</a:t>
              </a:r>
              <a:r>
                <a:rPr b="0" i="0" lang="ko-KR" sz="10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example.org</a:t>
              </a:r>
              <a:r>
                <a:rPr b="0" i="0" lang="ko-KR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43" name="Google Shape;64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8797" y="3773245"/>
            <a:ext cx="3168673" cy="2407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w to Easily Track URL Redirects in WordPress" id="644" name="Google Shape;644;p24"/>
          <p:cNvPicPr preferRelativeResize="0"/>
          <p:nvPr/>
        </p:nvPicPr>
        <p:blipFill rotWithShape="1">
          <a:blip r:embed="rId9">
            <a:alphaModFix/>
          </a:blip>
          <a:srcRect b="13989" l="18628" r="18536" t="10762"/>
          <a:stretch/>
        </p:blipFill>
        <p:spPr>
          <a:xfrm>
            <a:off x="6973858" y="4114641"/>
            <a:ext cx="2507612" cy="172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5"/>
          <p:cNvSpPr/>
          <p:nvPr/>
        </p:nvSpPr>
        <p:spPr>
          <a:xfrm>
            <a:off x="145541" y="1417340"/>
            <a:ext cx="9615000" cy="500100"/>
          </a:xfrm>
          <a:prstGeom prst="rect">
            <a:avLst/>
          </a:prstGeom>
          <a:solidFill>
            <a:srgbClr val="CDE9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rgbClr val="058FB6"/>
                </a:solidFill>
                <a:latin typeface="Arial"/>
                <a:ea typeface="Arial"/>
                <a:cs typeface="Arial"/>
                <a:sym typeface="Arial"/>
              </a:rPr>
              <a:t>사이트 접속 및 구조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5"/>
          <p:cNvSpPr/>
          <p:nvPr/>
        </p:nvSpPr>
        <p:spPr>
          <a:xfrm>
            <a:off x="145543" y="1417340"/>
            <a:ext cx="9615000" cy="51423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5"/>
          <p:cNvSpPr txBox="1"/>
          <p:nvPr>
            <p:ph type="title"/>
          </p:nvPr>
        </p:nvSpPr>
        <p:spPr>
          <a:xfrm>
            <a:off x="379379" y="190641"/>
            <a:ext cx="854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2. 추진 체계 적정성 및 연구 개발 방법의 창의성_구체성</a:t>
            </a:r>
            <a:endParaRPr/>
          </a:p>
        </p:txBody>
      </p:sp>
      <p:sp>
        <p:nvSpPr>
          <p:cNvPr id="653" name="Google Shape;653;p25"/>
          <p:cNvSpPr txBox="1"/>
          <p:nvPr/>
        </p:nvSpPr>
        <p:spPr>
          <a:xfrm>
            <a:off x="7923089" y="-8798"/>
            <a:ext cx="18246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p.14~34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5"/>
          <p:cNvSpPr/>
          <p:nvPr/>
        </p:nvSpPr>
        <p:spPr>
          <a:xfrm>
            <a:off x="145542" y="904775"/>
            <a:ext cx="3202470" cy="512565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rgbClr val="058FB6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의심 사이트 탐색 및 접속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5"/>
          <p:cNvSpPr/>
          <p:nvPr/>
        </p:nvSpPr>
        <p:spPr>
          <a:xfrm>
            <a:off x="3347470" y="1141221"/>
            <a:ext cx="3218130" cy="275504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불법 미디어 유통 서비스 식별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5"/>
          <p:cNvSpPr/>
          <p:nvPr/>
        </p:nvSpPr>
        <p:spPr>
          <a:xfrm>
            <a:off x="6565823" y="1141221"/>
            <a:ext cx="3194640" cy="275504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불법 사이트 차단 자동화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7" name="Google Shape;657;p25"/>
          <p:cNvGrpSpPr/>
          <p:nvPr/>
        </p:nvGrpSpPr>
        <p:grpSpPr>
          <a:xfrm>
            <a:off x="5216827" y="2214154"/>
            <a:ext cx="459232" cy="387736"/>
            <a:chOff x="4172203" y="5407312"/>
            <a:chExt cx="567443" cy="479100"/>
          </a:xfrm>
        </p:grpSpPr>
        <p:sp>
          <p:nvSpPr>
            <p:cNvPr id="658" name="Google Shape;658;p25"/>
            <p:cNvSpPr/>
            <p:nvPr/>
          </p:nvSpPr>
          <p:spPr>
            <a:xfrm>
              <a:off x="4260546" y="5407312"/>
              <a:ext cx="479100" cy="479100"/>
            </a:xfrm>
            <a:prstGeom prst="diamond">
              <a:avLst/>
            </a:prstGeom>
            <a:noFill/>
            <a:ln cap="flat" cmpd="sng" w="19050">
              <a:solidFill>
                <a:srgbClr val="058FB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25"/>
            <p:cNvSpPr/>
            <p:nvPr/>
          </p:nvSpPr>
          <p:spPr>
            <a:xfrm>
              <a:off x="4172203" y="5407312"/>
              <a:ext cx="479100" cy="479100"/>
            </a:xfrm>
            <a:prstGeom prst="diamond">
              <a:avLst/>
            </a:prstGeom>
            <a:solidFill>
              <a:srgbClr val="058F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0" name="Google Shape;660;p25"/>
          <p:cNvSpPr txBox="1"/>
          <p:nvPr/>
        </p:nvSpPr>
        <p:spPr>
          <a:xfrm>
            <a:off x="5650342" y="2238850"/>
            <a:ext cx="216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DOM 구조 분석 기술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5"/>
          <p:cNvSpPr txBox="1"/>
          <p:nvPr/>
        </p:nvSpPr>
        <p:spPr>
          <a:xfrm>
            <a:off x="792307" y="2238850"/>
            <a:ext cx="279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보안 메커니즘 동적 우회 자동화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2" name="Google Shape;662;p25"/>
          <p:cNvGrpSpPr/>
          <p:nvPr/>
        </p:nvGrpSpPr>
        <p:grpSpPr>
          <a:xfrm>
            <a:off x="377858" y="2214154"/>
            <a:ext cx="459232" cy="387736"/>
            <a:chOff x="4172203" y="5407312"/>
            <a:chExt cx="567443" cy="479100"/>
          </a:xfrm>
        </p:grpSpPr>
        <p:sp>
          <p:nvSpPr>
            <p:cNvPr id="663" name="Google Shape;663;p25"/>
            <p:cNvSpPr/>
            <p:nvPr/>
          </p:nvSpPr>
          <p:spPr>
            <a:xfrm>
              <a:off x="4260546" y="5407312"/>
              <a:ext cx="479100" cy="479100"/>
            </a:xfrm>
            <a:prstGeom prst="diamond">
              <a:avLst/>
            </a:prstGeom>
            <a:noFill/>
            <a:ln cap="flat" cmpd="sng" w="19050">
              <a:solidFill>
                <a:srgbClr val="058FB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25"/>
            <p:cNvSpPr/>
            <p:nvPr/>
          </p:nvSpPr>
          <p:spPr>
            <a:xfrm>
              <a:off x="4172203" y="5407312"/>
              <a:ext cx="479100" cy="479100"/>
            </a:xfrm>
            <a:prstGeom prst="diamond">
              <a:avLst/>
            </a:prstGeom>
            <a:solidFill>
              <a:srgbClr val="058F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65" name="Google Shape;665;p25"/>
          <p:cNvCxnSpPr/>
          <p:nvPr/>
        </p:nvCxnSpPr>
        <p:spPr>
          <a:xfrm>
            <a:off x="4953000" y="2168276"/>
            <a:ext cx="0" cy="4212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666" name="Google Shape;666;p25"/>
          <p:cNvSpPr txBox="1"/>
          <p:nvPr/>
        </p:nvSpPr>
        <p:spPr>
          <a:xfrm>
            <a:off x="316489" y="2799015"/>
            <a:ext cx="4236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웹 사이트 로그인 우회 자동화 기술 개발 및 고도화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캡차 보안 메커니즘 우회 자동화 기술 개발 및 고도화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개방형/폐쇄형 SNS 접근 자동화 기술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5"/>
          <p:cNvSpPr txBox="1"/>
          <p:nvPr/>
        </p:nvSpPr>
        <p:spPr>
          <a:xfrm>
            <a:off x="5212286" y="2799015"/>
            <a:ext cx="4236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웹크롤링 및 DOM 파싱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데이터 추출 및 분석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동적 콘텐츠 처리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고급 분석 기법 적용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5"/>
          <p:cNvSpPr/>
          <p:nvPr/>
        </p:nvSpPr>
        <p:spPr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OM" id="669" name="Google Shape;6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286" y="3614540"/>
            <a:ext cx="4333919" cy="2945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25"/>
          <p:cNvPicPr preferRelativeResize="0"/>
          <p:nvPr/>
        </p:nvPicPr>
        <p:blipFill rotWithShape="1">
          <a:blip r:embed="rId4">
            <a:alphaModFix/>
          </a:blip>
          <a:srcRect b="4197" l="1012" r="1712" t="4753"/>
          <a:stretch/>
        </p:blipFill>
        <p:spPr>
          <a:xfrm>
            <a:off x="170942" y="3738574"/>
            <a:ext cx="4757737" cy="2757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6"/>
          <p:cNvSpPr txBox="1"/>
          <p:nvPr>
            <p:ph type="title"/>
          </p:nvPr>
        </p:nvSpPr>
        <p:spPr>
          <a:xfrm>
            <a:off x="379379" y="190641"/>
            <a:ext cx="854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2. 추진 체계 적정성 및 연구 개발 방법의 창의성_구체성</a:t>
            </a:r>
            <a:endParaRPr/>
          </a:p>
        </p:txBody>
      </p:sp>
      <p:sp>
        <p:nvSpPr>
          <p:cNvPr id="677" name="Google Shape;677;p26"/>
          <p:cNvSpPr txBox="1"/>
          <p:nvPr/>
        </p:nvSpPr>
        <p:spPr>
          <a:xfrm>
            <a:off x="7923089" y="-8798"/>
            <a:ext cx="18246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p.14~34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6"/>
          <p:cNvSpPr/>
          <p:nvPr/>
        </p:nvSpPr>
        <p:spPr>
          <a:xfrm>
            <a:off x="145541" y="1417340"/>
            <a:ext cx="9615000" cy="500100"/>
          </a:xfrm>
          <a:prstGeom prst="rect">
            <a:avLst/>
          </a:prstGeom>
          <a:solidFill>
            <a:srgbClr val="EAF6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rgbClr val="293B0D"/>
                </a:solidFill>
                <a:latin typeface="Arial"/>
                <a:ea typeface="Arial"/>
                <a:cs typeface="Arial"/>
                <a:sym typeface="Arial"/>
              </a:rPr>
              <a:t>불법 미디어 유통 서비스 식별(불법 사이트 식별)</a:t>
            </a:r>
            <a:endParaRPr b="1" i="0" sz="2000" u="none" cap="none" strike="noStrike">
              <a:solidFill>
                <a:srgbClr val="293B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6"/>
          <p:cNvSpPr/>
          <p:nvPr/>
        </p:nvSpPr>
        <p:spPr>
          <a:xfrm>
            <a:off x="145543" y="1417340"/>
            <a:ext cx="9615000" cy="51423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6"/>
          <p:cNvSpPr/>
          <p:nvPr/>
        </p:nvSpPr>
        <p:spPr>
          <a:xfrm>
            <a:off x="145542" y="1141221"/>
            <a:ext cx="3202470" cy="275504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불법 의심 사이트 탐색 및 접속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6"/>
          <p:cNvSpPr/>
          <p:nvPr/>
        </p:nvSpPr>
        <p:spPr>
          <a:xfrm>
            <a:off x="3347470" y="904775"/>
            <a:ext cx="3218130" cy="512565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rgbClr val="52741A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미디어 유통 서비스 식별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6565823" y="1141221"/>
            <a:ext cx="3194640" cy="275504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불법 사이트 차단 자동화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3" name="Google Shape;683;p26"/>
          <p:cNvGrpSpPr/>
          <p:nvPr/>
        </p:nvGrpSpPr>
        <p:grpSpPr>
          <a:xfrm>
            <a:off x="3703524" y="2214154"/>
            <a:ext cx="459232" cy="387736"/>
            <a:chOff x="4172203" y="5407312"/>
            <a:chExt cx="567443" cy="479100"/>
          </a:xfrm>
        </p:grpSpPr>
        <p:sp>
          <p:nvSpPr>
            <p:cNvPr id="684" name="Google Shape;684;p26"/>
            <p:cNvSpPr/>
            <p:nvPr/>
          </p:nvSpPr>
          <p:spPr>
            <a:xfrm>
              <a:off x="4260546" y="5407312"/>
              <a:ext cx="479100" cy="479100"/>
            </a:xfrm>
            <a:prstGeom prst="diamond">
              <a:avLst/>
            </a:prstGeom>
            <a:noFill/>
            <a:ln cap="flat" cmpd="sng" w="28575">
              <a:solidFill>
                <a:srgbClr val="52741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26"/>
            <p:cNvSpPr/>
            <p:nvPr/>
          </p:nvSpPr>
          <p:spPr>
            <a:xfrm>
              <a:off x="4172203" y="5407312"/>
              <a:ext cx="479100" cy="479100"/>
            </a:xfrm>
            <a:prstGeom prst="diamond">
              <a:avLst/>
            </a:prstGeom>
            <a:solidFill>
              <a:srgbClr val="527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6" name="Google Shape;686;p26"/>
          <p:cNvSpPr txBox="1"/>
          <p:nvPr/>
        </p:nvSpPr>
        <p:spPr>
          <a:xfrm>
            <a:off x="4140601" y="2115740"/>
            <a:ext cx="162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불법 이미지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분류 모델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7" name="Google Shape;687;p26"/>
          <p:cNvGrpSpPr/>
          <p:nvPr/>
        </p:nvGrpSpPr>
        <p:grpSpPr>
          <a:xfrm>
            <a:off x="6878833" y="2214154"/>
            <a:ext cx="459232" cy="387736"/>
            <a:chOff x="4172203" y="5407312"/>
            <a:chExt cx="567443" cy="479100"/>
          </a:xfrm>
        </p:grpSpPr>
        <p:sp>
          <p:nvSpPr>
            <p:cNvPr id="688" name="Google Shape;688;p26"/>
            <p:cNvSpPr/>
            <p:nvPr/>
          </p:nvSpPr>
          <p:spPr>
            <a:xfrm>
              <a:off x="4260546" y="5407312"/>
              <a:ext cx="479100" cy="479100"/>
            </a:xfrm>
            <a:prstGeom prst="diamond">
              <a:avLst/>
            </a:prstGeom>
            <a:noFill/>
            <a:ln cap="flat" cmpd="sng" w="19050">
              <a:solidFill>
                <a:srgbClr val="058FB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26"/>
            <p:cNvSpPr/>
            <p:nvPr/>
          </p:nvSpPr>
          <p:spPr>
            <a:xfrm>
              <a:off x="4172203" y="5407312"/>
              <a:ext cx="479100" cy="479100"/>
            </a:xfrm>
            <a:prstGeom prst="diamond">
              <a:avLst/>
            </a:prstGeom>
            <a:solidFill>
              <a:srgbClr val="058F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0" name="Google Shape;690;p26"/>
          <p:cNvSpPr txBox="1"/>
          <p:nvPr/>
        </p:nvSpPr>
        <p:spPr>
          <a:xfrm>
            <a:off x="785579" y="2115740"/>
            <a:ext cx="268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웹페이지 내 정보 수집 및</a:t>
            </a:r>
            <a:endParaRPr b="1" i="0" sz="15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LLM 기반 텍스트 의미분석 모델 개발</a:t>
            </a:r>
            <a:endParaRPr b="1" i="0" sz="15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1" name="Google Shape;691;p26"/>
          <p:cNvGrpSpPr/>
          <p:nvPr/>
        </p:nvGrpSpPr>
        <p:grpSpPr>
          <a:xfrm>
            <a:off x="371129" y="2214154"/>
            <a:ext cx="459232" cy="387736"/>
            <a:chOff x="4172203" y="5407312"/>
            <a:chExt cx="567443" cy="479100"/>
          </a:xfrm>
        </p:grpSpPr>
        <p:sp>
          <p:nvSpPr>
            <p:cNvPr id="692" name="Google Shape;692;p26"/>
            <p:cNvSpPr/>
            <p:nvPr/>
          </p:nvSpPr>
          <p:spPr>
            <a:xfrm>
              <a:off x="4260546" y="5407312"/>
              <a:ext cx="479100" cy="479100"/>
            </a:xfrm>
            <a:prstGeom prst="diamond">
              <a:avLst/>
            </a:prstGeom>
            <a:noFill/>
            <a:ln cap="flat" cmpd="sng" w="19050">
              <a:solidFill>
                <a:srgbClr val="52741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26"/>
            <p:cNvSpPr/>
            <p:nvPr/>
          </p:nvSpPr>
          <p:spPr>
            <a:xfrm>
              <a:off x="4172203" y="5407312"/>
              <a:ext cx="479100" cy="479100"/>
            </a:xfrm>
            <a:prstGeom prst="diamond">
              <a:avLst/>
            </a:prstGeom>
            <a:solidFill>
              <a:srgbClr val="527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94" name="Google Shape;694;p26"/>
          <p:cNvCxnSpPr/>
          <p:nvPr/>
        </p:nvCxnSpPr>
        <p:spPr>
          <a:xfrm>
            <a:off x="3477290" y="2168276"/>
            <a:ext cx="0" cy="4212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lgDash"/>
            <a:miter lim="8000"/>
            <a:headEnd len="sm" w="sm" type="none"/>
            <a:tailEnd len="sm" w="sm" type="none"/>
          </a:ln>
        </p:spPr>
      </p:cxnSp>
      <p:cxnSp>
        <p:nvCxnSpPr>
          <p:cNvPr id="695" name="Google Shape;695;p26"/>
          <p:cNvCxnSpPr/>
          <p:nvPr/>
        </p:nvCxnSpPr>
        <p:spPr>
          <a:xfrm>
            <a:off x="6568450" y="2168276"/>
            <a:ext cx="0" cy="4212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696" name="Google Shape;696;p26"/>
          <p:cNvSpPr txBox="1"/>
          <p:nvPr/>
        </p:nvSpPr>
        <p:spPr>
          <a:xfrm>
            <a:off x="755020" y="2799015"/>
            <a:ext cx="2275800" cy="13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페이지 스크래핑 기술 개발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LLM 기반 텍스트 요약 및 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의미분석 모듈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동적 웹 페이지 데이터 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추출 모듈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GPT 를 활용하여 추출된 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텍스트의 의미분석 연구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6"/>
          <p:cNvSpPr txBox="1"/>
          <p:nvPr/>
        </p:nvSpPr>
        <p:spPr>
          <a:xfrm>
            <a:off x="3961247" y="2799015"/>
            <a:ext cx="2666100" cy="13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배너광고 분석기법 사용 불법 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콘텐츠 사이트 판별 기술 개발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OCR을 통한 배너 광고 속 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문구 추출 모듈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사이트 레이아웃 특징 정보 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분류 모델 고도화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OCR 모듈 고도화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6"/>
          <p:cNvSpPr txBox="1"/>
          <p:nvPr/>
        </p:nvSpPr>
        <p:spPr>
          <a:xfrm>
            <a:off x="7182226" y="2799015"/>
            <a:ext cx="2275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HTML 태그 및 텍스트 유사도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측정 모델 개발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유해 단어 사전 및 화이트리스트 데이터베이스 구축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배너 광고 분석 모듈 고도화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9" name="Google Shape;699;p26"/>
          <p:cNvGrpSpPr/>
          <p:nvPr/>
        </p:nvGrpSpPr>
        <p:grpSpPr>
          <a:xfrm>
            <a:off x="3702953" y="2214154"/>
            <a:ext cx="459232" cy="387736"/>
            <a:chOff x="4172203" y="5407312"/>
            <a:chExt cx="567443" cy="479100"/>
          </a:xfrm>
        </p:grpSpPr>
        <p:sp>
          <p:nvSpPr>
            <p:cNvPr id="700" name="Google Shape;700;p26"/>
            <p:cNvSpPr/>
            <p:nvPr/>
          </p:nvSpPr>
          <p:spPr>
            <a:xfrm>
              <a:off x="4260546" y="5407312"/>
              <a:ext cx="479100" cy="479100"/>
            </a:xfrm>
            <a:prstGeom prst="diamond">
              <a:avLst/>
            </a:prstGeom>
            <a:noFill/>
            <a:ln cap="flat" cmpd="sng" w="19050">
              <a:solidFill>
                <a:srgbClr val="52741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26"/>
            <p:cNvSpPr/>
            <p:nvPr/>
          </p:nvSpPr>
          <p:spPr>
            <a:xfrm>
              <a:off x="4172203" y="5407312"/>
              <a:ext cx="479100" cy="479100"/>
            </a:xfrm>
            <a:prstGeom prst="diamond">
              <a:avLst/>
            </a:prstGeom>
            <a:solidFill>
              <a:srgbClr val="527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2" name="Google Shape;702;p26"/>
          <p:cNvGrpSpPr/>
          <p:nvPr/>
        </p:nvGrpSpPr>
        <p:grpSpPr>
          <a:xfrm>
            <a:off x="6878833" y="2214154"/>
            <a:ext cx="459232" cy="387736"/>
            <a:chOff x="4172203" y="5407312"/>
            <a:chExt cx="567443" cy="479100"/>
          </a:xfrm>
        </p:grpSpPr>
        <p:sp>
          <p:nvSpPr>
            <p:cNvPr id="703" name="Google Shape;703;p26"/>
            <p:cNvSpPr/>
            <p:nvPr/>
          </p:nvSpPr>
          <p:spPr>
            <a:xfrm>
              <a:off x="4260546" y="5407312"/>
              <a:ext cx="479100" cy="479100"/>
            </a:xfrm>
            <a:prstGeom prst="diamond">
              <a:avLst/>
            </a:prstGeom>
            <a:noFill/>
            <a:ln cap="flat" cmpd="sng" w="19050">
              <a:solidFill>
                <a:srgbClr val="52741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26"/>
            <p:cNvSpPr/>
            <p:nvPr/>
          </p:nvSpPr>
          <p:spPr>
            <a:xfrm>
              <a:off x="4172203" y="5407312"/>
              <a:ext cx="479100" cy="479100"/>
            </a:xfrm>
            <a:prstGeom prst="diamond">
              <a:avLst/>
            </a:prstGeom>
            <a:solidFill>
              <a:srgbClr val="527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05" name="Google Shape;70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561" y="4372309"/>
            <a:ext cx="3299275" cy="2047318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26"/>
          <p:cNvSpPr txBox="1"/>
          <p:nvPr/>
        </p:nvSpPr>
        <p:spPr>
          <a:xfrm>
            <a:off x="7298506" y="2115740"/>
            <a:ext cx="162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불법 텍스트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분류 모델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7" name="Google Shape;707;p26"/>
          <p:cNvPicPr preferRelativeResize="0"/>
          <p:nvPr/>
        </p:nvPicPr>
        <p:blipFill rotWithShape="1">
          <a:blip r:embed="rId4">
            <a:alphaModFix/>
          </a:blip>
          <a:srcRect b="0" l="40670" r="1739" t="44053"/>
          <a:stretch/>
        </p:blipFill>
        <p:spPr>
          <a:xfrm>
            <a:off x="3525818" y="4703294"/>
            <a:ext cx="3002149" cy="138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26"/>
          <p:cNvPicPr preferRelativeResize="0"/>
          <p:nvPr/>
        </p:nvPicPr>
        <p:blipFill rotWithShape="1">
          <a:blip r:embed="rId5">
            <a:alphaModFix/>
          </a:blip>
          <a:srcRect b="0" l="6174" r="0" t="28962"/>
          <a:stretch/>
        </p:blipFill>
        <p:spPr>
          <a:xfrm>
            <a:off x="6627457" y="4586562"/>
            <a:ext cx="3071365" cy="1502081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7"/>
          <p:cNvSpPr txBox="1"/>
          <p:nvPr>
            <p:ph type="title"/>
          </p:nvPr>
        </p:nvSpPr>
        <p:spPr>
          <a:xfrm>
            <a:off x="379379" y="190641"/>
            <a:ext cx="854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2. 추진 체계 적정성 및 연구 개발 방법의 창의성_구체성</a:t>
            </a:r>
            <a:endParaRPr/>
          </a:p>
        </p:txBody>
      </p:sp>
      <p:sp>
        <p:nvSpPr>
          <p:cNvPr id="715" name="Google Shape;715;p27"/>
          <p:cNvSpPr txBox="1"/>
          <p:nvPr/>
        </p:nvSpPr>
        <p:spPr>
          <a:xfrm>
            <a:off x="7923089" y="-8798"/>
            <a:ext cx="18246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p.14~34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7"/>
          <p:cNvSpPr/>
          <p:nvPr/>
        </p:nvSpPr>
        <p:spPr>
          <a:xfrm>
            <a:off x="145541" y="1417340"/>
            <a:ext cx="9615000" cy="500100"/>
          </a:xfrm>
          <a:prstGeom prst="rect">
            <a:avLst/>
          </a:prstGeom>
          <a:solidFill>
            <a:srgbClr val="EAF6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rgbClr val="293B0D"/>
                </a:solidFill>
                <a:latin typeface="Arial"/>
                <a:ea typeface="Arial"/>
                <a:cs typeface="Arial"/>
                <a:sym typeface="Arial"/>
              </a:rPr>
              <a:t>불법 미디어 유통 서비스 식별(불법 사이트 식별)</a:t>
            </a:r>
            <a:endParaRPr b="1" i="0" sz="2000" u="none" cap="none" strike="noStrike">
              <a:solidFill>
                <a:srgbClr val="293B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7"/>
          <p:cNvSpPr/>
          <p:nvPr/>
        </p:nvSpPr>
        <p:spPr>
          <a:xfrm>
            <a:off x="145543" y="1417340"/>
            <a:ext cx="9615000" cy="51423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27"/>
          <p:cNvSpPr/>
          <p:nvPr/>
        </p:nvSpPr>
        <p:spPr>
          <a:xfrm>
            <a:off x="145542" y="1141221"/>
            <a:ext cx="3202470" cy="275504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불법 의심 사이트 탐색 및 접속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7"/>
          <p:cNvSpPr/>
          <p:nvPr/>
        </p:nvSpPr>
        <p:spPr>
          <a:xfrm>
            <a:off x="3347470" y="904775"/>
            <a:ext cx="3218130" cy="512565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rgbClr val="52741A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미디어 유통 서비스 식별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7"/>
          <p:cNvSpPr/>
          <p:nvPr/>
        </p:nvSpPr>
        <p:spPr>
          <a:xfrm>
            <a:off x="6565823" y="1141221"/>
            <a:ext cx="3194640" cy="275504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불법 사이트 차단 자동화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27"/>
          <p:cNvSpPr txBox="1"/>
          <p:nvPr/>
        </p:nvSpPr>
        <p:spPr>
          <a:xfrm>
            <a:off x="5774873" y="2134484"/>
            <a:ext cx="23583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실시간 데이터 처리 및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동적 네트워크 분석 기술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7"/>
          <p:cNvSpPr txBox="1"/>
          <p:nvPr/>
        </p:nvSpPr>
        <p:spPr>
          <a:xfrm>
            <a:off x="776178" y="2134484"/>
            <a:ext cx="27912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웹사이트 연결 구조 분석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알고리즘 개발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3" name="Google Shape;723;p27"/>
          <p:cNvCxnSpPr/>
          <p:nvPr/>
        </p:nvCxnSpPr>
        <p:spPr>
          <a:xfrm>
            <a:off x="4953000" y="2168276"/>
            <a:ext cx="0" cy="4212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724" name="Google Shape;724;p27"/>
          <p:cNvSpPr txBox="1"/>
          <p:nvPr/>
        </p:nvSpPr>
        <p:spPr>
          <a:xfrm>
            <a:off x="300360" y="2799015"/>
            <a:ext cx="4236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상호 연결링크 분석 알고리즘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27"/>
          <p:cNvSpPr txBox="1"/>
          <p:nvPr/>
        </p:nvSpPr>
        <p:spPr>
          <a:xfrm>
            <a:off x="5336817" y="2799015"/>
            <a:ext cx="4236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Bottom-Up 그래프 방식 네트워크 분석 알고리즘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6" name="Google Shape;726;p27"/>
          <p:cNvGrpSpPr/>
          <p:nvPr/>
        </p:nvGrpSpPr>
        <p:grpSpPr>
          <a:xfrm>
            <a:off x="368119" y="2214154"/>
            <a:ext cx="459230" cy="387736"/>
            <a:chOff x="4172205" y="5407312"/>
            <a:chExt cx="567441" cy="479100"/>
          </a:xfrm>
        </p:grpSpPr>
        <p:sp>
          <p:nvSpPr>
            <p:cNvPr id="727" name="Google Shape;727;p27"/>
            <p:cNvSpPr/>
            <p:nvPr/>
          </p:nvSpPr>
          <p:spPr>
            <a:xfrm>
              <a:off x="4260546" y="5407312"/>
              <a:ext cx="479100" cy="479100"/>
            </a:xfrm>
            <a:prstGeom prst="diamond">
              <a:avLst/>
            </a:prstGeom>
            <a:noFill/>
            <a:ln cap="flat" cmpd="sng" w="19050">
              <a:solidFill>
                <a:srgbClr val="52741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27"/>
            <p:cNvSpPr/>
            <p:nvPr/>
          </p:nvSpPr>
          <p:spPr>
            <a:xfrm>
              <a:off x="4172205" y="5407312"/>
              <a:ext cx="479100" cy="479100"/>
            </a:xfrm>
            <a:prstGeom prst="diamond">
              <a:avLst/>
            </a:prstGeom>
            <a:solidFill>
              <a:srgbClr val="527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9" name="Google Shape;729;p27"/>
          <p:cNvGrpSpPr/>
          <p:nvPr/>
        </p:nvGrpSpPr>
        <p:grpSpPr>
          <a:xfrm>
            <a:off x="5378656" y="2214154"/>
            <a:ext cx="459232" cy="387736"/>
            <a:chOff x="4172203" y="5407312"/>
            <a:chExt cx="567443" cy="479100"/>
          </a:xfrm>
        </p:grpSpPr>
        <p:sp>
          <p:nvSpPr>
            <p:cNvPr id="730" name="Google Shape;730;p27"/>
            <p:cNvSpPr/>
            <p:nvPr/>
          </p:nvSpPr>
          <p:spPr>
            <a:xfrm>
              <a:off x="4260546" y="5407312"/>
              <a:ext cx="479100" cy="479100"/>
            </a:xfrm>
            <a:prstGeom prst="diamond">
              <a:avLst/>
            </a:prstGeom>
            <a:noFill/>
            <a:ln cap="flat" cmpd="sng" w="19050">
              <a:solidFill>
                <a:srgbClr val="52741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27"/>
            <p:cNvSpPr/>
            <p:nvPr/>
          </p:nvSpPr>
          <p:spPr>
            <a:xfrm>
              <a:off x="4172203" y="5407312"/>
              <a:ext cx="479100" cy="479100"/>
            </a:xfrm>
            <a:prstGeom prst="diamond">
              <a:avLst/>
            </a:prstGeom>
            <a:solidFill>
              <a:srgbClr val="527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2" name="Google Shape;732;p27"/>
          <p:cNvGrpSpPr/>
          <p:nvPr/>
        </p:nvGrpSpPr>
        <p:grpSpPr>
          <a:xfrm>
            <a:off x="1257423" y="3273097"/>
            <a:ext cx="2682295" cy="2989484"/>
            <a:chOff x="5935081" y="4467882"/>
            <a:chExt cx="1394704" cy="1554432"/>
          </a:xfrm>
        </p:grpSpPr>
        <p:pic>
          <p:nvPicPr>
            <p:cNvPr id="733" name="Google Shape;733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89640" y="4467882"/>
              <a:ext cx="1305875" cy="8192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도박사이트 파헤치기 1부 (네트워크형 사이버 불법/유해 사이트 특징) - CSRC Weblog" id="734" name="Google Shape;734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935081" y="5461227"/>
              <a:ext cx="1394704" cy="56108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35" name="Google Shape;735;p27"/>
            <p:cNvCxnSpPr/>
            <p:nvPr/>
          </p:nvCxnSpPr>
          <p:spPr>
            <a:xfrm>
              <a:off x="6097732" y="5064042"/>
              <a:ext cx="167400" cy="39720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6" name="Google Shape;736;p27"/>
            <p:cNvCxnSpPr/>
            <p:nvPr/>
          </p:nvCxnSpPr>
          <p:spPr>
            <a:xfrm flipH="1">
              <a:off x="6946080" y="5064041"/>
              <a:ext cx="152100" cy="39720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737" name="Google Shape;73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8909" y="3946077"/>
            <a:ext cx="4674125" cy="1643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8"/>
          <p:cNvSpPr txBox="1"/>
          <p:nvPr>
            <p:ph type="title"/>
          </p:nvPr>
        </p:nvSpPr>
        <p:spPr>
          <a:xfrm>
            <a:off x="379379" y="190641"/>
            <a:ext cx="854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2. 추진 체계 적정성 및 연구 개발 방법의 창의성_구체성</a:t>
            </a:r>
            <a:endParaRPr/>
          </a:p>
        </p:txBody>
      </p:sp>
      <p:sp>
        <p:nvSpPr>
          <p:cNvPr id="744" name="Google Shape;744;p28"/>
          <p:cNvSpPr txBox="1"/>
          <p:nvPr/>
        </p:nvSpPr>
        <p:spPr>
          <a:xfrm>
            <a:off x="7923089" y="-8798"/>
            <a:ext cx="18246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p.14~34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8"/>
          <p:cNvSpPr/>
          <p:nvPr/>
        </p:nvSpPr>
        <p:spPr>
          <a:xfrm>
            <a:off x="145541" y="1417340"/>
            <a:ext cx="9615000" cy="500100"/>
          </a:xfrm>
          <a:prstGeom prst="rect">
            <a:avLst/>
          </a:prstGeom>
          <a:solidFill>
            <a:srgbClr val="EAF6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rgbClr val="293B0D"/>
                </a:solidFill>
                <a:latin typeface="Arial"/>
                <a:ea typeface="Arial"/>
                <a:cs typeface="Arial"/>
                <a:sym typeface="Arial"/>
              </a:rPr>
              <a:t>불법 콘텐츠 식별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8"/>
          <p:cNvSpPr/>
          <p:nvPr/>
        </p:nvSpPr>
        <p:spPr>
          <a:xfrm>
            <a:off x="145543" y="1417340"/>
            <a:ext cx="9615000" cy="51423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8"/>
          <p:cNvSpPr/>
          <p:nvPr/>
        </p:nvSpPr>
        <p:spPr>
          <a:xfrm>
            <a:off x="145542" y="1141221"/>
            <a:ext cx="3202470" cy="275504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불법 의심 사이트 탐색 및 접속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8"/>
          <p:cNvSpPr/>
          <p:nvPr/>
        </p:nvSpPr>
        <p:spPr>
          <a:xfrm>
            <a:off x="3347470" y="904775"/>
            <a:ext cx="3218130" cy="512565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rgbClr val="52741A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미디어 유통 서비스 식별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8"/>
          <p:cNvSpPr/>
          <p:nvPr/>
        </p:nvSpPr>
        <p:spPr>
          <a:xfrm>
            <a:off x="6565823" y="1141221"/>
            <a:ext cx="3194640" cy="275504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불법 사이트 차단 자동화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8"/>
          <p:cNvSpPr txBox="1"/>
          <p:nvPr/>
        </p:nvSpPr>
        <p:spPr>
          <a:xfrm>
            <a:off x="5786065" y="2232986"/>
            <a:ext cx="331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영상 샘플링 알고리즘 개발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8"/>
          <p:cNvSpPr txBox="1"/>
          <p:nvPr/>
        </p:nvSpPr>
        <p:spPr>
          <a:xfrm>
            <a:off x="787370" y="2238850"/>
            <a:ext cx="279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불법 콘텐츠 식별 방법론 연구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2" name="Google Shape;752;p28"/>
          <p:cNvCxnSpPr/>
          <p:nvPr/>
        </p:nvCxnSpPr>
        <p:spPr>
          <a:xfrm>
            <a:off x="4953000" y="2168276"/>
            <a:ext cx="0" cy="4212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753" name="Google Shape;753;p28"/>
          <p:cNvSpPr txBox="1"/>
          <p:nvPr/>
        </p:nvSpPr>
        <p:spPr>
          <a:xfrm>
            <a:off x="606595" y="2799015"/>
            <a:ext cx="423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불법 유통 콘텐츠 분류 및 유통 패턴 분석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국내외 사이트 분석을 통한 불법 콘텐츠 식별 방법론 적용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8"/>
          <p:cNvSpPr txBox="1"/>
          <p:nvPr/>
        </p:nvSpPr>
        <p:spPr>
          <a:xfrm>
            <a:off x="5643052" y="2799015"/>
            <a:ext cx="423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동영상 러닝타임 동기화 모듈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스냅샷 샘플링 모듈 개발 및 고도화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5" name="Google Shape;755;p28"/>
          <p:cNvGrpSpPr/>
          <p:nvPr/>
        </p:nvGrpSpPr>
        <p:grpSpPr>
          <a:xfrm>
            <a:off x="379311" y="2214154"/>
            <a:ext cx="459230" cy="387736"/>
            <a:chOff x="4172205" y="5407312"/>
            <a:chExt cx="567441" cy="479100"/>
          </a:xfrm>
        </p:grpSpPr>
        <p:sp>
          <p:nvSpPr>
            <p:cNvPr id="756" name="Google Shape;756;p28"/>
            <p:cNvSpPr/>
            <p:nvPr/>
          </p:nvSpPr>
          <p:spPr>
            <a:xfrm>
              <a:off x="4260546" y="5407312"/>
              <a:ext cx="479100" cy="479100"/>
            </a:xfrm>
            <a:prstGeom prst="diamond">
              <a:avLst/>
            </a:prstGeom>
            <a:noFill/>
            <a:ln cap="flat" cmpd="sng" w="19050">
              <a:solidFill>
                <a:srgbClr val="52741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28"/>
            <p:cNvSpPr/>
            <p:nvPr/>
          </p:nvSpPr>
          <p:spPr>
            <a:xfrm>
              <a:off x="4172205" y="5407312"/>
              <a:ext cx="479100" cy="479100"/>
            </a:xfrm>
            <a:prstGeom prst="diamond">
              <a:avLst/>
            </a:prstGeom>
            <a:solidFill>
              <a:srgbClr val="527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8" name="Google Shape;758;p28"/>
          <p:cNvGrpSpPr/>
          <p:nvPr/>
        </p:nvGrpSpPr>
        <p:grpSpPr>
          <a:xfrm>
            <a:off x="1331096" y="3752019"/>
            <a:ext cx="2317146" cy="2459811"/>
            <a:chOff x="2274811" y="4534130"/>
            <a:chExt cx="1406718" cy="1493329"/>
          </a:xfrm>
        </p:grpSpPr>
        <p:pic>
          <p:nvPicPr>
            <p:cNvPr descr="국어 연구방법론 질적 연구의 방법별 예시 조사 및 특성 분석 - 인문/교육" id="759" name="Google Shape;759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76613" y="4534130"/>
              <a:ext cx="738187" cy="1044194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descr="질적연구에서의 관찰" id="760" name="Google Shape;760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74811" y="4701627"/>
              <a:ext cx="738187" cy="1043186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descr="Now &amp; Future" id="761" name="Google Shape;761;p28"/>
            <p:cNvPicPr preferRelativeResize="0"/>
            <p:nvPr/>
          </p:nvPicPr>
          <p:blipFill rotWithShape="1">
            <a:blip r:embed="rId5">
              <a:alphaModFix/>
            </a:blip>
            <a:srcRect b="0" l="0" r="44432" t="0"/>
            <a:stretch/>
          </p:blipFill>
          <p:spPr>
            <a:xfrm>
              <a:off x="2634048" y="5037797"/>
              <a:ext cx="1047481" cy="989662"/>
            </a:xfrm>
            <a:custGeom>
              <a:rect b="b" l="l" r="r" t="t"/>
              <a:pathLst>
                <a:path extrusionOk="0" h="1199590" w="1269674">
                  <a:moveTo>
                    <a:pt x="0" y="0"/>
                  </a:moveTo>
                  <a:lnTo>
                    <a:pt x="1081884" y="0"/>
                  </a:lnTo>
                  <a:lnTo>
                    <a:pt x="1081884" y="666584"/>
                  </a:lnTo>
                  <a:lnTo>
                    <a:pt x="1074718" y="670201"/>
                  </a:lnTo>
                  <a:lnTo>
                    <a:pt x="1081884" y="684397"/>
                  </a:lnTo>
                  <a:lnTo>
                    <a:pt x="1081884" y="689963"/>
                  </a:lnTo>
                  <a:lnTo>
                    <a:pt x="1084694" y="689963"/>
                  </a:lnTo>
                  <a:lnTo>
                    <a:pt x="1269674" y="1056398"/>
                  </a:lnTo>
                  <a:lnTo>
                    <a:pt x="1269674" y="1199590"/>
                  </a:lnTo>
                  <a:lnTo>
                    <a:pt x="0" y="119959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762" name="Google Shape;762;p28"/>
          <p:cNvGrpSpPr/>
          <p:nvPr/>
        </p:nvGrpSpPr>
        <p:grpSpPr>
          <a:xfrm>
            <a:off x="5389848" y="2214154"/>
            <a:ext cx="459232" cy="387736"/>
            <a:chOff x="4172203" y="5407312"/>
            <a:chExt cx="567443" cy="479100"/>
          </a:xfrm>
        </p:grpSpPr>
        <p:sp>
          <p:nvSpPr>
            <p:cNvPr id="763" name="Google Shape;763;p28"/>
            <p:cNvSpPr/>
            <p:nvPr/>
          </p:nvSpPr>
          <p:spPr>
            <a:xfrm>
              <a:off x="4260546" y="5407312"/>
              <a:ext cx="479100" cy="479100"/>
            </a:xfrm>
            <a:prstGeom prst="diamond">
              <a:avLst/>
            </a:prstGeom>
            <a:noFill/>
            <a:ln cap="flat" cmpd="sng" w="19050">
              <a:solidFill>
                <a:srgbClr val="52741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28"/>
            <p:cNvSpPr/>
            <p:nvPr/>
          </p:nvSpPr>
          <p:spPr>
            <a:xfrm>
              <a:off x="4172203" y="5407312"/>
              <a:ext cx="479100" cy="479100"/>
            </a:xfrm>
            <a:prstGeom prst="diamond">
              <a:avLst/>
            </a:prstGeom>
            <a:solidFill>
              <a:srgbClr val="527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5" name="Google Shape;765;p28"/>
          <p:cNvGrpSpPr/>
          <p:nvPr/>
        </p:nvGrpSpPr>
        <p:grpSpPr>
          <a:xfrm>
            <a:off x="5492006" y="3672710"/>
            <a:ext cx="3845873" cy="2700668"/>
            <a:chOff x="7917604" y="4324748"/>
            <a:chExt cx="1224878" cy="942477"/>
          </a:xfrm>
        </p:grpSpPr>
        <p:pic>
          <p:nvPicPr>
            <p:cNvPr id="766" name="Google Shape;766;p28"/>
            <p:cNvPicPr preferRelativeResize="0"/>
            <p:nvPr/>
          </p:nvPicPr>
          <p:blipFill rotWithShape="1">
            <a:blip r:embed="rId6">
              <a:alphaModFix/>
            </a:blip>
            <a:srcRect b="0" l="0" r="75651" t="0"/>
            <a:stretch/>
          </p:blipFill>
          <p:spPr>
            <a:xfrm>
              <a:off x="7917604" y="4324748"/>
              <a:ext cx="528716" cy="4826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7" name="Google Shape;767;p28"/>
            <p:cNvPicPr preferRelativeResize="0"/>
            <p:nvPr/>
          </p:nvPicPr>
          <p:blipFill rotWithShape="1">
            <a:blip r:embed="rId6">
              <a:alphaModFix/>
            </a:blip>
            <a:srcRect b="0" l="38232" r="34771" t="0"/>
            <a:stretch/>
          </p:blipFill>
          <p:spPr>
            <a:xfrm>
              <a:off x="8556253" y="4507276"/>
              <a:ext cx="586229" cy="482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8" name="Google Shape;768;p28"/>
            <p:cNvPicPr preferRelativeResize="0"/>
            <p:nvPr/>
          </p:nvPicPr>
          <p:blipFill rotWithShape="1">
            <a:blip r:embed="rId6">
              <a:alphaModFix/>
            </a:blip>
            <a:srcRect b="0" l="78777" r="0" t="8097"/>
            <a:stretch/>
          </p:blipFill>
          <p:spPr>
            <a:xfrm>
              <a:off x="7980528" y="4823676"/>
              <a:ext cx="460841" cy="4435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9" name="Google Shape;769;p28"/>
            <p:cNvPicPr preferRelativeResize="0"/>
            <p:nvPr/>
          </p:nvPicPr>
          <p:blipFill rotWithShape="1">
            <a:blip r:embed="rId6">
              <a:alphaModFix/>
            </a:blip>
            <a:srcRect b="48343" l="66789" r="25652" t="30322"/>
            <a:stretch/>
          </p:blipFill>
          <p:spPr>
            <a:xfrm rot="9280386">
              <a:off x="8441323" y="4887700"/>
              <a:ext cx="164140" cy="102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0" name="Google Shape;770;p28"/>
            <p:cNvPicPr preferRelativeResize="0"/>
            <p:nvPr/>
          </p:nvPicPr>
          <p:blipFill rotWithShape="1">
            <a:blip r:embed="rId6">
              <a:alphaModFix/>
            </a:blip>
            <a:srcRect b="48343" l="66789" r="25652" t="30322"/>
            <a:stretch/>
          </p:blipFill>
          <p:spPr>
            <a:xfrm rot="1228747">
              <a:off x="8435634" y="4550693"/>
              <a:ext cx="164141" cy="10296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29"/>
          <p:cNvSpPr txBox="1"/>
          <p:nvPr>
            <p:ph type="title"/>
          </p:nvPr>
        </p:nvSpPr>
        <p:spPr>
          <a:xfrm>
            <a:off x="379379" y="190641"/>
            <a:ext cx="854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2. 추진 체계 적정성 및 연구 개발 방법의 창의성_구체성</a:t>
            </a:r>
            <a:endParaRPr/>
          </a:p>
        </p:txBody>
      </p:sp>
      <p:sp>
        <p:nvSpPr>
          <p:cNvPr id="777" name="Google Shape;777;p29"/>
          <p:cNvSpPr txBox="1"/>
          <p:nvPr/>
        </p:nvSpPr>
        <p:spPr>
          <a:xfrm>
            <a:off x="7923089" y="-8798"/>
            <a:ext cx="18246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p.14~34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9"/>
          <p:cNvSpPr/>
          <p:nvPr/>
        </p:nvSpPr>
        <p:spPr>
          <a:xfrm>
            <a:off x="145541" y="1417340"/>
            <a:ext cx="9615000" cy="500100"/>
          </a:xfrm>
          <a:prstGeom prst="rect">
            <a:avLst/>
          </a:prstGeom>
          <a:solidFill>
            <a:srgbClr val="EAF6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rgbClr val="293B0D"/>
                </a:solidFill>
                <a:latin typeface="Arial"/>
                <a:ea typeface="Arial"/>
                <a:cs typeface="Arial"/>
                <a:sym typeface="Arial"/>
              </a:rPr>
              <a:t>불법 콘텐츠 식별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9"/>
          <p:cNvSpPr/>
          <p:nvPr/>
        </p:nvSpPr>
        <p:spPr>
          <a:xfrm>
            <a:off x="145543" y="1417340"/>
            <a:ext cx="9615000" cy="51423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9"/>
          <p:cNvSpPr/>
          <p:nvPr/>
        </p:nvSpPr>
        <p:spPr>
          <a:xfrm>
            <a:off x="145542" y="1141221"/>
            <a:ext cx="3202470" cy="275504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불법 의심 사이트 탐색 및 접속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9"/>
          <p:cNvSpPr/>
          <p:nvPr/>
        </p:nvSpPr>
        <p:spPr>
          <a:xfrm>
            <a:off x="3347470" y="904775"/>
            <a:ext cx="3218130" cy="512565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rgbClr val="52741A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불법 미디어 유통 서비스 식별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9"/>
          <p:cNvSpPr/>
          <p:nvPr/>
        </p:nvSpPr>
        <p:spPr>
          <a:xfrm>
            <a:off x="6565823" y="1141221"/>
            <a:ext cx="3194640" cy="275504"/>
          </a:xfrm>
          <a:custGeom>
            <a:rect b="b" l="l" r="r" t="t"/>
            <a:pathLst>
              <a:path extrusionOk="0" h="512565" w="3132000">
                <a:moveTo>
                  <a:pt x="82959" y="0"/>
                </a:moveTo>
                <a:lnTo>
                  <a:pt x="3049041" y="0"/>
                </a:lnTo>
                <a:lnTo>
                  <a:pt x="3132000" y="82959"/>
                </a:lnTo>
                <a:lnTo>
                  <a:pt x="3132000" y="512565"/>
                </a:lnTo>
                <a:lnTo>
                  <a:pt x="0" y="512565"/>
                </a:lnTo>
                <a:lnTo>
                  <a:pt x="0" y="82959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-KR" sz="15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불법 사이트 차단 자동화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9"/>
          <p:cNvSpPr txBox="1"/>
          <p:nvPr/>
        </p:nvSpPr>
        <p:spPr>
          <a:xfrm>
            <a:off x="5786065" y="2232986"/>
            <a:ext cx="331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영상 유사도 비교 알고리즘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9"/>
          <p:cNvSpPr txBox="1"/>
          <p:nvPr/>
        </p:nvSpPr>
        <p:spPr>
          <a:xfrm>
            <a:off x="787370" y="2238850"/>
            <a:ext cx="408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저작권 영상 키프레임 탐지 및 저장 기술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5" name="Google Shape;785;p29"/>
          <p:cNvCxnSpPr/>
          <p:nvPr/>
        </p:nvCxnSpPr>
        <p:spPr>
          <a:xfrm>
            <a:off x="4953000" y="2168276"/>
            <a:ext cx="0" cy="4212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786" name="Google Shape;786;p29"/>
          <p:cNvSpPr txBox="1"/>
          <p:nvPr/>
        </p:nvSpPr>
        <p:spPr>
          <a:xfrm>
            <a:off x="557012" y="2799123"/>
            <a:ext cx="4236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CNN Features 를 활용한 SCD (Scene Change Detection)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모듈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키프레임 탐지 모델 훈련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씬 분할 모듈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9"/>
          <p:cNvSpPr txBox="1"/>
          <p:nvPr/>
        </p:nvSpPr>
        <p:spPr>
          <a:xfrm>
            <a:off x="5593469" y="2799123"/>
            <a:ext cx="4236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스냅샷 비교 알고리즘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키프레임 비교 알고리즘 개발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데이터 분산 병렬처리 시스템 구축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38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8" name="Google Shape;788;p29"/>
          <p:cNvGrpSpPr/>
          <p:nvPr/>
        </p:nvGrpSpPr>
        <p:grpSpPr>
          <a:xfrm>
            <a:off x="379311" y="2214154"/>
            <a:ext cx="459230" cy="387736"/>
            <a:chOff x="4172205" y="5407312"/>
            <a:chExt cx="567441" cy="479100"/>
          </a:xfrm>
        </p:grpSpPr>
        <p:sp>
          <p:nvSpPr>
            <p:cNvPr id="789" name="Google Shape;789;p29"/>
            <p:cNvSpPr/>
            <p:nvPr/>
          </p:nvSpPr>
          <p:spPr>
            <a:xfrm>
              <a:off x="4260546" y="5407312"/>
              <a:ext cx="479100" cy="479100"/>
            </a:xfrm>
            <a:prstGeom prst="diamond">
              <a:avLst/>
            </a:prstGeom>
            <a:noFill/>
            <a:ln cap="flat" cmpd="sng" w="19050">
              <a:solidFill>
                <a:srgbClr val="52741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29"/>
            <p:cNvSpPr/>
            <p:nvPr/>
          </p:nvSpPr>
          <p:spPr>
            <a:xfrm>
              <a:off x="4172205" y="5407312"/>
              <a:ext cx="479100" cy="479100"/>
            </a:xfrm>
            <a:prstGeom prst="diamond">
              <a:avLst/>
            </a:prstGeom>
            <a:solidFill>
              <a:srgbClr val="527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1" name="Google Shape;791;p29"/>
          <p:cNvGrpSpPr/>
          <p:nvPr/>
        </p:nvGrpSpPr>
        <p:grpSpPr>
          <a:xfrm>
            <a:off x="5389848" y="2214154"/>
            <a:ext cx="459232" cy="387736"/>
            <a:chOff x="4172203" y="5407312"/>
            <a:chExt cx="567443" cy="479100"/>
          </a:xfrm>
        </p:grpSpPr>
        <p:sp>
          <p:nvSpPr>
            <p:cNvPr id="792" name="Google Shape;792;p29"/>
            <p:cNvSpPr/>
            <p:nvPr/>
          </p:nvSpPr>
          <p:spPr>
            <a:xfrm>
              <a:off x="4260546" y="5407312"/>
              <a:ext cx="479100" cy="479100"/>
            </a:xfrm>
            <a:prstGeom prst="diamond">
              <a:avLst/>
            </a:prstGeom>
            <a:noFill/>
            <a:ln cap="flat" cmpd="sng" w="19050">
              <a:solidFill>
                <a:srgbClr val="52741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29"/>
            <p:cNvSpPr/>
            <p:nvPr/>
          </p:nvSpPr>
          <p:spPr>
            <a:xfrm>
              <a:off x="4172203" y="5407312"/>
              <a:ext cx="479100" cy="479100"/>
            </a:xfrm>
            <a:prstGeom prst="diamond">
              <a:avLst/>
            </a:prstGeom>
            <a:solidFill>
              <a:srgbClr val="52741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4" name="Google Shape;794;p29"/>
          <p:cNvGrpSpPr/>
          <p:nvPr/>
        </p:nvGrpSpPr>
        <p:grpSpPr>
          <a:xfrm>
            <a:off x="1293390" y="3650897"/>
            <a:ext cx="2511425" cy="2810668"/>
            <a:chOff x="397541" y="4367708"/>
            <a:chExt cx="1343151" cy="1644531"/>
          </a:xfrm>
        </p:grpSpPr>
        <p:pic>
          <p:nvPicPr>
            <p:cNvPr id="795" name="Google Shape;795;p29"/>
            <p:cNvPicPr preferRelativeResize="0"/>
            <p:nvPr/>
          </p:nvPicPr>
          <p:blipFill rotWithShape="1">
            <a:blip r:embed="rId3">
              <a:alphaModFix/>
            </a:blip>
            <a:srcRect b="0" l="0" r="53491" t="0"/>
            <a:stretch/>
          </p:blipFill>
          <p:spPr>
            <a:xfrm>
              <a:off x="425789" y="4367708"/>
              <a:ext cx="1314904" cy="660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6" name="Google Shape;796;p29"/>
            <p:cNvPicPr preferRelativeResize="0"/>
            <p:nvPr/>
          </p:nvPicPr>
          <p:blipFill rotWithShape="1">
            <a:blip r:embed="rId3">
              <a:alphaModFix/>
            </a:blip>
            <a:srcRect b="0" l="54761" r="0" t="0"/>
            <a:stretch/>
          </p:blipFill>
          <p:spPr>
            <a:xfrm>
              <a:off x="443736" y="5351597"/>
              <a:ext cx="1279011" cy="66064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97" name="Google Shape;797;p29"/>
            <p:cNvCxnSpPr/>
            <p:nvPr/>
          </p:nvCxnSpPr>
          <p:spPr>
            <a:xfrm>
              <a:off x="443736" y="5026114"/>
              <a:ext cx="412200" cy="10410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dot"/>
              <a:miter lim="8000"/>
              <a:headEnd len="sm" w="sm" type="none"/>
              <a:tailEnd len="sm" w="sm" type="none"/>
            </a:ln>
          </p:spPr>
        </p:cxnSp>
        <p:cxnSp>
          <p:nvCxnSpPr>
            <p:cNvPr id="798" name="Google Shape;798;p29"/>
            <p:cNvCxnSpPr/>
            <p:nvPr/>
          </p:nvCxnSpPr>
          <p:spPr>
            <a:xfrm flipH="1" rot="10800000">
              <a:off x="1240909" y="5008423"/>
              <a:ext cx="481800" cy="13530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dot"/>
              <a:miter lim="8000"/>
              <a:headEnd len="sm" w="sm" type="none"/>
              <a:tailEnd len="sm" w="sm" type="none"/>
            </a:ln>
          </p:spPr>
        </p:cxnSp>
        <p:cxnSp>
          <p:nvCxnSpPr>
            <p:cNvPr id="799" name="Google Shape;799;p29"/>
            <p:cNvCxnSpPr/>
            <p:nvPr/>
          </p:nvCxnSpPr>
          <p:spPr>
            <a:xfrm>
              <a:off x="444838" y="5236224"/>
              <a:ext cx="4251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800" name="Google Shape;800;p29"/>
            <p:cNvCxnSpPr/>
            <p:nvPr/>
          </p:nvCxnSpPr>
          <p:spPr>
            <a:xfrm>
              <a:off x="444837" y="5236224"/>
              <a:ext cx="0" cy="27870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801" name="Google Shape;801;p29"/>
            <p:cNvCxnSpPr/>
            <p:nvPr/>
          </p:nvCxnSpPr>
          <p:spPr>
            <a:xfrm>
              <a:off x="397669" y="5681918"/>
              <a:ext cx="564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802" name="Google Shape;802;p29"/>
            <p:cNvCxnSpPr/>
            <p:nvPr/>
          </p:nvCxnSpPr>
          <p:spPr>
            <a:xfrm rot="10800000">
              <a:off x="397650" y="5190818"/>
              <a:ext cx="2400" cy="49110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803" name="Google Shape;803;p29"/>
            <p:cNvCxnSpPr>
              <a:endCxn id="804" idx="2"/>
            </p:cNvCxnSpPr>
            <p:nvPr/>
          </p:nvCxnSpPr>
          <p:spPr>
            <a:xfrm flipH="1" rot="10800000">
              <a:off x="397541" y="5190817"/>
              <a:ext cx="458400" cy="270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pic>
          <p:nvPicPr>
            <p:cNvPr id="804" name="Google Shape;804;p29"/>
            <p:cNvPicPr preferRelativeResize="0"/>
            <p:nvPr/>
          </p:nvPicPr>
          <p:blipFill rotWithShape="1">
            <a:blip r:embed="rId3">
              <a:alphaModFix/>
            </a:blip>
            <a:srcRect b="31125" l="48990" r="47369" t="11205"/>
            <a:stretch/>
          </p:blipFill>
          <p:spPr>
            <a:xfrm rot="5400000">
              <a:off x="994990" y="5000316"/>
              <a:ext cx="102904" cy="381001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pic>
        <p:nvPicPr>
          <p:cNvPr id="805" name="Google Shape;80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8668" y="4361794"/>
            <a:ext cx="4534765" cy="1391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0"/>
          <p:cNvSpPr txBox="1"/>
          <p:nvPr>
            <p:ph type="title"/>
          </p:nvPr>
        </p:nvSpPr>
        <p:spPr>
          <a:xfrm>
            <a:off x="379379" y="190641"/>
            <a:ext cx="854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2. 추진 체계 적정성 및 연구 개발 방법의 창의성_구체성</a:t>
            </a:r>
            <a:endParaRPr/>
          </a:p>
        </p:txBody>
      </p:sp>
      <p:sp>
        <p:nvSpPr>
          <p:cNvPr id="812" name="Google Shape;812;p30"/>
          <p:cNvSpPr txBox="1"/>
          <p:nvPr/>
        </p:nvSpPr>
        <p:spPr>
          <a:xfrm>
            <a:off x="7923089" y="-8798"/>
            <a:ext cx="18246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p.14~34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3" name="Google Shape;813;p30"/>
          <p:cNvGrpSpPr/>
          <p:nvPr/>
        </p:nvGrpSpPr>
        <p:grpSpPr>
          <a:xfrm>
            <a:off x="145542" y="904775"/>
            <a:ext cx="9615001" cy="5654865"/>
            <a:chOff x="145542" y="904775"/>
            <a:chExt cx="9615001" cy="5654865"/>
          </a:xfrm>
        </p:grpSpPr>
        <p:sp>
          <p:nvSpPr>
            <p:cNvPr id="814" name="Google Shape;814;p30"/>
            <p:cNvSpPr/>
            <p:nvPr/>
          </p:nvSpPr>
          <p:spPr>
            <a:xfrm>
              <a:off x="145543" y="1417340"/>
              <a:ext cx="9615000" cy="5142300"/>
            </a:xfrm>
            <a:prstGeom prst="rect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30"/>
            <p:cNvSpPr/>
            <p:nvPr/>
          </p:nvSpPr>
          <p:spPr>
            <a:xfrm>
              <a:off x="145542" y="1141221"/>
              <a:ext cx="3202470" cy="275504"/>
            </a:xfrm>
            <a:custGeom>
              <a:rect b="b" l="l" r="r" t="t"/>
              <a:pathLst>
                <a:path extrusionOk="0" h="512565" w="3132000">
                  <a:moveTo>
                    <a:pt x="82959" y="0"/>
                  </a:moveTo>
                  <a:lnTo>
                    <a:pt x="3049041" y="0"/>
                  </a:lnTo>
                  <a:lnTo>
                    <a:pt x="3132000" y="82959"/>
                  </a:lnTo>
                  <a:lnTo>
                    <a:pt x="3132000" y="512565"/>
                  </a:lnTo>
                  <a:lnTo>
                    <a:pt x="0" y="512565"/>
                  </a:lnTo>
                  <a:lnTo>
                    <a:pt x="0" y="82959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D8D8D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ko-KR" sz="1500" u="none" cap="none" strike="noStrike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불법 의심 사이트 탐색 및 접속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30"/>
            <p:cNvSpPr/>
            <p:nvPr/>
          </p:nvSpPr>
          <p:spPr>
            <a:xfrm>
              <a:off x="3347470" y="1141221"/>
              <a:ext cx="3218130" cy="275504"/>
            </a:xfrm>
            <a:custGeom>
              <a:rect b="b" l="l" r="r" t="t"/>
              <a:pathLst>
                <a:path extrusionOk="0" h="512565" w="3132000">
                  <a:moveTo>
                    <a:pt x="82959" y="0"/>
                  </a:moveTo>
                  <a:lnTo>
                    <a:pt x="3049041" y="0"/>
                  </a:lnTo>
                  <a:lnTo>
                    <a:pt x="3132000" y="82959"/>
                  </a:lnTo>
                  <a:lnTo>
                    <a:pt x="3132000" y="512565"/>
                  </a:lnTo>
                  <a:lnTo>
                    <a:pt x="0" y="512565"/>
                  </a:lnTo>
                  <a:lnTo>
                    <a:pt x="0" y="82959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D8D8D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ko-KR" sz="1500" u="none" cap="none" strike="noStrike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불법 미디어 유통 서비스 식별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30"/>
            <p:cNvSpPr/>
            <p:nvPr/>
          </p:nvSpPr>
          <p:spPr>
            <a:xfrm>
              <a:off x="6565823" y="904775"/>
              <a:ext cx="3194640" cy="512565"/>
            </a:xfrm>
            <a:custGeom>
              <a:rect b="b" l="l" r="r" t="t"/>
              <a:pathLst>
                <a:path extrusionOk="0" h="512565" w="3132000">
                  <a:moveTo>
                    <a:pt x="82959" y="0"/>
                  </a:moveTo>
                  <a:lnTo>
                    <a:pt x="3049041" y="0"/>
                  </a:lnTo>
                  <a:lnTo>
                    <a:pt x="3132000" y="82959"/>
                  </a:lnTo>
                  <a:lnTo>
                    <a:pt x="3132000" y="512565"/>
                  </a:lnTo>
                  <a:lnTo>
                    <a:pt x="0" y="512565"/>
                  </a:lnTo>
                  <a:lnTo>
                    <a:pt x="0" y="82959"/>
                  </a:lnTo>
                  <a:close/>
                </a:path>
              </a:pathLst>
            </a:custGeom>
            <a:solidFill>
              <a:srgbClr val="820E7C"/>
            </a:solidFill>
            <a:ln cap="flat" cmpd="sng" w="9525">
              <a:solidFill>
                <a:srgbClr val="D8D8D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ko-K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불법 사이트 차단 자동화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8" name="Google Shape;818;p30"/>
          <p:cNvSpPr/>
          <p:nvPr/>
        </p:nvSpPr>
        <p:spPr>
          <a:xfrm>
            <a:off x="145541" y="1417340"/>
            <a:ext cx="9615000" cy="500100"/>
          </a:xfrm>
          <a:prstGeom prst="rect">
            <a:avLst/>
          </a:prstGeom>
          <a:solidFill>
            <a:srgbClr val="FEEC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679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rgbClr val="7F0679"/>
                </a:solidFill>
                <a:latin typeface="Arial"/>
                <a:ea typeface="Arial"/>
                <a:cs typeface="Arial"/>
                <a:sym typeface="Arial"/>
              </a:rPr>
              <a:t>검증 정보 생성 및 차단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30"/>
          <p:cNvSpPr/>
          <p:nvPr/>
        </p:nvSpPr>
        <p:spPr>
          <a:xfrm>
            <a:off x="3775092" y="2214240"/>
            <a:ext cx="387900" cy="387900"/>
          </a:xfrm>
          <a:prstGeom prst="diamond">
            <a:avLst/>
          </a:prstGeom>
          <a:noFill/>
          <a:ln cap="flat" cmpd="sng" w="19050">
            <a:solidFill>
              <a:srgbClr val="820E7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30"/>
          <p:cNvSpPr/>
          <p:nvPr/>
        </p:nvSpPr>
        <p:spPr>
          <a:xfrm>
            <a:off x="3703595" y="2214240"/>
            <a:ext cx="387900" cy="387900"/>
          </a:xfrm>
          <a:prstGeom prst="diamond">
            <a:avLst/>
          </a:prstGeom>
          <a:solidFill>
            <a:srgbClr val="820E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30"/>
          <p:cNvSpPr txBox="1"/>
          <p:nvPr/>
        </p:nvSpPr>
        <p:spPr>
          <a:xfrm>
            <a:off x="4140601" y="2115740"/>
            <a:ext cx="1911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심의 증빙 및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신고서 생성 기능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30"/>
          <p:cNvSpPr/>
          <p:nvPr/>
        </p:nvSpPr>
        <p:spPr>
          <a:xfrm>
            <a:off x="6950401" y="2214240"/>
            <a:ext cx="387900" cy="387900"/>
          </a:xfrm>
          <a:prstGeom prst="diamond">
            <a:avLst/>
          </a:prstGeom>
          <a:noFill/>
          <a:ln cap="flat" cmpd="sng" w="19050">
            <a:solidFill>
              <a:srgbClr val="820E7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30"/>
          <p:cNvSpPr/>
          <p:nvPr/>
        </p:nvSpPr>
        <p:spPr>
          <a:xfrm>
            <a:off x="6878904" y="2214240"/>
            <a:ext cx="387900" cy="387900"/>
          </a:xfrm>
          <a:prstGeom prst="diamond">
            <a:avLst/>
          </a:prstGeom>
          <a:solidFill>
            <a:srgbClr val="820E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30"/>
          <p:cNvSpPr txBox="1"/>
          <p:nvPr/>
        </p:nvSpPr>
        <p:spPr>
          <a:xfrm>
            <a:off x="7312349" y="2114479"/>
            <a:ext cx="1800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시스템 연동을 통한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신고서 제출 기능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30"/>
          <p:cNvSpPr txBox="1"/>
          <p:nvPr/>
        </p:nvSpPr>
        <p:spPr>
          <a:xfrm>
            <a:off x="785579" y="2115740"/>
            <a:ext cx="26013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국내 저작권법 OSP 규정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관련 제도 개선 사항 분석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30"/>
          <p:cNvSpPr/>
          <p:nvPr/>
        </p:nvSpPr>
        <p:spPr>
          <a:xfrm>
            <a:off x="442697" y="2214240"/>
            <a:ext cx="387900" cy="387900"/>
          </a:xfrm>
          <a:prstGeom prst="diamond">
            <a:avLst/>
          </a:prstGeom>
          <a:noFill/>
          <a:ln cap="flat" cmpd="sng" w="19050">
            <a:solidFill>
              <a:srgbClr val="820E7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30"/>
          <p:cNvSpPr/>
          <p:nvPr/>
        </p:nvSpPr>
        <p:spPr>
          <a:xfrm>
            <a:off x="371200" y="2214240"/>
            <a:ext cx="387900" cy="387900"/>
          </a:xfrm>
          <a:prstGeom prst="diamond">
            <a:avLst/>
          </a:prstGeom>
          <a:solidFill>
            <a:srgbClr val="820E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8" name="Google Shape;828;p30"/>
          <p:cNvCxnSpPr/>
          <p:nvPr/>
        </p:nvCxnSpPr>
        <p:spPr>
          <a:xfrm>
            <a:off x="3347470" y="2168276"/>
            <a:ext cx="0" cy="4212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lgDash"/>
            <a:miter lim="8000"/>
            <a:headEnd len="sm" w="sm" type="none"/>
            <a:tailEnd len="sm" w="sm" type="none"/>
          </a:ln>
        </p:spPr>
      </p:cxnSp>
      <p:cxnSp>
        <p:nvCxnSpPr>
          <p:cNvPr id="829" name="Google Shape;829;p30"/>
          <p:cNvCxnSpPr/>
          <p:nvPr/>
        </p:nvCxnSpPr>
        <p:spPr>
          <a:xfrm>
            <a:off x="6568450" y="2168276"/>
            <a:ext cx="0" cy="4212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830" name="Google Shape;830;p30"/>
          <p:cNvSpPr txBox="1"/>
          <p:nvPr/>
        </p:nvSpPr>
        <p:spPr>
          <a:xfrm>
            <a:off x="557390" y="2799015"/>
            <a:ext cx="25926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불법 콘텐츠 차단을 위한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온라인 서비스 제공자 규제 동향 분석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불법 콘텐츠 이용에 대한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권리자 통지와 호스팅 서비스의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대응 체계 분석 및 수립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불법사이트 차단 위한 국제 조약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(FTA 등) 분석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30"/>
          <p:cNvSpPr txBox="1"/>
          <p:nvPr/>
        </p:nvSpPr>
        <p:spPr>
          <a:xfrm>
            <a:off x="3885105" y="2799015"/>
            <a:ext cx="2377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불법 복제물 신고 자료 작성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자동화 기능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실시간 신고 자료 작성 및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제출 기능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30"/>
          <p:cNvSpPr txBox="1"/>
          <p:nvPr/>
        </p:nvSpPr>
        <p:spPr>
          <a:xfrm>
            <a:off x="7072791" y="2799015"/>
            <a:ext cx="22758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한국저작권보호원 (copy112) 신고시스템 분석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제출 자동화 모듈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SNS 신고 자동화 기능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수익 창출 플랫폼 신고 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자동화 기능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3" name="Google Shape;833;p30"/>
          <p:cNvGrpSpPr/>
          <p:nvPr/>
        </p:nvGrpSpPr>
        <p:grpSpPr>
          <a:xfrm>
            <a:off x="851249" y="4274493"/>
            <a:ext cx="1906095" cy="2105224"/>
            <a:chOff x="7672439" y="4395420"/>
            <a:chExt cx="1665876" cy="1839909"/>
          </a:xfrm>
        </p:grpSpPr>
        <p:pic>
          <p:nvPicPr>
            <p:cNvPr descr="1인 기업 법률이슈] 01. 당신의 사업은 안전한가요? - 위클리포스트(weeklypost)" id="834" name="Google Shape;834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4343" y="5127097"/>
              <a:ext cx="1663972" cy="11082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라우드스피커, 원, 스케치, 디자인이(가) 표시된 사진&#10;&#10;자동 생성된 설명" id="835" name="Google Shape;835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30899" y="4395420"/>
              <a:ext cx="1570932" cy="7172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echnical issue icon set. Problem, error and warning symbol. Stock 벡터 |  Adobe Stock" id="836" name="Google Shape;836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72439" y="4988880"/>
              <a:ext cx="1250866" cy="39029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7" name="Google Shape;837;p30"/>
          <p:cNvGrpSpPr/>
          <p:nvPr/>
        </p:nvGrpSpPr>
        <p:grpSpPr>
          <a:xfrm>
            <a:off x="3885827" y="3844568"/>
            <a:ext cx="2165816" cy="2546878"/>
            <a:chOff x="4090924" y="4433958"/>
            <a:chExt cx="1356603" cy="1522342"/>
          </a:xfrm>
        </p:grpSpPr>
        <p:grpSp>
          <p:nvGrpSpPr>
            <p:cNvPr id="838" name="Google Shape;838;p30"/>
            <p:cNvGrpSpPr/>
            <p:nvPr/>
          </p:nvGrpSpPr>
          <p:grpSpPr>
            <a:xfrm>
              <a:off x="4167816" y="4433958"/>
              <a:ext cx="1205450" cy="951792"/>
              <a:chOff x="3999265" y="4754088"/>
              <a:chExt cx="1395520" cy="1045580"/>
            </a:xfrm>
          </p:grpSpPr>
          <p:pic>
            <p:nvPicPr>
              <p:cNvPr descr="중소기업의 보도자료 단골 주제 6가지 - 홍보의 모든 것" id="839" name="Google Shape;839;p3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999265" y="4868540"/>
                <a:ext cx="1395520" cy="93112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사건사고 제보서 샘플, 양식 다운로드" id="840" name="Google Shape;840;p30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4675505" y="4754088"/>
                <a:ext cx="364019" cy="514542"/>
              </a:xfrm>
              <a:prstGeom prst="rect">
                <a:avLst/>
              </a:prstGeom>
              <a:noFill/>
              <a:ln cap="flat" cmpd="sng" w="9525">
                <a:solidFill>
                  <a:srgbClr val="A5A5A5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</p:grpSp>
        <p:pic>
          <p:nvPicPr>
            <p:cNvPr id="841" name="Google Shape;841;p3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090924" y="5271655"/>
              <a:ext cx="642882" cy="684645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descr="생성형 AI 언어 모델의 HRD 활용 방안(1) - 생성형 AI 언어 모델의 기술적 배경 : 인키움 HRD 칼럼 / 트렌드" id="842" name="Google Shape;842;p30"/>
            <p:cNvPicPr preferRelativeResize="0"/>
            <p:nvPr/>
          </p:nvPicPr>
          <p:blipFill rotWithShape="1">
            <a:blip r:embed="rId9">
              <a:alphaModFix/>
            </a:blip>
            <a:srcRect b="31364" l="5880" r="4345" t="22087"/>
            <a:stretch/>
          </p:blipFill>
          <p:spPr>
            <a:xfrm>
              <a:off x="4552556" y="5473981"/>
              <a:ext cx="894971" cy="4099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3" name="Google Shape;843;p30"/>
            <p:cNvSpPr/>
            <p:nvPr/>
          </p:nvSpPr>
          <p:spPr>
            <a:xfrm rot="-5940421">
              <a:off x="4750811" y="5042816"/>
              <a:ext cx="831655" cy="235114"/>
            </a:xfrm>
            <a:prstGeom prst="curvedUp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라이브 스트리밍 Youtube - Pixabay의 무료 이미지 - Pixabay" id="844" name="Google Shape;844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85105" y="3761562"/>
            <a:ext cx="789531" cy="5921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023 연말정산 기간, 환급금 지급일 및 계산방법, 홈택스 간소화 이용방법 알아보기🔍" id="845" name="Google Shape;845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86827" y="4282502"/>
            <a:ext cx="2952625" cy="1671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1"/>
          <p:cNvSpPr txBox="1"/>
          <p:nvPr>
            <p:ph type="title"/>
          </p:nvPr>
        </p:nvSpPr>
        <p:spPr>
          <a:xfrm>
            <a:off x="379379" y="190641"/>
            <a:ext cx="854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2. 추진 체계 적정성 및 연구 개발 방법의 창의성_구체성</a:t>
            </a:r>
            <a:endParaRPr/>
          </a:p>
        </p:txBody>
      </p:sp>
      <p:sp>
        <p:nvSpPr>
          <p:cNvPr id="852" name="Google Shape;852;p31"/>
          <p:cNvSpPr txBox="1"/>
          <p:nvPr/>
        </p:nvSpPr>
        <p:spPr>
          <a:xfrm>
            <a:off x="7923089" y="-8798"/>
            <a:ext cx="18246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p.14~34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3" name="Google Shape;853;p31"/>
          <p:cNvGrpSpPr/>
          <p:nvPr/>
        </p:nvGrpSpPr>
        <p:grpSpPr>
          <a:xfrm>
            <a:off x="145542" y="904775"/>
            <a:ext cx="9615001" cy="5654865"/>
            <a:chOff x="145542" y="904775"/>
            <a:chExt cx="9615001" cy="5654865"/>
          </a:xfrm>
        </p:grpSpPr>
        <p:sp>
          <p:nvSpPr>
            <p:cNvPr id="854" name="Google Shape;854;p31"/>
            <p:cNvSpPr/>
            <p:nvPr/>
          </p:nvSpPr>
          <p:spPr>
            <a:xfrm>
              <a:off x="145543" y="1417340"/>
              <a:ext cx="9615000" cy="5142300"/>
            </a:xfrm>
            <a:prstGeom prst="rect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31"/>
            <p:cNvSpPr/>
            <p:nvPr/>
          </p:nvSpPr>
          <p:spPr>
            <a:xfrm>
              <a:off x="145542" y="1141221"/>
              <a:ext cx="3202470" cy="275504"/>
            </a:xfrm>
            <a:custGeom>
              <a:rect b="b" l="l" r="r" t="t"/>
              <a:pathLst>
                <a:path extrusionOk="0" h="512565" w="3132000">
                  <a:moveTo>
                    <a:pt x="82959" y="0"/>
                  </a:moveTo>
                  <a:lnTo>
                    <a:pt x="3049041" y="0"/>
                  </a:lnTo>
                  <a:lnTo>
                    <a:pt x="3132000" y="82959"/>
                  </a:lnTo>
                  <a:lnTo>
                    <a:pt x="3132000" y="512565"/>
                  </a:lnTo>
                  <a:lnTo>
                    <a:pt x="0" y="512565"/>
                  </a:lnTo>
                  <a:lnTo>
                    <a:pt x="0" y="82959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D8D8D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ko-KR" sz="1500" u="none" cap="none" strike="noStrike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불법 의심 사이트 탐색 및 접속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31"/>
            <p:cNvSpPr/>
            <p:nvPr/>
          </p:nvSpPr>
          <p:spPr>
            <a:xfrm>
              <a:off x="3347470" y="1141221"/>
              <a:ext cx="3218130" cy="275504"/>
            </a:xfrm>
            <a:custGeom>
              <a:rect b="b" l="l" r="r" t="t"/>
              <a:pathLst>
                <a:path extrusionOk="0" h="512565" w="3132000">
                  <a:moveTo>
                    <a:pt x="82959" y="0"/>
                  </a:moveTo>
                  <a:lnTo>
                    <a:pt x="3049041" y="0"/>
                  </a:lnTo>
                  <a:lnTo>
                    <a:pt x="3132000" y="82959"/>
                  </a:lnTo>
                  <a:lnTo>
                    <a:pt x="3132000" y="512565"/>
                  </a:lnTo>
                  <a:lnTo>
                    <a:pt x="0" y="512565"/>
                  </a:lnTo>
                  <a:lnTo>
                    <a:pt x="0" y="82959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D8D8D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ko-KR" sz="1500" u="none" cap="none" strike="noStrike">
                  <a:solidFill>
                    <a:srgbClr val="BFBFBF"/>
                  </a:solidFill>
                  <a:latin typeface="Arial"/>
                  <a:ea typeface="Arial"/>
                  <a:cs typeface="Arial"/>
                  <a:sym typeface="Arial"/>
                </a:rPr>
                <a:t>불법 미디어 유통 서비스 식별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31"/>
            <p:cNvSpPr/>
            <p:nvPr/>
          </p:nvSpPr>
          <p:spPr>
            <a:xfrm>
              <a:off x="6565823" y="904775"/>
              <a:ext cx="3194640" cy="512565"/>
            </a:xfrm>
            <a:custGeom>
              <a:rect b="b" l="l" r="r" t="t"/>
              <a:pathLst>
                <a:path extrusionOk="0" h="512565" w="3132000">
                  <a:moveTo>
                    <a:pt x="82959" y="0"/>
                  </a:moveTo>
                  <a:lnTo>
                    <a:pt x="3049041" y="0"/>
                  </a:lnTo>
                  <a:lnTo>
                    <a:pt x="3132000" y="82959"/>
                  </a:lnTo>
                  <a:lnTo>
                    <a:pt x="3132000" y="512565"/>
                  </a:lnTo>
                  <a:lnTo>
                    <a:pt x="0" y="512565"/>
                  </a:lnTo>
                  <a:lnTo>
                    <a:pt x="0" y="82959"/>
                  </a:lnTo>
                  <a:close/>
                </a:path>
              </a:pathLst>
            </a:custGeom>
            <a:solidFill>
              <a:srgbClr val="820E7C"/>
            </a:solidFill>
            <a:ln cap="flat" cmpd="sng" w="9525">
              <a:solidFill>
                <a:srgbClr val="D8D8D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ko-K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불법 사이트 차단 자동화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8" name="Google Shape;858;p31"/>
          <p:cNvSpPr/>
          <p:nvPr/>
        </p:nvSpPr>
        <p:spPr>
          <a:xfrm>
            <a:off x="145541" y="1417340"/>
            <a:ext cx="9615000" cy="500100"/>
          </a:xfrm>
          <a:prstGeom prst="rect">
            <a:avLst/>
          </a:prstGeom>
          <a:solidFill>
            <a:srgbClr val="FEEC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679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rgbClr val="7F0679"/>
                </a:solidFill>
                <a:latin typeface="Arial"/>
                <a:ea typeface="Arial"/>
                <a:cs typeface="Arial"/>
                <a:sym typeface="Arial"/>
              </a:rPr>
              <a:t>검증 정보 생성 및 차단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1"/>
          <p:cNvSpPr/>
          <p:nvPr/>
        </p:nvSpPr>
        <p:spPr>
          <a:xfrm>
            <a:off x="3775092" y="2214240"/>
            <a:ext cx="387900" cy="387900"/>
          </a:xfrm>
          <a:prstGeom prst="diamond">
            <a:avLst/>
          </a:prstGeom>
          <a:noFill/>
          <a:ln cap="flat" cmpd="sng" w="19050">
            <a:solidFill>
              <a:srgbClr val="820E7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31"/>
          <p:cNvSpPr/>
          <p:nvPr/>
        </p:nvSpPr>
        <p:spPr>
          <a:xfrm>
            <a:off x="3703595" y="2214240"/>
            <a:ext cx="387900" cy="387900"/>
          </a:xfrm>
          <a:prstGeom prst="diamond">
            <a:avLst/>
          </a:prstGeom>
          <a:solidFill>
            <a:srgbClr val="820E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31"/>
          <p:cNvSpPr txBox="1"/>
          <p:nvPr/>
        </p:nvSpPr>
        <p:spPr>
          <a:xfrm>
            <a:off x="4140601" y="2275382"/>
            <a:ext cx="216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ISP 서비스 연동 기능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1"/>
          <p:cNvSpPr/>
          <p:nvPr/>
        </p:nvSpPr>
        <p:spPr>
          <a:xfrm>
            <a:off x="6950401" y="2214240"/>
            <a:ext cx="387900" cy="387900"/>
          </a:xfrm>
          <a:prstGeom prst="diamond">
            <a:avLst/>
          </a:prstGeom>
          <a:noFill/>
          <a:ln cap="flat" cmpd="sng" w="19050">
            <a:solidFill>
              <a:srgbClr val="820E7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31"/>
          <p:cNvSpPr/>
          <p:nvPr/>
        </p:nvSpPr>
        <p:spPr>
          <a:xfrm>
            <a:off x="6878904" y="2214240"/>
            <a:ext cx="387900" cy="387900"/>
          </a:xfrm>
          <a:prstGeom prst="diamond">
            <a:avLst/>
          </a:prstGeom>
          <a:solidFill>
            <a:srgbClr val="820E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31"/>
          <p:cNvSpPr txBox="1"/>
          <p:nvPr/>
        </p:nvSpPr>
        <p:spPr>
          <a:xfrm>
            <a:off x="7312348" y="2275382"/>
            <a:ext cx="243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자동 심의 증빙 생성 기능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31"/>
          <p:cNvSpPr txBox="1"/>
          <p:nvPr/>
        </p:nvSpPr>
        <p:spPr>
          <a:xfrm>
            <a:off x="785579" y="2152272"/>
            <a:ext cx="24504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LLM 기반 자동 경고장</a:t>
            </a:r>
            <a:b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ko-KR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생성 기능 개발</a:t>
            </a:r>
            <a:endParaRPr b="1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31"/>
          <p:cNvSpPr/>
          <p:nvPr/>
        </p:nvSpPr>
        <p:spPr>
          <a:xfrm>
            <a:off x="442697" y="2214240"/>
            <a:ext cx="387900" cy="387900"/>
          </a:xfrm>
          <a:prstGeom prst="diamond">
            <a:avLst/>
          </a:prstGeom>
          <a:noFill/>
          <a:ln cap="flat" cmpd="sng" w="19050">
            <a:solidFill>
              <a:srgbClr val="820E7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31"/>
          <p:cNvSpPr/>
          <p:nvPr/>
        </p:nvSpPr>
        <p:spPr>
          <a:xfrm>
            <a:off x="371200" y="2214240"/>
            <a:ext cx="387900" cy="387900"/>
          </a:xfrm>
          <a:prstGeom prst="diamond">
            <a:avLst/>
          </a:prstGeom>
          <a:solidFill>
            <a:srgbClr val="820E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8" name="Google Shape;868;p31"/>
          <p:cNvCxnSpPr/>
          <p:nvPr/>
        </p:nvCxnSpPr>
        <p:spPr>
          <a:xfrm>
            <a:off x="3347470" y="2168276"/>
            <a:ext cx="0" cy="4212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lgDash"/>
            <a:miter lim="8000"/>
            <a:headEnd len="sm" w="sm" type="none"/>
            <a:tailEnd len="sm" w="sm" type="none"/>
          </a:ln>
        </p:spPr>
      </p:cxnSp>
      <p:cxnSp>
        <p:nvCxnSpPr>
          <p:cNvPr id="869" name="Google Shape;869;p31"/>
          <p:cNvCxnSpPr/>
          <p:nvPr/>
        </p:nvCxnSpPr>
        <p:spPr>
          <a:xfrm>
            <a:off x="6568450" y="2168276"/>
            <a:ext cx="0" cy="4212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lgDash"/>
            <a:miter lim="8000"/>
            <a:headEnd len="sm" w="sm" type="none"/>
            <a:tailEnd len="sm" w="sm" type="none"/>
          </a:ln>
        </p:spPr>
      </p:cxnSp>
      <p:sp>
        <p:nvSpPr>
          <p:cNvPr id="870" name="Google Shape;870;p31"/>
          <p:cNvSpPr txBox="1"/>
          <p:nvPr/>
        </p:nvSpPr>
        <p:spPr>
          <a:xfrm>
            <a:off x="565087" y="2799015"/>
            <a:ext cx="2621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사이트 대표 이메일 수집 기능 개발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LLM을 활용하여 불법 근거를 포함한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법적 문서(심의 증빙, 경고장)</a:t>
            </a:r>
            <a:b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자동 생성 후 이메일 전송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31"/>
          <p:cNvSpPr txBox="1"/>
          <p:nvPr/>
        </p:nvSpPr>
        <p:spPr>
          <a:xfrm>
            <a:off x="3897482" y="2799015"/>
            <a:ext cx="2275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인터넷 서비스 제공사업자(ISP) 와 업무 연계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ISP 사업자용 API 및Webhook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31"/>
          <p:cNvSpPr txBox="1"/>
          <p:nvPr/>
        </p:nvSpPr>
        <p:spPr>
          <a:xfrm>
            <a:off x="7075629" y="2799015"/>
            <a:ext cx="2275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방송통신심의위원회(방심위)의 심의 신고서 양식에 맞는 증빙 자료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Char char="•"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방송위 신고 연계 시스템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3" name="Google Shape;873;p31"/>
          <p:cNvPicPr preferRelativeResize="0"/>
          <p:nvPr/>
        </p:nvPicPr>
        <p:blipFill rotWithShape="1">
          <a:blip r:embed="rId3">
            <a:alphaModFix/>
          </a:blip>
          <a:srcRect b="17254" l="0" r="0" t="9390"/>
          <a:stretch/>
        </p:blipFill>
        <p:spPr>
          <a:xfrm>
            <a:off x="3389274" y="4229632"/>
            <a:ext cx="3127452" cy="15497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4" name="Google Shape;874;p31"/>
          <p:cNvGrpSpPr/>
          <p:nvPr/>
        </p:nvGrpSpPr>
        <p:grpSpPr>
          <a:xfrm>
            <a:off x="6782883" y="3876516"/>
            <a:ext cx="2840857" cy="2256009"/>
            <a:chOff x="136149" y="2116771"/>
            <a:chExt cx="4272607" cy="3393006"/>
          </a:xfrm>
        </p:grpSpPr>
        <p:pic>
          <p:nvPicPr>
            <p:cNvPr id="875" name="Google Shape;875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6149" y="2116771"/>
              <a:ext cx="3278558" cy="2861714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pic>
        <p:pic>
          <p:nvPicPr>
            <p:cNvPr id="876" name="Google Shape;876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08556" y="3557152"/>
              <a:ext cx="1600200" cy="1952625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pic>
      </p:grpSp>
      <p:pic>
        <p:nvPicPr>
          <p:cNvPr id="877" name="Google Shape;877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888" y="4120953"/>
            <a:ext cx="3108399" cy="1767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32"/>
          <p:cNvSpPr/>
          <p:nvPr/>
        </p:nvSpPr>
        <p:spPr>
          <a:xfrm>
            <a:off x="1801159" y="833644"/>
            <a:ext cx="6961800" cy="90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32"/>
          <p:cNvSpPr txBox="1"/>
          <p:nvPr>
            <p:ph type="title"/>
          </p:nvPr>
        </p:nvSpPr>
        <p:spPr>
          <a:xfrm>
            <a:off x="379379" y="190641"/>
            <a:ext cx="854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2. 추진 체계 적정성 및 연구 개발 방법의 창의성_타당성</a:t>
            </a:r>
            <a:endParaRPr/>
          </a:p>
        </p:txBody>
      </p:sp>
      <p:sp>
        <p:nvSpPr>
          <p:cNvPr id="885" name="Google Shape;885;p32"/>
          <p:cNvSpPr txBox="1"/>
          <p:nvPr/>
        </p:nvSpPr>
        <p:spPr>
          <a:xfrm>
            <a:off x="8169951" y="-8798"/>
            <a:ext cx="15777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 41</a:t>
            </a:r>
            <a:endParaRPr b="0" i="0" sz="1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86" name="Google Shape;886;p32"/>
          <p:cNvGraphicFramePr/>
          <p:nvPr/>
        </p:nvGraphicFramePr>
        <p:xfrm>
          <a:off x="150623" y="11060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{F0999B2E-6716-427F-BB08-76C9D8113C3E}</a:tableStyleId>
              </a:tblPr>
              <a:tblGrid>
                <a:gridCol w="1897250"/>
                <a:gridCol w="3853750"/>
                <a:gridCol w="3853750"/>
              </a:tblGrid>
              <a:tr h="41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연구개발내용</a:t>
                      </a:r>
                      <a:endParaRPr sz="1400" u="none" cap="none" strike="noStrike"/>
                    </a:p>
                  </a:txBody>
                  <a:tcPr marT="850" marB="850" marR="850" marL="8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1차년도(2024)</a:t>
                      </a:r>
                      <a:endParaRPr b="1" sz="1400" u="none" cap="none" strike="noStrike">
                        <a:solidFill>
                          <a:srgbClr val="345EA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0" marB="850" marR="850" marL="8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2차년도(2025)</a:t>
                      </a:r>
                      <a:endParaRPr b="1" sz="1400" u="none" cap="none" strike="noStrike">
                        <a:solidFill>
                          <a:srgbClr val="345EA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0" marB="850" marR="850" marL="8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</a:tr>
              <a:tr h="1003925">
                <a:tc>
                  <a:txBody>
                    <a:bodyPr/>
                    <a:lstStyle/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의심 사이트</a:t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탐색 및 접속</a:t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0" marB="850" marR="850" marL="8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0" marB="850" marR="850" marL="8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0" marB="850" marR="850" marL="8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3925">
                <a:tc>
                  <a:txBody>
                    <a:bodyPr/>
                    <a:lstStyle/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사이트 식별</a:t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0" marB="850" marR="850" marL="8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0" marB="850" marR="850" marL="8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0" marB="850" marR="850" marL="8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3925">
                <a:tc>
                  <a:txBody>
                    <a:bodyPr/>
                    <a:lstStyle/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콘텐츠 식별</a:t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0" marB="850" marR="850" marL="8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0" marB="850" marR="850" marL="8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0" marB="850" marR="850" marL="8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3925">
                <a:tc>
                  <a:txBody>
                    <a:bodyPr/>
                    <a:lstStyle/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사이트 차단 자동화</a:t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0" marB="850" marR="850" marL="8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0" marB="850" marR="850" marL="8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0" marB="850" marR="850" marL="8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사업화</a:t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0" marB="850" marR="850" marL="8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0" marB="850" marR="850" marL="8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0" marB="850" marR="850" marL="8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연차별 주요 내용</a:t>
                      </a:r>
                      <a:endParaRPr sz="1400" u="none" cap="none" strike="noStrike"/>
                    </a:p>
                  </a:txBody>
                  <a:tcPr marT="850" marB="850" marR="850" marL="8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0" marB="850" marR="850" marL="8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27000" lvl="0" marL="1270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26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50" marB="850" marR="850" marL="850" anchor="ctr">
                    <a:lnL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7" name="Google Shape;887;p32"/>
          <p:cNvSpPr txBox="1"/>
          <p:nvPr/>
        </p:nvSpPr>
        <p:spPr>
          <a:xfrm>
            <a:off x="2319114" y="763953"/>
            <a:ext cx="333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핵심 기술 개발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32"/>
          <p:cNvSpPr txBox="1"/>
          <p:nvPr/>
        </p:nvSpPr>
        <p:spPr>
          <a:xfrm>
            <a:off x="6155092" y="763953"/>
            <a:ext cx="333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개발 기술 통합, 고도화 및 상용화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32"/>
          <p:cNvSpPr txBox="1"/>
          <p:nvPr/>
        </p:nvSpPr>
        <p:spPr>
          <a:xfrm>
            <a:off x="3053755" y="6318640"/>
            <a:ext cx="1856700" cy="387600"/>
          </a:xfrm>
          <a:prstGeom prst="rect">
            <a:avLst/>
          </a:prstGeom>
          <a:solidFill>
            <a:srgbClr val="F8F8F8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핵심 기술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(TRL3~5 단계)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0" name="Google Shape;89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225" y="3091700"/>
            <a:ext cx="575312" cy="154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935" y="2136592"/>
            <a:ext cx="427263" cy="274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32"/>
          <p:cNvPicPr preferRelativeResize="0"/>
          <p:nvPr/>
        </p:nvPicPr>
        <p:blipFill rotWithShape="1">
          <a:blip r:embed="rId5">
            <a:alphaModFix/>
          </a:blip>
          <a:srcRect b="0" l="0" r="80163" t="0"/>
          <a:stretch/>
        </p:blipFill>
        <p:spPr>
          <a:xfrm>
            <a:off x="1343752" y="2136592"/>
            <a:ext cx="245100" cy="274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1470" y="4158717"/>
            <a:ext cx="575312" cy="154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935" y="4098559"/>
            <a:ext cx="427263" cy="2747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기관소개&gt;kobaco 소개&gt;CI | 한국방송광고진흥공사" id="895" name="Google Shape;895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2623" y="5854292"/>
            <a:ext cx="524516" cy="1683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6" name="Google Shape;896;p32"/>
          <p:cNvGrpSpPr/>
          <p:nvPr/>
        </p:nvGrpSpPr>
        <p:grpSpPr>
          <a:xfrm>
            <a:off x="2402343" y="5657067"/>
            <a:ext cx="3199586" cy="394500"/>
            <a:chOff x="2319114" y="5086400"/>
            <a:chExt cx="3199586" cy="394500"/>
          </a:xfrm>
        </p:grpSpPr>
        <p:sp>
          <p:nvSpPr>
            <p:cNvPr id="897" name="Google Shape;897;p32"/>
            <p:cNvSpPr/>
            <p:nvPr/>
          </p:nvSpPr>
          <p:spPr>
            <a:xfrm>
              <a:off x="2319114" y="5086400"/>
              <a:ext cx="1602000" cy="39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ED1846"/>
                  </a:solidFill>
                  <a:latin typeface="Arial"/>
                  <a:ea typeface="Arial"/>
                  <a:cs typeface="Arial"/>
                  <a:sym typeface="Arial"/>
                </a:rPr>
                <a:t>언론홍보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32"/>
            <p:cNvSpPr/>
            <p:nvPr/>
          </p:nvSpPr>
          <p:spPr>
            <a:xfrm>
              <a:off x="3916700" y="5086400"/>
              <a:ext cx="1602000" cy="39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ED1846"/>
                  </a:solidFill>
                  <a:latin typeface="Arial"/>
                  <a:ea typeface="Arial"/>
                  <a:cs typeface="Arial"/>
                  <a:sym typeface="Arial"/>
                </a:rPr>
                <a:t>포럼 및 세미나 개최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9" name="Google Shape;899;p32"/>
          <p:cNvGrpSpPr/>
          <p:nvPr/>
        </p:nvGrpSpPr>
        <p:grpSpPr>
          <a:xfrm>
            <a:off x="6291712" y="5657067"/>
            <a:ext cx="3199586" cy="394500"/>
            <a:chOff x="2319114" y="5086400"/>
            <a:chExt cx="3199586" cy="394500"/>
          </a:xfrm>
        </p:grpSpPr>
        <p:sp>
          <p:nvSpPr>
            <p:cNvPr id="900" name="Google Shape;900;p32"/>
            <p:cNvSpPr/>
            <p:nvPr/>
          </p:nvSpPr>
          <p:spPr>
            <a:xfrm>
              <a:off x="2319114" y="5086400"/>
              <a:ext cx="1602000" cy="39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ED1846"/>
                  </a:solidFill>
                  <a:latin typeface="Arial"/>
                  <a:ea typeface="Arial"/>
                  <a:cs typeface="Arial"/>
                  <a:sym typeface="Arial"/>
                </a:rPr>
                <a:t>언론홍보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32"/>
            <p:cNvSpPr/>
            <p:nvPr/>
          </p:nvSpPr>
          <p:spPr>
            <a:xfrm>
              <a:off x="3916700" y="5086400"/>
              <a:ext cx="1602000" cy="39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ED1846"/>
                  </a:solidFill>
                  <a:latin typeface="Arial"/>
                  <a:ea typeface="Arial"/>
                  <a:cs typeface="Arial"/>
                  <a:sym typeface="Arial"/>
                </a:rPr>
                <a:t>포럼 및 세미나 개최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2" name="Google Shape;902;p32"/>
          <p:cNvSpPr txBox="1"/>
          <p:nvPr/>
        </p:nvSpPr>
        <p:spPr>
          <a:xfrm>
            <a:off x="6960986" y="6318640"/>
            <a:ext cx="1856700" cy="387600"/>
          </a:xfrm>
          <a:prstGeom prst="rect">
            <a:avLst/>
          </a:prstGeom>
          <a:solidFill>
            <a:srgbClr val="F8F8F8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핵심 기술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(TRL6~7단계)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2"/>
          <p:cNvSpPr/>
          <p:nvPr/>
        </p:nvSpPr>
        <p:spPr>
          <a:xfrm>
            <a:off x="2011540" y="1608867"/>
            <a:ext cx="39411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저작권 전문가 기반 소스 수집(개방형)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4" name="Google Shape;90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1470" y="5100944"/>
            <a:ext cx="575312" cy="154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935" y="5040786"/>
            <a:ext cx="427263" cy="27474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06" name="Google Shape;906;p32"/>
          <p:cNvGraphicFramePr/>
          <p:nvPr/>
        </p:nvGraphicFramePr>
        <p:xfrm>
          <a:off x="2274552" y="18935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{48FDC05E-379E-4F7F-B2B9-D55E55C8228D}</a:tableStyleId>
              </a:tblPr>
              <a:tblGrid>
                <a:gridCol w="1547125"/>
                <a:gridCol w="2130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2175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의심 사이트 DB 구축</a:t>
                      </a:r>
                      <a:endParaRPr b="0" i="0" sz="1200" u="none" cap="none" strike="noStrike">
                        <a:solidFill>
                          <a:srgbClr val="2175B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2175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검색어 기반 소스 수집</a:t>
                      </a:r>
                      <a:endParaRPr b="0" i="0" sz="1200" u="none" cap="none" strike="noStrike">
                        <a:solidFill>
                          <a:srgbClr val="2175B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2175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유사 링크 탐색 기술 개발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75B2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2175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개방형 SNS 기반 소스 수집 기술 개발</a:t>
                      </a:r>
                      <a:endParaRPr b="0" i="0" sz="1200" u="none" cap="none" strike="noStrike">
                        <a:solidFill>
                          <a:srgbClr val="2175B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2175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보안 메커니즘 동적 우회 자동화</a:t>
                      </a:r>
                      <a:endParaRPr b="0" i="0" sz="1200" u="none" cap="none" strike="noStrike">
                        <a:solidFill>
                          <a:srgbClr val="2175B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2175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DOM 구조 분석 기술 개발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7" name="Google Shape;907;p32"/>
          <p:cNvSpPr/>
          <p:nvPr/>
        </p:nvSpPr>
        <p:spPr>
          <a:xfrm>
            <a:off x="5852674" y="1608867"/>
            <a:ext cx="39411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저작권 전문가 기반 소스 수집(폐쇄형)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08" name="Google Shape;908;p32"/>
          <p:cNvGraphicFramePr/>
          <p:nvPr/>
        </p:nvGraphicFramePr>
        <p:xfrm>
          <a:off x="5884011" y="18935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{48FDC05E-379E-4F7F-B2B9-D55E55C8228D}</a:tableStyleId>
              </a:tblPr>
              <a:tblGrid>
                <a:gridCol w="2023025"/>
                <a:gridCol w="19989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2175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폐쇄형 SNS 기반 소스 수집 기술 개발</a:t>
                      </a:r>
                      <a:endParaRPr b="0" i="0" sz="1200" u="none" cap="none" strike="noStrike">
                        <a:solidFill>
                          <a:srgbClr val="2175B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75B2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rgbClr val="2175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보안 메커니즘 동적 우회 고도화</a:t>
                      </a:r>
                      <a:endParaRPr b="0" i="0" sz="1200" u="none" cap="none" strike="noStrike">
                        <a:solidFill>
                          <a:srgbClr val="2175B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75B2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2175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DOM 구조 분석 기술 고도화</a:t>
                      </a:r>
                      <a:endParaRPr sz="1200" u="none" cap="none" strike="noStrike"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75B2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2175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네트워크 관계 기반 소스 수집</a:t>
                      </a:r>
                      <a:endParaRPr b="0" i="0" sz="1200" u="none" cap="none" strike="noStrike">
                        <a:solidFill>
                          <a:srgbClr val="2175B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75B2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2175B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컨텐츠 링크 역추적 기술 개발</a:t>
                      </a:r>
                      <a:endParaRPr sz="1200" u="none" cap="none" strike="noStrike"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09" name="Google Shape;909;p32"/>
          <p:cNvGraphicFramePr/>
          <p:nvPr/>
        </p:nvGraphicFramePr>
        <p:xfrm>
          <a:off x="2055565" y="27152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{48FDC05E-379E-4F7F-B2B9-D55E55C8228D}</a:tableStyleId>
              </a:tblPr>
              <a:tblGrid>
                <a:gridCol w="2297450"/>
                <a:gridCol w="15404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 기반 웹페이지 내 정보 수집 모델 개발</a:t>
                      </a:r>
                      <a:endParaRPr b="0" i="0" sz="1200" u="none" cap="none" strike="noStrike">
                        <a:solidFill>
                          <a:srgbClr val="FB776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776D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웹사이트 연결 구조 분석 알고리즘 개발</a:t>
                      </a:r>
                      <a:endParaRPr sz="1400" u="none" cap="none" strike="noStrike"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이미지 분류 모델 개발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776D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텍스트 분류 모델 개발</a:t>
                      </a:r>
                      <a:endParaRPr b="0" i="0" sz="1200" u="none" cap="none" strike="noStrike">
                        <a:solidFill>
                          <a:srgbClr val="FB776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10" name="Google Shape;910;p32"/>
          <p:cNvGraphicFramePr/>
          <p:nvPr/>
        </p:nvGraphicFramePr>
        <p:xfrm>
          <a:off x="5893492" y="26553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{48FDC05E-379E-4F7F-B2B9-D55E55C8228D}</a:tableStyleId>
              </a:tblPr>
              <a:tblGrid>
                <a:gridCol w="2297450"/>
                <a:gridCol w="15404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ko-KR" sz="115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 기반 웹페이지 내 정보 수집 모델 고도화</a:t>
                      </a:r>
                      <a:endParaRPr b="0" i="0" sz="1150" u="none" cap="none" strike="noStrike">
                        <a:solidFill>
                          <a:srgbClr val="FB776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FB776D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실시간 데이터 처리 및</a:t>
                      </a:r>
                      <a:br>
                        <a:rPr b="0" i="0" lang="ko-KR" sz="120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ko-KR" sz="120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동적 네트워크 분석 기술 개발</a:t>
                      </a:r>
                      <a:endParaRPr sz="1400" u="none" cap="none" strike="noStrike"/>
                    </a:p>
                  </a:txBody>
                  <a:tcPr marT="45725" marB="45725" marR="18000" marL="1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b="0" i="0" sz="100" u="none" cap="none" strike="noStrike">
                        <a:solidFill>
                          <a:srgbClr val="FB776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ko-KR" sz="115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이미지 분류 모델 고도화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776D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ko-KR" sz="115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텍스트 분류 모델 고도화</a:t>
                      </a:r>
                      <a:endParaRPr b="0" i="0" sz="1150" u="none" cap="none" strike="noStrike">
                        <a:solidFill>
                          <a:srgbClr val="FB776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8000" marL="1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11" name="Google Shape;911;p32"/>
          <p:cNvGraphicFramePr/>
          <p:nvPr/>
        </p:nvGraphicFramePr>
        <p:xfrm>
          <a:off x="2055565" y="389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{48FDC05E-379E-4F7F-B2B9-D55E55C8228D}</a:tableStyleId>
              </a:tblPr>
              <a:tblGrid>
                <a:gridCol w="2173525"/>
                <a:gridCol w="1664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영상 샘플링 알고리즘 개발</a:t>
                      </a:r>
                      <a:endParaRPr b="0" i="0" sz="1200" u="none" cap="none" strike="noStrike">
                        <a:solidFill>
                          <a:srgbClr val="FB776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저작권 영상 키프레임 탐지 알고리즘 개발</a:t>
                      </a:r>
                      <a:endParaRPr b="0" i="0" sz="1200" u="none" cap="none" strike="noStrike">
                        <a:solidFill>
                          <a:srgbClr val="FB776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8000" marL="1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영상 유사도 비교 알고리즘 개발</a:t>
                      </a:r>
                      <a:endParaRPr b="0" i="0" sz="1200" u="none" cap="none" strike="noStrike">
                        <a:solidFill>
                          <a:srgbClr val="FB776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8000" marL="1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2" name="Google Shape;912;p32"/>
          <p:cNvSpPr/>
          <p:nvPr/>
        </p:nvSpPr>
        <p:spPr>
          <a:xfrm>
            <a:off x="2011540" y="3611613"/>
            <a:ext cx="39411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불법 콘텐츠 식별 방법론 연구</a:t>
            </a:r>
            <a:endParaRPr b="0" i="0" sz="12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13" name="Google Shape;913;p32"/>
          <p:cNvGraphicFramePr/>
          <p:nvPr/>
        </p:nvGraphicFramePr>
        <p:xfrm>
          <a:off x="5927483" y="389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{48FDC05E-379E-4F7F-B2B9-D55E55C8228D}</a:tableStyleId>
              </a:tblPr>
              <a:tblGrid>
                <a:gridCol w="2043025"/>
                <a:gridCol w="1794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영상 샘플링 기술 고도화</a:t>
                      </a:r>
                      <a:endParaRPr b="0" i="0" sz="1200" u="none" cap="none" strike="noStrike">
                        <a:solidFill>
                          <a:srgbClr val="FB776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영상 키프레임 임베딩 저장기술 고도화</a:t>
                      </a:r>
                      <a:endParaRPr b="0" i="0" sz="1200" u="none" cap="none" strike="noStrike">
                        <a:solidFill>
                          <a:srgbClr val="FB776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8000" marL="1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영상 유사도 비교 알고리즘 고도화</a:t>
                      </a:r>
                      <a:endParaRPr b="0" i="0" sz="1200" u="none" cap="none" strike="noStrike">
                        <a:solidFill>
                          <a:srgbClr val="FB776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8000" marL="1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4" name="Google Shape;914;p32"/>
          <p:cNvSpPr/>
          <p:nvPr/>
        </p:nvSpPr>
        <p:spPr>
          <a:xfrm>
            <a:off x="5883458" y="3611613"/>
            <a:ext cx="39411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불법 콘텐츠 식별 방법론 연구</a:t>
            </a:r>
            <a:endParaRPr b="0" i="0" sz="12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15" name="Google Shape;915;p32"/>
          <p:cNvGraphicFramePr/>
          <p:nvPr/>
        </p:nvGraphicFramePr>
        <p:xfrm>
          <a:off x="2055565" y="48388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{48FDC05E-379E-4F7F-B2B9-D55E55C8228D}</a:tableStyleId>
              </a:tblPr>
              <a:tblGrid>
                <a:gridCol w="2173525"/>
                <a:gridCol w="1664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심의 증빙 및 신고서 생성 기능 개발</a:t>
                      </a:r>
                      <a:endParaRPr b="0" i="0" sz="1200" u="none" cap="none" strike="noStrike">
                        <a:solidFill>
                          <a:srgbClr val="FB776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ko-KR" sz="115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시스템 연동을 위한 신고서 제출 기능 개발</a:t>
                      </a:r>
                      <a:endParaRPr b="0" i="0" sz="1150" u="none" cap="none" strike="noStrike">
                        <a:solidFill>
                          <a:srgbClr val="FB776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8000" marL="1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자동 경고장 생성 기능 개발</a:t>
                      </a:r>
                      <a:endParaRPr b="0" i="0" sz="1200" u="none" cap="none" strike="noStrike">
                        <a:solidFill>
                          <a:srgbClr val="FB776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8000" marL="1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16" name="Google Shape;916;p32"/>
          <p:cNvGraphicFramePr/>
          <p:nvPr/>
        </p:nvGraphicFramePr>
        <p:xfrm>
          <a:off x="5902083" y="48388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{48FDC05E-379E-4F7F-B2B9-D55E55C8228D}</a:tableStyleId>
              </a:tblPr>
              <a:tblGrid>
                <a:gridCol w="2276725"/>
                <a:gridCol w="1561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심의 증빙 및 신고서 생성 기능 고도화</a:t>
                      </a:r>
                      <a:endParaRPr b="0" i="0" sz="1200" u="none" cap="none" strike="noStrike">
                        <a:solidFill>
                          <a:srgbClr val="FB776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ko-KR" sz="115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시스템 연동을 위한 신고서 제출 기능 고도화</a:t>
                      </a:r>
                      <a:endParaRPr b="0" i="0" sz="1150" u="none" cap="none" strike="noStrike">
                        <a:solidFill>
                          <a:srgbClr val="FB776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8000" marL="1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자동 심의 증빙 생성 기능 개발</a:t>
                      </a:r>
                      <a:endParaRPr b="0" i="0" sz="1200" u="none" cap="none" strike="noStrike">
                        <a:solidFill>
                          <a:srgbClr val="FB776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B776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ISP 서비스 연동 기능 개발</a:t>
                      </a:r>
                      <a:endParaRPr b="0" i="0" sz="1200" u="none" cap="none" strike="noStrike">
                        <a:solidFill>
                          <a:srgbClr val="FB776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8000" marL="1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17" name="Google Shape;917;p32"/>
          <p:cNvGraphicFramePr/>
          <p:nvPr/>
        </p:nvGraphicFramePr>
        <p:xfrm>
          <a:off x="2055565" y="46598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{48FDC05E-379E-4F7F-B2B9-D55E55C8228D}</a:tableStyleId>
              </a:tblPr>
              <a:tblGrid>
                <a:gridCol w="2173525"/>
                <a:gridCol w="1664400"/>
              </a:tblGrid>
              <a:tr h="2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5481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규제 동향 분석</a:t>
                      </a:r>
                      <a:endParaRPr b="0" i="0" sz="1200" u="none" cap="none" strike="noStrike">
                        <a:solidFill>
                          <a:srgbClr val="54813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8000" marL="1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5481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DSA상 의무 규정 분석</a:t>
                      </a:r>
                      <a:endParaRPr b="0" i="0" sz="1200" u="none" cap="none" strike="noStrike">
                        <a:solidFill>
                          <a:srgbClr val="54813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8000" marL="1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18" name="Google Shape;918;p32"/>
          <p:cNvGraphicFramePr/>
          <p:nvPr/>
        </p:nvGraphicFramePr>
        <p:xfrm>
          <a:off x="5904235" y="46598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{48FDC05E-379E-4F7F-B2B9-D55E55C8228D}</a:tableStyleId>
              </a:tblPr>
              <a:tblGrid>
                <a:gridCol w="2033275"/>
                <a:gridCol w="1804650"/>
              </a:tblGrid>
              <a:tr h="20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5481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OSP, FTA 규정 비교 분석</a:t>
                      </a:r>
                      <a:endParaRPr b="0" i="0" sz="1200" u="none" cap="none" strike="noStrike">
                        <a:solidFill>
                          <a:srgbClr val="54813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8000" marL="1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8135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5481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필터링 도입과 저작권법 관계 분석</a:t>
                      </a:r>
                      <a:endParaRPr b="0" i="0" sz="1200" u="none" cap="none" strike="noStrike">
                        <a:solidFill>
                          <a:srgbClr val="54813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8000" marL="18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33"/>
          <p:cNvSpPr txBox="1"/>
          <p:nvPr>
            <p:ph type="title"/>
          </p:nvPr>
        </p:nvSpPr>
        <p:spPr>
          <a:xfrm>
            <a:off x="379379" y="190641"/>
            <a:ext cx="8544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2. 추진 체계 적정성 및 연구 개발 방법의 창의성_타당성</a:t>
            </a:r>
            <a:endParaRPr/>
          </a:p>
        </p:txBody>
      </p:sp>
      <p:sp>
        <p:nvSpPr>
          <p:cNvPr id="925" name="Google Shape;925;p33"/>
          <p:cNvSpPr txBox="1"/>
          <p:nvPr/>
        </p:nvSpPr>
        <p:spPr>
          <a:xfrm>
            <a:off x="8208423" y="-8798"/>
            <a:ext cx="15393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연구개발계획서 p.38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33"/>
          <p:cNvSpPr txBox="1"/>
          <p:nvPr>
            <p:ph idx="1" type="body"/>
          </p:nvPr>
        </p:nvSpPr>
        <p:spPr>
          <a:xfrm>
            <a:off x="2108200" y="901700"/>
            <a:ext cx="568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ko-KR"/>
              <a:t>1년차 추진 상세 전략 (1/2)</a:t>
            </a:r>
            <a:endParaRPr/>
          </a:p>
        </p:txBody>
      </p:sp>
      <p:sp>
        <p:nvSpPr>
          <p:cNvPr id="927" name="Google Shape;927;p33"/>
          <p:cNvSpPr/>
          <p:nvPr/>
        </p:nvSpPr>
        <p:spPr>
          <a:xfrm>
            <a:off x="319429" y="1662177"/>
            <a:ext cx="1109400" cy="954000"/>
          </a:xfrm>
          <a:prstGeom prst="roundRect">
            <a:avLst>
              <a:gd fmla="val 8680" name="adj"/>
            </a:avLst>
          </a:prstGeom>
          <a:solidFill>
            <a:srgbClr val="0E6590"/>
          </a:solidFill>
          <a:ln cap="flat" cmpd="sng" w="12700">
            <a:solidFill>
              <a:srgbClr val="0E65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연구개발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방법론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33"/>
          <p:cNvSpPr txBox="1"/>
          <p:nvPr/>
        </p:nvSpPr>
        <p:spPr>
          <a:xfrm>
            <a:off x="1663665" y="1662177"/>
            <a:ext cx="78204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다양한 불법 미디어 유통 서비스를 분석, 저작권 전문가 기반의 소스를 개방형 및 폐쇄형으로 수집하여 불법 콘텐츠를 식별하는 방법론 개발</a:t>
            </a:r>
            <a:endParaRPr b="0" i="0" sz="1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국내 OSP 규정과 FTA 규정을 비교하여 제도 개선 가능성 분석, 필터링 도입과 저작권법상의 모니터링 의무 부과에 대한 법적, 기술적 이슈를 파악하여 대응 방안 모색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33"/>
          <p:cNvSpPr/>
          <p:nvPr/>
        </p:nvSpPr>
        <p:spPr>
          <a:xfrm>
            <a:off x="319429" y="2673350"/>
            <a:ext cx="1109400" cy="3819000"/>
          </a:xfrm>
          <a:prstGeom prst="roundRect">
            <a:avLst>
              <a:gd fmla="val 6724" name="adj"/>
            </a:avLst>
          </a:prstGeom>
          <a:solidFill>
            <a:srgbClr val="0E6590"/>
          </a:solidFill>
          <a:ln cap="flat" cmpd="sng" w="12700">
            <a:solidFill>
              <a:srgbClr val="0E65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추진전략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및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추진방법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30" name="Google Shape;930;p33"/>
          <p:cNvGraphicFramePr/>
          <p:nvPr/>
        </p:nvGraphicFramePr>
        <p:xfrm>
          <a:off x="1590221" y="26733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{48FDC05E-379E-4F7F-B2B9-D55E55C8228D}</a:tableStyleId>
              </a:tblPr>
              <a:tblGrid>
                <a:gridCol w="1210125"/>
                <a:gridCol w="3473650"/>
                <a:gridCol w="3473650"/>
              </a:tblGrid>
              <a:tr h="276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5EA9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5EA9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추진전략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5EA9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345EA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추진방법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F5FB"/>
                    </a:solidFill>
                  </a:tcPr>
                </a:tc>
              </a:tr>
              <a:tr h="85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ko-KR" sz="105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주관연구개발기관</a:t>
                      </a:r>
                      <a:endParaRPr sz="105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0000" lvl="0" marL="180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유통 콘텐츠에 대한 저작권 전문가 기반 개방형 소스 수집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80000" lvl="0" marL="180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유통 콘텐츠에 대한 유럽 규제 동향 분석을 통한 대응 전략 구축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0000" lvl="0" marL="180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전문가 협의체를 통한 심층적인 불법 콘텐츠 분류 및 차단 기술 개발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80000" lvl="0" marL="180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동시에, 유럽 규정 분석을 통한 유엔 기구 및 국제 협력 강화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공동연구개발기관1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0000" lvl="0" marL="180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사이트 데이터베이스 및 검색어 기반 소스 수집 기술을 통한 효과적인 불법 콘텐츠 대응 시스템 구축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0000" lvl="0" marL="180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검색어 기반의 불법 사이트 수집 기술을 개발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80000" lvl="0" marL="180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불법 사이트 데이터베이스의 구축을 통해 향후 대응을 위한 기반을 확립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공동연구개발기관2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0000" lvl="0" marL="180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LLM을 기반으로 한 웹페이지 정보 수집 및 영상 분석 기술 개발로 불법 콘텐츠 탐지 시스템 강화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0000" lvl="0" marL="180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 학습 데이터 확장, 영상 분석 알고리즘 개발 및 신고서 생성 기능을 개발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80000" lvl="0" marL="180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신속하고 효과적인 불법 콘텐츠 대응체계 강화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공동연구개발기관3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0000" lvl="0" marL="180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연구개발 언론홍보 및 '국제 OTT 포럼’ 개최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80000" lvl="0" marL="180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OTT 산업의 중요성을 강조하고 국제 협력 촉진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0000" lvl="0" marL="180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연간 10건 언론홍보</a:t>
                      </a:r>
                      <a:endParaRPr sz="14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80000" lvl="0" marL="180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국제 OTT 포럼 개최를 통해 산업에 대한 </a:t>
                      </a:r>
                      <a:b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ko-KR" sz="14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인식과 협력 기회 제공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31" name="Google Shape;93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4424" y="4968564"/>
            <a:ext cx="1049910" cy="281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기관소개&gt;kobaco 소개&gt;CI | 한국방송광고진흥공사" id="932" name="Google Shape;93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0775" y="5746323"/>
            <a:ext cx="957209" cy="30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94424" y="4151210"/>
            <a:ext cx="1049910" cy="233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90221" y="3266264"/>
            <a:ext cx="1258316" cy="325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2024-02-19T11:12:45Z</dcterms:created>
</cp:coreProperties>
</file>